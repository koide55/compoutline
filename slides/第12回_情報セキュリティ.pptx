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1828800"/>
            <a:ext cx="10058400" cy="457200"/>
          </a:xfrm>
          <a:prstGeom prst="rect">
            <a:avLst/>
          </a:prstGeom>
          <a:noFill/>
          <a:ln/>
        </p:spPr>
        <p:txBody>
          <a:bodyPr wrap="square" lIns="0" tIns="0" rIns="0" bIns="0" rtlCol="0" anchor="ctr"/>
          <a:lstStyle/>
          <a:p>
            <a:pPr indent="0" marL="0">
              <a:buNone/>
            </a:pPr>
            <a:r>
              <a:rPr lang="en-US" sz="1700" spc="200" kern="0" dirty="0">
                <a:solidFill>
                  <a:srgbClr val="9AA3B0"/>
                </a:solidFill>
                <a:latin typeface="Yu Gothic" pitchFamily="34" charset="0"/>
                <a:ea typeface="Yu Gothic" pitchFamily="34" charset="-122"/>
                <a:cs typeface="Yu Gothic" pitchFamily="34" charset="-120"/>
              </a:rPr>
              <a:t>コンピュータシステム通論</a:t>
            </a:r>
            <a:endParaRPr lang="en-US" sz="1700" dirty="0"/>
          </a:p>
        </p:txBody>
      </p:sp>
      <p:sp>
        <p:nvSpPr>
          <p:cNvPr id="3" name="Text 1"/>
          <p:cNvSpPr/>
          <p:nvPr/>
        </p:nvSpPr>
        <p:spPr>
          <a:xfrm>
            <a:off x="822960" y="2377440"/>
            <a:ext cx="10607040" cy="109728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第12回　情報セキュリティ</a:t>
            </a:r>
            <a:endParaRPr lang="en-US" sz="3800" dirty="0"/>
          </a:p>
        </p:txBody>
      </p:sp>
      <p:sp>
        <p:nvSpPr>
          <p:cNvPr id="4" name="Text 2"/>
          <p:cNvSpPr/>
          <p:nvPr/>
        </p:nvSpPr>
        <p:spPr>
          <a:xfrm>
            <a:off x="822960" y="3703320"/>
            <a:ext cx="10607040" cy="548640"/>
          </a:xfrm>
          <a:prstGeom prst="rect">
            <a:avLst/>
          </a:prstGeom>
          <a:noFill/>
          <a:ln/>
        </p:spPr>
        <p:txBody>
          <a:bodyPr wrap="square" lIns="0" tIns="0" rIns="0" bIns="0" rtlCol="0" anchor="ctr"/>
          <a:lstStyle/>
          <a:p>
            <a:pPr indent="0" marL="0">
              <a:lnSpc>
                <a:spcPts val="2600"/>
              </a:lnSpc>
              <a:buNone/>
            </a:pPr>
            <a:r>
              <a:rPr lang="en-US" sz="1800" dirty="0">
                <a:solidFill>
                  <a:srgbClr val="6AB0F3"/>
                </a:solidFill>
                <a:latin typeface="Yu Gothic" pitchFamily="34" charset="0"/>
                <a:ea typeface="Yu Gothic" pitchFamily="34" charset="-122"/>
                <a:cs typeface="Yu Gothic" pitchFamily="34" charset="-120"/>
              </a:rPr>
              <a:t>顔の見えない相手を、どうやって信用するのか。</a:t>
            </a:r>
            <a:endParaRPr lang="en-US" sz="1800" dirty="0"/>
          </a:p>
        </p:txBody>
      </p:sp>
      <p:sp>
        <p:nvSpPr>
          <p:cNvPr id="5" name="Shape 3"/>
          <p:cNvSpPr/>
          <p:nvPr/>
        </p:nvSpPr>
        <p:spPr>
          <a:xfrm>
            <a:off x="548640" y="502920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02920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02920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02920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02920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02920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02920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02920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02920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02920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02920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02920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02920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02920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02920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02920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02920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02920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02920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02920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02920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02920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02920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02920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02920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029200"/>
            <a:ext cx="265176" cy="182880"/>
          </a:xfrm>
          <a:prstGeom prst="rect">
            <a:avLst/>
          </a:prstGeom>
          <a:solidFill>
            <a:srgbClr val="FFFFFF">
              <a:alpha val="12000"/>
            </a:srgbClr>
          </a:solidFill>
          <a:ln w="7620">
            <a:solidFill>
              <a:srgbClr val="6AB0F3">
                <a:alpha val="45000"/>
              </a:srgbClr>
            </a:solidFill>
            <a:prstDash val="solid"/>
          </a:ln>
        </p:spPr>
      </p:sp>
      <p:sp>
        <p:nvSpPr>
          <p:cNvPr id="31" name="Text 29"/>
          <p:cNvSpPr/>
          <p:nvPr/>
        </p:nvSpPr>
        <p:spPr>
          <a:xfrm>
            <a:off x="822960" y="5852160"/>
            <a:ext cx="5486400" cy="274320"/>
          </a:xfrm>
          <a:prstGeom prst="rect">
            <a:avLst/>
          </a:prstGeom>
          <a:noFill/>
          <a:ln/>
        </p:spPr>
        <p:txBody>
          <a:bodyPr wrap="square" lIns="0" tIns="0" rIns="0" bIns="0" rtlCol="0" anchor="ctr"/>
          <a:lstStyle/>
          <a:p>
            <a:pPr indent="0" marL="0">
              <a:buNone/>
            </a:pPr>
            <a:r>
              <a:rPr lang="en-US" sz="1200" dirty="0">
                <a:solidFill>
                  <a:srgbClr val="9AA3B0"/>
                </a:solidFill>
                <a:latin typeface="Yu Gothic" pitchFamily="34" charset="0"/>
                <a:ea typeface="Yu Gothic" pitchFamily="34" charset="-122"/>
                <a:cs typeface="Yu Gothic" pitchFamily="34" charset="-120"/>
              </a:rPr>
              <a:t>九州大学</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1371600"/>
            <a:ext cx="10058400" cy="36576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今回の問い</a:t>
            </a:r>
            <a:endParaRPr lang="en-US" sz="1400" dirty="0"/>
          </a:p>
        </p:txBody>
      </p:sp>
      <p:sp>
        <p:nvSpPr>
          <p:cNvPr id="3" name="Text 1"/>
          <p:cNvSpPr/>
          <p:nvPr/>
        </p:nvSpPr>
        <p:spPr>
          <a:xfrm>
            <a:off x="822960" y="1920240"/>
            <a:ext cx="10607040" cy="201168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Yu Gothic" pitchFamily="34" charset="0"/>
                <a:ea typeface="Yu Gothic" pitchFamily="34" charset="-122"/>
                <a:cs typeface="Yu Gothic" pitchFamily="34" charset="-120"/>
              </a:rPr>
              <a:t>顔の見えない相手を、</a:t>
            </a:r>
            <a:endParaRPr lang="en-US" sz="3600" dirty="0"/>
          </a:p>
          <a:p>
            <a:pPr indent="0" marL="0">
              <a:lnSpc>
                <a:spcPts val="4800"/>
              </a:lnSpc>
              <a:buNone/>
            </a:pPr>
            <a:r>
              <a:rPr lang="en-US" sz="3600" b="1" dirty="0">
                <a:solidFill>
                  <a:srgbClr val="FFFFFF"/>
                </a:solidFill>
                <a:latin typeface="Yu Gothic" pitchFamily="34" charset="0"/>
                <a:ea typeface="Yu Gothic" pitchFamily="34" charset="-122"/>
                <a:cs typeface="Yu Gothic" pitchFamily="34" charset="-120"/>
              </a:rPr>
              <a:t>どうやって信用するのか。</a:t>
            </a:r>
            <a:endParaRPr lang="en-US" sz="3600" dirty="0"/>
          </a:p>
        </p:txBody>
      </p:sp>
      <p:sp>
        <p:nvSpPr>
          <p:cNvPr id="4" name="Text 2"/>
          <p:cNvSpPr/>
          <p:nvPr/>
        </p:nvSpPr>
        <p:spPr>
          <a:xfrm>
            <a:off x="822960" y="4937760"/>
            <a:ext cx="10058400" cy="365760"/>
          </a:xfrm>
          <a:prstGeom prst="rect">
            <a:avLst/>
          </a:prstGeom>
          <a:noFill/>
          <a:ln/>
        </p:spPr>
        <p:txBody>
          <a:bodyPr wrap="square" lIns="0" tIns="0" rIns="0" bIns="0" rtlCol="0" anchor="ctr"/>
          <a:lstStyle/>
          <a:p>
            <a:pPr indent="0" marL="0">
              <a:buNone/>
            </a:pPr>
            <a:r>
              <a:rPr lang="en-US" sz="1400" dirty="0">
                <a:solidFill>
                  <a:srgbClr val="9AA3B0"/>
                </a:solidFill>
                <a:latin typeface="Yu Gothic" pitchFamily="34" charset="0"/>
                <a:ea typeface="Yu Gothic" pitchFamily="34" charset="-122"/>
                <a:cs typeface="Yu Gothic" pitchFamily="34" charset="-120"/>
              </a:rPr>
              <a:t>この90分で、この問いに答えを出す。</a:t>
            </a:r>
            <a:endParaRPr lang="en-US" sz="1400" dirty="0"/>
          </a:p>
        </p:txBody>
      </p:sp>
      <p:sp>
        <p:nvSpPr>
          <p:cNvPr id="5" name="Shape 3"/>
          <p:cNvSpPr/>
          <p:nvPr/>
        </p:nvSpPr>
        <p:spPr>
          <a:xfrm>
            <a:off x="548640" y="585216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FFFFFF">
              <a:alpha val="12000"/>
            </a:srgbClr>
          </a:solidFill>
          <a:ln w="7620">
            <a:solidFill>
              <a:srgbClr val="6AB0F3">
                <a:alpha val="45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第12回</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到達目標</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3</a:t>
            </a:r>
            <a:endParaRPr lang="en-US" sz="1000" dirty="0"/>
          </a:p>
        </p:txBody>
      </p:sp>
      <p:sp>
        <p:nvSpPr>
          <p:cNvPr id="5" name="Shape 3"/>
          <p:cNvSpPr/>
          <p:nvPr/>
        </p:nvSpPr>
        <p:spPr>
          <a:xfrm>
            <a:off x="777240" y="1764792"/>
            <a:ext cx="457200" cy="457200"/>
          </a:xfrm>
          <a:prstGeom prst="ellipse">
            <a:avLst/>
          </a:prstGeom>
          <a:solidFill>
            <a:srgbClr val="D9E6F4"/>
          </a:solidFill>
          <a:ln w="15240">
            <a:solidFill>
              <a:srgbClr val="0B5CAD"/>
            </a:solidFill>
            <a:prstDash val="solid"/>
          </a:ln>
        </p:spPr>
      </p:sp>
      <p:sp>
        <p:nvSpPr>
          <p:cNvPr id="6" name="Text 4"/>
          <p:cNvSpPr/>
          <p:nvPr/>
        </p:nvSpPr>
        <p:spPr>
          <a:xfrm>
            <a:off x="777240" y="176479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1</a:t>
            </a:r>
            <a:endParaRPr lang="en-US" sz="1400" dirty="0"/>
          </a:p>
        </p:txBody>
      </p:sp>
      <p:sp>
        <p:nvSpPr>
          <p:cNvPr id="7" name="Text 5"/>
          <p:cNvSpPr/>
          <p:nvPr/>
        </p:nvSpPr>
        <p:spPr>
          <a:xfrm>
            <a:off x="1417320" y="1783080"/>
            <a:ext cx="9966960" cy="457200"/>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情報セキュリティの3要素</a:t>
            </a:r>
            <a:pPr indent="0" marL="0">
              <a:buNone/>
            </a:pPr>
            <a:r>
              <a:rPr lang="en-US" sz="1300" dirty="0">
                <a:solidFill>
                  <a:srgbClr val="5F6672"/>
                </a:solidFill>
                <a:latin typeface="Yu Gothic" pitchFamily="34" charset="0"/>
                <a:ea typeface="Yu Gothic" pitchFamily="34" charset="-122"/>
                <a:cs typeface="Yu Gothic" pitchFamily="34" charset="-120"/>
              </a:rPr>
              <a:t>　を挙げ、それぞれが破られた例を説明できる</a:t>
            </a:r>
            <a:endParaRPr lang="en-US" sz="1500" dirty="0"/>
          </a:p>
        </p:txBody>
      </p:sp>
      <p:sp>
        <p:nvSpPr>
          <p:cNvPr id="8" name="Shape 6"/>
          <p:cNvSpPr/>
          <p:nvPr/>
        </p:nvSpPr>
        <p:spPr>
          <a:xfrm>
            <a:off x="777240" y="2496312"/>
            <a:ext cx="457200" cy="457200"/>
          </a:xfrm>
          <a:prstGeom prst="ellipse">
            <a:avLst/>
          </a:prstGeom>
          <a:solidFill>
            <a:srgbClr val="D9E6F4"/>
          </a:solidFill>
          <a:ln w="15240">
            <a:solidFill>
              <a:srgbClr val="0B5CAD"/>
            </a:solidFill>
            <a:prstDash val="solid"/>
          </a:ln>
        </p:spPr>
      </p:sp>
      <p:sp>
        <p:nvSpPr>
          <p:cNvPr id="9" name="Text 7"/>
          <p:cNvSpPr/>
          <p:nvPr/>
        </p:nvSpPr>
        <p:spPr>
          <a:xfrm>
            <a:off x="777240" y="249631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2</a:t>
            </a:r>
            <a:endParaRPr lang="en-US" sz="1400" dirty="0"/>
          </a:p>
        </p:txBody>
      </p:sp>
      <p:sp>
        <p:nvSpPr>
          <p:cNvPr id="10" name="Text 8"/>
          <p:cNvSpPr/>
          <p:nvPr/>
        </p:nvSpPr>
        <p:spPr>
          <a:xfrm>
            <a:off x="1417320" y="2514600"/>
            <a:ext cx="9966960" cy="457200"/>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共通鍵暗号と公開鍵暗号</a:t>
            </a:r>
            <a:pPr indent="0" marL="0">
              <a:buNone/>
            </a:pPr>
            <a:r>
              <a:rPr lang="en-US" sz="1300" dirty="0">
                <a:solidFill>
                  <a:srgbClr val="5F6672"/>
                </a:solidFill>
                <a:latin typeface="Yu Gothic" pitchFamily="34" charset="0"/>
                <a:ea typeface="Yu Gothic" pitchFamily="34" charset="-122"/>
                <a:cs typeface="Yu Gothic" pitchFamily="34" charset="-120"/>
              </a:rPr>
              <a:t>　の違いと、それぞれの利点と限界を説明できる</a:t>
            </a:r>
            <a:endParaRPr lang="en-US" sz="1500" dirty="0"/>
          </a:p>
        </p:txBody>
      </p:sp>
      <p:sp>
        <p:nvSpPr>
          <p:cNvPr id="11" name="Shape 9"/>
          <p:cNvSpPr/>
          <p:nvPr/>
        </p:nvSpPr>
        <p:spPr>
          <a:xfrm>
            <a:off x="777240" y="3227832"/>
            <a:ext cx="457200" cy="457200"/>
          </a:xfrm>
          <a:prstGeom prst="ellipse">
            <a:avLst/>
          </a:prstGeom>
          <a:solidFill>
            <a:srgbClr val="D9E6F4"/>
          </a:solidFill>
          <a:ln w="15240">
            <a:solidFill>
              <a:srgbClr val="0B5CAD"/>
            </a:solidFill>
            <a:prstDash val="solid"/>
          </a:ln>
        </p:spPr>
      </p:sp>
      <p:sp>
        <p:nvSpPr>
          <p:cNvPr id="12" name="Text 10"/>
          <p:cNvSpPr/>
          <p:nvPr/>
        </p:nvSpPr>
        <p:spPr>
          <a:xfrm>
            <a:off x="777240" y="322783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3</a:t>
            </a:r>
            <a:endParaRPr lang="en-US" sz="1400" dirty="0"/>
          </a:p>
        </p:txBody>
      </p:sp>
      <p:sp>
        <p:nvSpPr>
          <p:cNvPr id="13" name="Text 11"/>
          <p:cNvSpPr/>
          <p:nvPr/>
        </p:nvSpPr>
        <p:spPr>
          <a:xfrm>
            <a:off x="1417320" y="3246120"/>
            <a:ext cx="9966960" cy="457200"/>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ディジタル署名</a:t>
            </a:r>
            <a:pPr indent="0" marL="0">
              <a:buNone/>
            </a:pPr>
            <a:r>
              <a:rPr lang="en-US" sz="1300" dirty="0">
                <a:solidFill>
                  <a:srgbClr val="5F6672"/>
                </a:solidFill>
                <a:latin typeface="Yu Gothic" pitchFamily="34" charset="0"/>
                <a:ea typeface="Yu Gothic" pitchFamily="34" charset="-122"/>
                <a:cs typeface="Yu Gothic" pitchFamily="34" charset="-120"/>
              </a:rPr>
              <a:t>　の役割を説明できる</a:t>
            </a:r>
            <a:endParaRPr lang="en-US" sz="1500" dirty="0"/>
          </a:p>
        </p:txBody>
      </p:sp>
      <p:sp>
        <p:nvSpPr>
          <p:cNvPr id="14" name="Shape 12"/>
          <p:cNvSpPr/>
          <p:nvPr/>
        </p:nvSpPr>
        <p:spPr>
          <a:xfrm>
            <a:off x="777240" y="3959352"/>
            <a:ext cx="457200" cy="457200"/>
          </a:xfrm>
          <a:prstGeom prst="ellipse">
            <a:avLst/>
          </a:prstGeom>
          <a:solidFill>
            <a:srgbClr val="D9E6F4"/>
          </a:solidFill>
          <a:ln w="15240">
            <a:solidFill>
              <a:srgbClr val="0B5CAD"/>
            </a:solidFill>
            <a:prstDash val="solid"/>
          </a:ln>
        </p:spPr>
      </p:sp>
      <p:sp>
        <p:nvSpPr>
          <p:cNvPr id="15" name="Text 13"/>
          <p:cNvSpPr/>
          <p:nvPr/>
        </p:nvSpPr>
        <p:spPr>
          <a:xfrm>
            <a:off x="777240" y="395935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4</a:t>
            </a:r>
            <a:endParaRPr lang="en-US" sz="1400" dirty="0"/>
          </a:p>
        </p:txBody>
      </p:sp>
      <p:sp>
        <p:nvSpPr>
          <p:cNvPr id="16" name="Text 14"/>
          <p:cNvSpPr/>
          <p:nvPr/>
        </p:nvSpPr>
        <p:spPr>
          <a:xfrm>
            <a:off x="1417320" y="3977640"/>
            <a:ext cx="9966960" cy="457200"/>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証明書と認証局</a:t>
            </a:r>
            <a:pPr indent="0" marL="0">
              <a:buNone/>
            </a:pPr>
            <a:r>
              <a:rPr lang="en-US" sz="1300" dirty="0">
                <a:solidFill>
                  <a:srgbClr val="5F6672"/>
                </a:solidFill>
                <a:latin typeface="Yu Gothic" pitchFamily="34" charset="0"/>
                <a:ea typeface="Yu Gothic" pitchFamily="34" charset="-122"/>
                <a:cs typeface="Yu Gothic" pitchFamily="34" charset="-120"/>
              </a:rPr>
              <a:t>　が「信頼の連鎖」をどう作るか説明できる</a:t>
            </a:r>
            <a:endParaRPr lang="en-US" sz="1500" dirty="0"/>
          </a:p>
        </p:txBody>
      </p:sp>
      <p:sp>
        <p:nvSpPr>
          <p:cNvPr id="17" name="Shape 15"/>
          <p:cNvSpPr/>
          <p:nvPr/>
        </p:nvSpPr>
        <p:spPr>
          <a:xfrm>
            <a:off x="777240" y="4690872"/>
            <a:ext cx="457200" cy="457200"/>
          </a:xfrm>
          <a:prstGeom prst="ellipse">
            <a:avLst/>
          </a:prstGeom>
          <a:solidFill>
            <a:srgbClr val="D9E6F4"/>
          </a:solidFill>
          <a:ln w="15240">
            <a:solidFill>
              <a:srgbClr val="0B5CAD"/>
            </a:solidFill>
            <a:prstDash val="solid"/>
          </a:ln>
        </p:spPr>
      </p:sp>
      <p:sp>
        <p:nvSpPr>
          <p:cNvPr id="18" name="Text 16"/>
          <p:cNvSpPr/>
          <p:nvPr/>
        </p:nvSpPr>
        <p:spPr>
          <a:xfrm>
            <a:off x="777240" y="469087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5</a:t>
            </a:r>
            <a:endParaRPr lang="en-US" sz="1400" dirty="0"/>
          </a:p>
        </p:txBody>
      </p:sp>
      <p:sp>
        <p:nvSpPr>
          <p:cNvPr id="19" name="Text 17"/>
          <p:cNvSpPr/>
          <p:nvPr/>
        </p:nvSpPr>
        <p:spPr>
          <a:xfrm>
            <a:off x="1417320" y="4709160"/>
            <a:ext cx="9966960" cy="457200"/>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認証と認可</a:t>
            </a:r>
            <a:pPr indent="0" marL="0">
              <a:buNone/>
            </a:pPr>
            <a:r>
              <a:rPr lang="en-US" sz="1300" dirty="0">
                <a:solidFill>
                  <a:srgbClr val="5F6672"/>
                </a:solidFill>
                <a:latin typeface="Yu Gothic" pitchFamily="34" charset="0"/>
                <a:ea typeface="Yu Gothic" pitchFamily="34" charset="-122"/>
                <a:cs typeface="Yu Gothic" pitchFamily="34" charset="-120"/>
              </a:rPr>
              <a:t>　を区別し、パスキーやシングルサインオンを説明できる</a:t>
            </a:r>
            <a:endParaRPr lang="en-US" sz="1500" dirty="0"/>
          </a:p>
        </p:txBody>
      </p:sp>
      <p:sp>
        <p:nvSpPr>
          <p:cNvPr id="20" name="Shape 18"/>
          <p:cNvSpPr/>
          <p:nvPr/>
        </p:nvSpPr>
        <p:spPr>
          <a:xfrm>
            <a:off x="777240" y="5422392"/>
            <a:ext cx="457200" cy="457200"/>
          </a:xfrm>
          <a:prstGeom prst="ellipse">
            <a:avLst/>
          </a:prstGeom>
          <a:solidFill>
            <a:srgbClr val="D9E6F4"/>
          </a:solidFill>
          <a:ln w="15240">
            <a:solidFill>
              <a:srgbClr val="0B5CAD"/>
            </a:solidFill>
            <a:prstDash val="solid"/>
          </a:ln>
        </p:spPr>
      </p:sp>
      <p:sp>
        <p:nvSpPr>
          <p:cNvPr id="21" name="Text 19"/>
          <p:cNvSpPr/>
          <p:nvPr/>
        </p:nvSpPr>
        <p:spPr>
          <a:xfrm>
            <a:off x="777240" y="5422392"/>
            <a:ext cx="457200" cy="457200"/>
          </a:xfrm>
          <a:prstGeom prst="rect">
            <a:avLst/>
          </a:prstGeom>
          <a:noFill/>
          <a:ln/>
        </p:spPr>
        <p:txBody>
          <a:bodyPr wrap="square" lIns="0" tIns="0" rIns="0" bIns="0" rtlCol="0" anchor="ctr"/>
          <a:lstStyle/>
          <a:p>
            <a:pPr algn="ctr" indent="0" marL="0">
              <a:buNone/>
            </a:pPr>
            <a:r>
              <a:rPr lang="en-US" sz="1400" b="1" dirty="0">
                <a:solidFill>
                  <a:srgbClr val="0B5CAD"/>
                </a:solidFill>
                <a:latin typeface="Yu Gothic" pitchFamily="34" charset="0"/>
                <a:ea typeface="Yu Gothic" pitchFamily="34" charset="-122"/>
                <a:cs typeface="Yu Gothic" pitchFamily="34" charset="-120"/>
              </a:rPr>
              <a:t>6</a:t>
            </a:r>
            <a:endParaRPr lang="en-US" sz="1400" dirty="0"/>
          </a:p>
        </p:txBody>
      </p:sp>
      <p:sp>
        <p:nvSpPr>
          <p:cNvPr id="22" name="Text 20"/>
          <p:cNvSpPr/>
          <p:nvPr/>
        </p:nvSpPr>
        <p:spPr>
          <a:xfrm>
            <a:off x="1417320" y="5440680"/>
            <a:ext cx="9966960" cy="457200"/>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量子計算機の影響</a:t>
            </a:r>
            <a:pPr indent="0" marL="0">
              <a:buNone/>
            </a:pPr>
            <a:r>
              <a:rPr lang="en-US" sz="1300" dirty="0">
                <a:solidFill>
                  <a:srgbClr val="5F6672"/>
                </a:solidFill>
                <a:latin typeface="Yu Gothic" pitchFamily="34" charset="0"/>
                <a:ea typeface="Yu Gothic" pitchFamily="34" charset="-122"/>
                <a:cs typeface="Yu Gothic" pitchFamily="34" charset="-120"/>
              </a:rPr>
              <a:t>　と、いま暗号の移行が進む理由を説明できる</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12.1</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何を守るのか</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安全にすることではなく、釣り合いを決めること</a:t>
            </a:r>
            <a:endParaRPr lang="en-US" sz="1700" dirty="0"/>
          </a:p>
        </p:txBody>
      </p:sp>
      <p:sp>
        <p:nvSpPr>
          <p:cNvPr id="5" name="Shape 3"/>
          <p:cNvSpPr/>
          <p:nvPr/>
        </p:nvSpPr>
        <p:spPr>
          <a:xfrm>
            <a:off x="548640" y="585216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FFFFFF">
              <a:alpha val="12000"/>
            </a:srgbClr>
          </a:solidFill>
          <a:ln w="7620">
            <a:solidFill>
              <a:srgbClr val="6AB0F3">
                <a:alpha val="45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12.1　CIA</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情報セキュリティの3要素</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5</a:t>
            </a:r>
            <a:endParaRPr lang="en-US" sz="1000" dirty="0"/>
          </a:p>
        </p:txBody>
      </p:sp>
      <p:sp>
        <p:nvSpPr>
          <p:cNvPr id="5" name="Shape 3"/>
          <p:cNvSpPr/>
          <p:nvPr/>
        </p:nvSpPr>
        <p:spPr>
          <a:xfrm>
            <a:off x="685800" y="1481328"/>
            <a:ext cx="3444240" cy="1554480"/>
          </a:xfrm>
          <a:prstGeom prst="roundRect">
            <a:avLst>
              <a:gd name="adj" fmla="val 3529"/>
            </a:avLst>
          </a:prstGeom>
          <a:solidFill>
            <a:srgbClr val="EEF1F5"/>
          </a:solidFill>
          <a:ln w="12700">
            <a:solidFill>
              <a:srgbClr val="DDE4EC"/>
            </a:solidFill>
            <a:prstDash val="solid"/>
          </a:ln>
        </p:spPr>
      </p:sp>
      <p:sp>
        <p:nvSpPr>
          <p:cNvPr id="6" name="Text 4"/>
          <p:cNvSpPr/>
          <p:nvPr/>
        </p:nvSpPr>
        <p:spPr>
          <a:xfrm>
            <a:off x="868680" y="1618488"/>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機密性 (Confidentiality)</a:t>
            </a:r>
            <a:endParaRPr lang="en-US" sz="1400" dirty="0"/>
          </a:p>
        </p:txBody>
      </p:sp>
      <p:sp>
        <p:nvSpPr>
          <p:cNvPr id="7" name="Text 5"/>
          <p:cNvSpPr/>
          <p:nvPr/>
        </p:nvSpPr>
        <p:spPr>
          <a:xfrm>
            <a:off x="868680" y="1965960"/>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権限のない者に見せない。破られた例：個人情報の漏洩</a:t>
            </a:r>
            <a:endParaRPr lang="en-US" sz="1200" dirty="0"/>
          </a:p>
        </p:txBody>
      </p:sp>
      <p:sp>
        <p:nvSpPr>
          <p:cNvPr id="8" name="Shape 6"/>
          <p:cNvSpPr/>
          <p:nvPr/>
        </p:nvSpPr>
        <p:spPr>
          <a:xfrm>
            <a:off x="4358640" y="1481328"/>
            <a:ext cx="3444240" cy="1554480"/>
          </a:xfrm>
          <a:prstGeom prst="roundRect">
            <a:avLst>
              <a:gd name="adj" fmla="val 3529"/>
            </a:avLst>
          </a:prstGeom>
          <a:solidFill>
            <a:srgbClr val="EEF1F5"/>
          </a:solidFill>
          <a:ln w="12700">
            <a:solidFill>
              <a:srgbClr val="DDE4EC"/>
            </a:solidFill>
            <a:prstDash val="solid"/>
          </a:ln>
        </p:spPr>
      </p:sp>
      <p:sp>
        <p:nvSpPr>
          <p:cNvPr id="9" name="Text 7"/>
          <p:cNvSpPr/>
          <p:nvPr/>
        </p:nvSpPr>
        <p:spPr>
          <a:xfrm>
            <a:off x="4541520" y="1618488"/>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完全性 (Integrity)</a:t>
            </a:r>
            <a:endParaRPr lang="en-US" sz="1400" dirty="0"/>
          </a:p>
        </p:txBody>
      </p:sp>
      <p:sp>
        <p:nvSpPr>
          <p:cNvPr id="10" name="Text 8"/>
          <p:cNvSpPr/>
          <p:nvPr/>
        </p:nvSpPr>
        <p:spPr>
          <a:xfrm>
            <a:off x="4541520" y="1965960"/>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勝手に書き換えられない。破られた例：Web サイトの改竄、成績データの不正操作</a:t>
            </a:r>
            <a:endParaRPr lang="en-US" sz="1200" dirty="0"/>
          </a:p>
        </p:txBody>
      </p:sp>
      <p:sp>
        <p:nvSpPr>
          <p:cNvPr id="11" name="Shape 9"/>
          <p:cNvSpPr/>
          <p:nvPr/>
        </p:nvSpPr>
        <p:spPr>
          <a:xfrm>
            <a:off x="8031480" y="1481328"/>
            <a:ext cx="3444240" cy="1554480"/>
          </a:xfrm>
          <a:prstGeom prst="roundRect">
            <a:avLst>
              <a:gd name="adj" fmla="val 3529"/>
            </a:avLst>
          </a:prstGeom>
          <a:solidFill>
            <a:srgbClr val="EEF1F5"/>
          </a:solidFill>
          <a:ln w="12700">
            <a:solidFill>
              <a:srgbClr val="DDE4EC"/>
            </a:solidFill>
            <a:prstDash val="solid"/>
          </a:ln>
        </p:spPr>
      </p:sp>
      <p:sp>
        <p:nvSpPr>
          <p:cNvPr id="12" name="Text 10"/>
          <p:cNvSpPr/>
          <p:nvPr/>
        </p:nvSpPr>
        <p:spPr>
          <a:xfrm>
            <a:off x="8214360" y="1618488"/>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可用性 (Availability)</a:t>
            </a:r>
            <a:endParaRPr lang="en-US" sz="1400" dirty="0"/>
          </a:p>
        </p:txBody>
      </p:sp>
      <p:sp>
        <p:nvSpPr>
          <p:cNvPr id="13" name="Text 11"/>
          <p:cNvSpPr/>
          <p:nvPr/>
        </p:nvSpPr>
        <p:spPr>
          <a:xfrm>
            <a:off x="8214360" y="1965960"/>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必要なときに使える。破られた例：サービス妨害攻撃、ランサムウェアによる暗号化</a:t>
            </a:r>
            <a:endParaRPr lang="en-US" sz="1200" dirty="0"/>
          </a:p>
        </p:txBody>
      </p:sp>
      <p:sp>
        <p:nvSpPr>
          <p:cNvPr id="14" name="Shape 12"/>
          <p:cNvSpPr/>
          <p:nvPr/>
        </p:nvSpPr>
        <p:spPr>
          <a:xfrm>
            <a:off x="685800" y="3328416"/>
            <a:ext cx="10789920" cy="786384"/>
          </a:xfrm>
          <a:prstGeom prst="roundRect">
            <a:avLst>
              <a:gd name="adj" fmla="val 6977"/>
            </a:avLst>
          </a:prstGeom>
          <a:solidFill>
            <a:srgbClr val="FFFFFF"/>
          </a:solidFill>
          <a:ln w="19050">
            <a:solidFill>
              <a:srgbClr val="0B5CAD"/>
            </a:solidFill>
            <a:prstDash val="dash"/>
          </a:ln>
        </p:spPr>
      </p:sp>
      <p:sp>
        <p:nvSpPr>
          <p:cNvPr id="15" name="Text 13"/>
          <p:cNvSpPr/>
          <p:nvPr/>
        </p:nvSpPr>
        <p:spPr>
          <a:xfrm>
            <a:off x="914400" y="3456432"/>
            <a:ext cx="10332720" cy="292608"/>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この3つはしばしば互いに衝突する</a:t>
            </a:r>
            <a:endParaRPr lang="en-US" sz="1500" dirty="0"/>
          </a:p>
        </p:txBody>
      </p:sp>
      <p:sp>
        <p:nvSpPr>
          <p:cNvPr id="16" name="Text 14"/>
          <p:cNvSpPr/>
          <p:nvPr/>
        </p:nvSpPr>
        <p:spPr>
          <a:xfrm>
            <a:off x="914400" y="3767328"/>
            <a:ext cx="10332720" cy="292608"/>
          </a:xfrm>
          <a:prstGeom prst="rect">
            <a:avLst/>
          </a:prstGeom>
          <a:noFill/>
          <a:ln/>
        </p:spPr>
        <p:txBody>
          <a:bodyPr wrap="square" lIns="0" tIns="0" rIns="0" bIns="0" rtlCol="0" anchor="ctr"/>
          <a:lstStyle/>
          <a:p>
            <a:pPr indent="0" marL="0">
              <a:buNone/>
            </a:pPr>
            <a:r>
              <a:rPr lang="en-US" sz="1250" dirty="0">
                <a:solidFill>
                  <a:srgbClr val="5F6672"/>
                </a:solidFill>
                <a:latin typeface="Yu Gothic" pitchFamily="34" charset="0"/>
                <a:ea typeface="Yu Gothic" pitchFamily="34" charset="-122"/>
                <a:cs typeface="Yu Gothic" pitchFamily="34" charset="-120"/>
              </a:rPr>
              <a:t>機密性を極めるなら誰にも見せず電源を切ってネットワークから外すのが最も安全だが、可用性は失われる。</a:t>
            </a:r>
            <a:endParaRPr lang="en-US" sz="1250" dirty="0"/>
          </a:p>
        </p:txBody>
      </p:sp>
      <p:sp>
        <p:nvSpPr>
          <p:cNvPr id="17" name="Text 15"/>
          <p:cNvSpPr/>
          <p:nvPr/>
        </p:nvSpPr>
        <p:spPr>
          <a:xfrm>
            <a:off x="685800" y="56235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セキュリティは「安全にすること」ではなく、「守るべきものと、失ってよい利便性の釣り合いを決めること」である。</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12.1　なぜ難しいか</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対面と遠隔の違い</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481328"/>
          <a:ext cx="10789920" cy="914400"/>
        </p:xfrm>
        <a:graphic>
          <a:graphicData uri="http://schemas.openxmlformats.org/drawingml/2006/table">
            <a:tbl>
              <a:tblPr/>
              <a:tblGrid>
                <a:gridCol w="4937760"/>
                <a:gridCol w="5852160"/>
              </a:tblGrid>
              <a:tr h="420624">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対面</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インターネット</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相手を目で見て確認する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相手が誰か分からない</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その場で交換する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送ったものが届いたか分からない</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会話は当事者だけに聞こえる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経路上の誰でも聞ける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契約書に署名する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署名を真似られる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6" name="Shape 3"/>
          <p:cNvSpPr/>
          <p:nvPr/>
        </p:nvSpPr>
        <p:spPr>
          <a:xfrm>
            <a:off x="685800" y="3813048"/>
            <a:ext cx="10789920" cy="658368"/>
          </a:xfrm>
          <a:prstGeom prst="roundRect">
            <a:avLst>
              <a:gd name="adj" fmla="val 8333"/>
            </a:avLst>
          </a:prstGeom>
          <a:solidFill>
            <a:srgbClr val="D9E6F4"/>
          </a:solidFill>
          <a:ln w="19050">
            <a:solidFill>
              <a:srgbClr val="0B5CAD"/>
            </a:solidFill>
            <a:prstDash val="solid"/>
          </a:ln>
        </p:spPr>
      </p:sp>
      <p:sp>
        <p:nvSpPr>
          <p:cNvPr id="7" name="Text 4"/>
          <p:cNvSpPr/>
          <p:nvPr/>
        </p:nvSpPr>
        <p:spPr>
          <a:xfrm>
            <a:off x="914400" y="3959352"/>
            <a:ext cx="10332720" cy="365760"/>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パケットは多数のネットワークを経由する。どこかで読むことも、書き換えることもできる</a:t>
            </a:r>
            <a:endParaRPr lang="en-US" sz="1500" dirty="0"/>
          </a:p>
        </p:txBody>
      </p:sp>
      <p:sp>
        <p:nvSpPr>
          <p:cNvPr id="8" name="Text 5"/>
          <p:cNvSpPr/>
          <p:nvPr/>
        </p:nvSpPr>
        <p:spPr>
          <a:xfrm>
            <a:off x="685800" y="4636008"/>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だから暗号技術が要る。近年は CIA に加えて、真正性（相手が名乗ったとおりか）と</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否認防止（後から「やっていない」と言えないこと）を加えて論じることが多い。</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12.2</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暗号の基礎</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方式は公開されている前提で設計する</a:t>
            </a:r>
            <a:endParaRPr lang="en-US" sz="1700" dirty="0"/>
          </a:p>
        </p:txBody>
      </p:sp>
      <p:sp>
        <p:nvSpPr>
          <p:cNvPr id="5" name="Shape 3"/>
          <p:cNvSpPr/>
          <p:nvPr/>
        </p:nvSpPr>
        <p:spPr>
          <a:xfrm>
            <a:off x="548640" y="585216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FFFFFF">
              <a:alpha val="12000"/>
            </a:srgbClr>
          </a:solidFill>
          <a:ln w="7620">
            <a:solidFill>
              <a:srgbClr val="6AB0F3">
                <a:alpha val="4500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暗号</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ケルクホフスの原理（1883年）</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8</a:t>
            </a:r>
            <a:endParaRPr lang="en-US" sz="1000" dirty="0"/>
          </a:p>
        </p:txBody>
      </p:sp>
      <p:sp>
        <p:nvSpPr>
          <p:cNvPr id="5" name="Shape 3"/>
          <p:cNvSpPr/>
          <p:nvPr/>
        </p:nvSpPr>
        <p:spPr>
          <a:xfrm>
            <a:off x="685800" y="1527048"/>
            <a:ext cx="10789920" cy="713232"/>
          </a:xfrm>
          <a:prstGeom prst="roundRect">
            <a:avLst>
              <a:gd name="adj" fmla="val 7692"/>
            </a:avLst>
          </a:prstGeom>
          <a:solidFill>
            <a:srgbClr val="D9E6F4"/>
          </a:solidFill>
          <a:ln w="19050">
            <a:solidFill>
              <a:srgbClr val="0B5CAD"/>
            </a:solidFill>
            <a:prstDash val="solid"/>
          </a:ln>
        </p:spPr>
      </p:sp>
      <p:sp>
        <p:nvSpPr>
          <p:cNvPr id="6" name="Text 4"/>
          <p:cNvSpPr/>
          <p:nvPr/>
        </p:nvSpPr>
        <p:spPr>
          <a:xfrm>
            <a:off x="914400" y="1682496"/>
            <a:ext cx="10332720" cy="402336"/>
          </a:xfrm>
          <a:prstGeom prst="rect">
            <a:avLst/>
          </a:prstGeom>
          <a:noFill/>
          <a:ln/>
        </p:spPr>
        <p:txBody>
          <a:bodyPr wrap="square" lIns="0" tIns="0" rIns="0" bIns="0" rtlCol="0" anchor="ctr"/>
          <a:lstStyle/>
          <a:p>
            <a:pPr indent="0" marL="0">
              <a:buNone/>
            </a:pPr>
            <a:r>
              <a:rPr lang="en-US" sz="1700" b="1" dirty="0">
                <a:solidFill>
                  <a:srgbClr val="0B5CAD"/>
                </a:solidFill>
                <a:latin typeface="Yu Gothic" pitchFamily="34" charset="0"/>
                <a:ea typeface="Yu Gothic" pitchFamily="34" charset="-122"/>
                <a:cs typeface="Yu Gothic" pitchFamily="34" charset="-120"/>
              </a:rPr>
              <a:t>暗号方式が公開されていても、鍵さえ秘密であれば安全でなければならない</a:t>
            </a:r>
            <a:endParaRPr lang="en-US" sz="1700" dirty="0"/>
          </a:p>
        </p:txBody>
      </p:sp>
      <p:sp>
        <p:nvSpPr>
          <p:cNvPr id="7" name="Text 5"/>
          <p:cNvSpPr/>
          <p:nvPr/>
        </p:nvSpPr>
        <p:spPr>
          <a:xfrm>
            <a:off x="1188720" y="2487168"/>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方式を秘密にして守る</a:t>
            </a:r>
            <a:endParaRPr lang="en-US" sz="1500" dirty="0"/>
          </a:p>
        </p:txBody>
      </p:sp>
      <p:sp>
        <p:nvSpPr>
          <p:cNvPr id="8" name="Shape 6"/>
          <p:cNvSpPr/>
          <p:nvPr/>
        </p:nvSpPr>
        <p:spPr>
          <a:xfrm>
            <a:off x="5943600" y="2615184"/>
            <a:ext cx="640080" cy="201168"/>
          </a:xfrm>
          <a:prstGeom prst="rightArrow">
            <a:avLst/>
          </a:prstGeom>
          <a:solidFill>
            <a:srgbClr val="0B5CAD"/>
          </a:solidFill>
          <a:ln/>
        </p:spPr>
      </p:sp>
      <p:sp>
        <p:nvSpPr>
          <p:cNvPr id="9" name="Text 7"/>
          <p:cNvSpPr/>
          <p:nvPr/>
        </p:nvSpPr>
        <p:spPr>
          <a:xfrm>
            <a:off x="6766560" y="2487168"/>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成り立たない</a:t>
            </a:r>
            <a:endParaRPr lang="en-US" sz="1600" dirty="0"/>
          </a:p>
        </p:txBody>
      </p:sp>
      <p:sp>
        <p:nvSpPr>
          <p:cNvPr id="10" name="Text 8"/>
          <p:cNvSpPr/>
          <p:nvPr/>
        </p:nvSpPr>
        <p:spPr>
          <a:xfrm>
            <a:off x="1188720" y="3108960"/>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方式はいずれ漏れる</a:t>
            </a:r>
            <a:endParaRPr lang="en-US" sz="1500" dirty="0"/>
          </a:p>
        </p:txBody>
      </p:sp>
      <p:sp>
        <p:nvSpPr>
          <p:cNvPr id="11" name="Shape 9"/>
          <p:cNvSpPr/>
          <p:nvPr/>
        </p:nvSpPr>
        <p:spPr>
          <a:xfrm>
            <a:off x="5943600" y="3236976"/>
            <a:ext cx="640080" cy="201168"/>
          </a:xfrm>
          <a:prstGeom prst="rightArrow">
            <a:avLst/>
          </a:prstGeom>
          <a:solidFill>
            <a:srgbClr val="0B5CAD"/>
          </a:solidFill>
          <a:ln/>
        </p:spPr>
      </p:sp>
      <p:sp>
        <p:nvSpPr>
          <p:cNvPr id="12" name="Text 10"/>
          <p:cNvSpPr/>
          <p:nvPr/>
        </p:nvSpPr>
        <p:spPr>
          <a:xfrm>
            <a:off x="6766560" y="3108960"/>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前提にする</a:t>
            </a:r>
            <a:endParaRPr lang="en-US" sz="1600" dirty="0"/>
          </a:p>
        </p:txBody>
      </p:sp>
      <p:sp>
        <p:nvSpPr>
          <p:cNvPr id="13" name="Text 11"/>
          <p:cNvSpPr/>
          <p:nvPr/>
        </p:nvSpPr>
        <p:spPr>
          <a:xfrm>
            <a:off x="1188720" y="3730752"/>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公開して攻撃され生き残った方式</a:t>
            </a:r>
            <a:endParaRPr lang="en-US" sz="1500" dirty="0"/>
          </a:p>
        </p:txBody>
      </p:sp>
      <p:sp>
        <p:nvSpPr>
          <p:cNvPr id="14" name="Shape 12"/>
          <p:cNvSpPr/>
          <p:nvPr/>
        </p:nvSpPr>
        <p:spPr>
          <a:xfrm>
            <a:off x="5943600" y="3858768"/>
            <a:ext cx="640080" cy="201168"/>
          </a:xfrm>
          <a:prstGeom prst="rightArrow">
            <a:avLst/>
          </a:prstGeom>
          <a:solidFill>
            <a:srgbClr val="0B5CAD"/>
          </a:solidFill>
          <a:ln/>
        </p:spPr>
      </p:sp>
      <p:sp>
        <p:nvSpPr>
          <p:cNvPr id="15" name="Text 13"/>
          <p:cNvSpPr/>
          <p:nvPr/>
        </p:nvSpPr>
        <p:spPr>
          <a:xfrm>
            <a:off x="6766560" y="3730752"/>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こそ信頼できる</a:t>
            </a:r>
            <a:endParaRPr lang="en-US" sz="1600" dirty="0"/>
          </a:p>
        </p:txBody>
      </p:sp>
      <p:sp>
        <p:nvSpPr>
          <p:cNvPr id="16" name="Text 14"/>
          <p:cNvSpPr/>
          <p:nvPr/>
        </p:nvSpPr>
        <p:spPr>
          <a:xfrm>
            <a:off x="685800" y="4443984"/>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「自作の暗号を使ってはならない」という実務上の鉄則は、ここから来ている。</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暗号</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共通鍵暗号の限界</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9</a:t>
            </a:r>
            <a:endParaRPr lang="en-US" sz="1000" dirty="0"/>
          </a:p>
        </p:txBody>
      </p:sp>
      <p:sp>
        <p:nvSpPr>
          <p:cNvPr id="5" name="Text 3"/>
          <p:cNvSpPr/>
          <p:nvPr/>
        </p:nvSpPr>
        <p:spPr>
          <a:xfrm>
            <a:off x="68580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共通鍵暗号　AES, ChaCha20</a:t>
            </a:r>
            <a:endParaRPr lang="en-US" sz="1500" dirty="0"/>
          </a:p>
        </p:txBody>
      </p:sp>
      <p:sp>
        <p:nvSpPr>
          <p:cNvPr id="6" name="Text 4"/>
          <p:cNvSpPr/>
          <p:nvPr/>
        </p:nvSpPr>
        <p:spPr>
          <a:xfrm>
            <a:off x="685800" y="1883664"/>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暗号化と復号に同じ鍵を使う。処理が速く、大量のデータを扱える。</a:t>
            </a:r>
            <a:endParaRPr lang="en-US" sz="1300" dirty="0"/>
          </a:p>
        </p:txBody>
      </p:sp>
      <p:sp>
        <p:nvSpPr>
          <p:cNvPr id="7" name="Text 5"/>
          <p:cNvSpPr/>
          <p:nvPr/>
        </p:nvSpPr>
        <p:spPr>
          <a:xfrm>
            <a:off x="685800" y="3511296"/>
            <a:ext cx="5166360" cy="320040"/>
          </a:xfrm>
          <a:prstGeom prst="rect">
            <a:avLst/>
          </a:prstGeom>
          <a:noFill/>
          <a:ln/>
        </p:spPr>
        <p:txBody>
          <a:bodyPr wrap="square" lIns="0" tIns="0" rIns="0" bIns="0" rtlCol="0" anchor="ctr"/>
          <a:lstStyle/>
          <a:p>
            <a:pPr indent="0" marL="0">
              <a:buNone/>
            </a:pPr>
            <a:r>
              <a:rPr lang="en-US" sz="1300" b="1" dirty="0">
                <a:solidFill>
                  <a:srgbClr val="0B5CAD"/>
                </a:solidFill>
                <a:latin typeface="Yu Gothic" pitchFamily="34" charset="0"/>
                <a:ea typeface="Yu Gothic" pitchFamily="34" charset="-122"/>
                <a:cs typeface="Yu Gothic" pitchFamily="34" charset="-120"/>
              </a:rPr>
              <a:t>問題は鍵の配送である</a:t>
            </a:r>
            <a:endParaRPr lang="en-US" sz="1300" dirty="0"/>
          </a:p>
        </p:txBody>
      </p:sp>
      <p:sp>
        <p:nvSpPr>
          <p:cNvPr id="8" name="Text 6"/>
          <p:cNvSpPr/>
          <p:nvPr/>
        </p:nvSpPr>
        <p:spPr>
          <a:xfrm>
            <a:off x="630936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2つの行き詰まり</a:t>
            </a:r>
            <a:endParaRPr lang="en-US" sz="1500" dirty="0"/>
          </a:p>
        </p:txBody>
      </p:sp>
      <p:sp>
        <p:nvSpPr>
          <p:cNvPr id="9" name="Text 7"/>
          <p:cNvSpPr/>
          <p:nvPr/>
        </p:nvSpPr>
        <p:spPr>
          <a:xfrm>
            <a:off x="6309360" y="1883664"/>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鍵を安全に渡すには安全な通信路が要る。しかし安全な通信路を作るために鍵が要る —— 堂々巡りになる。</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さらに n 人が互いに通信するには n(n−1)/2 個の鍵が必要。100人で4,950個、1万人で約5,000万個。</a:t>
            </a:r>
            <a:endParaRPr lang="en-US" sz="1300" dirty="0"/>
          </a:p>
        </p:txBody>
      </p:sp>
      <p:sp>
        <p:nvSpPr>
          <p:cNvPr id="10" name="Text 8"/>
          <p:cNvSpPr/>
          <p:nvPr/>
        </p:nvSpPr>
        <p:spPr>
          <a:xfrm>
            <a:off x="685800" y="53949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1976年の Diffie–Hellman、1977年の RSA によって、この行き詰まりが破られた。</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暗号</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公開鍵暗号</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10</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鍵を2つに分ける。公開鍵は誰にでも配ってよく、秘密鍵は本人だけが持つ。</a:t>
            </a:r>
            <a:endParaRPr lang="en-US" sz="1500" dirty="0"/>
          </a:p>
        </p:txBody>
      </p:sp>
      <p:pic>
        <p:nvPicPr>
          <p:cNvPr id="6" name="Image 0" descr="/Users/koide/Documents/Playground/CompOutline/slides/png/fig-12-01.png">    </p:cNvPr>
          <p:cNvPicPr>
            <a:picLocks noChangeAspect="1"/>
          </p:cNvPicPr>
          <p:nvPr/>
        </p:nvPicPr>
        <p:blipFill>
          <a:blip r:embed="rId1"/>
          <a:stretch>
            <a:fillRect/>
          </a:stretch>
        </p:blipFill>
        <p:spPr>
          <a:xfrm>
            <a:off x="2928366" y="1883664"/>
            <a:ext cx="6304788" cy="3602736"/>
          </a:xfrm>
          <a:prstGeom prst="rect">
            <a:avLst/>
          </a:prstGeom>
        </p:spPr>
      </p:pic>
      <p:sp>
        <p:nvSpPr>
          <p:cNvPr id="7" name="Text 4"/>
          <p:cNvSpPr/>
          <p:nvPr/>
        </p:nvSpPr>
        <p:spPr>
          <a:xfrm>
            <a:off x="685800" y="5687568"/>
            <a:ext cx="10789920" cy="365760"/>
          </a:xfrm>
          <a:prstGeom prst="rect">
            <a:avLst/>
          </a:prstGeom>
          <a:noFill/>
          <a:ln/>
        </p:spPr>
        <p:txBody>
          <a:bodyPr wrap="square" lIns="0" tIns="0" rIns="0" bIns="0" rtlCol="0" anchor="ctr"/>
          <a:lstStyle/>
          <a:p>
            <a:pPr algn="ctr" indent="0" marL="0">
              <a:buNone/>
            </a:pPr>
            <a:r>
              <a:rPr lang="en-US" sz="1500" dirty="0">
                <a:solidFill>
                  <a:srgbClr val="16191D"/>
                </a:solidFill>
                <a:latin typeface="Yu Gothic" pitchFamily="34" charset="0"/>
                <a:ea typeface="Yu Gothic" pitchFamily="34" charset="-122"/>
                <a:cs typeface="Yu Gothic" pitchFamily="34" charset="-120"/>
              </a:rPr>
              <a:t>公開鍵で暗号化したものは、対応する秘密鍵でしか復号できない。</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暗号</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安全性は「まだ誰も解けていない」ことに乗っている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11</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RSA は「大きな素数2つを掛けるのは易しいが、その積を素因数分解するのは難しい」ことに基づく。楕円曲線暗号は離散対数問題を使い、より短い鍵で同等の強度が得られる。</a:t>
            </a:r>
            <a:endParaRPr lang="en-US" sz="1500" dirty="0"/>
          </a:p>
        </p:txBody>
      </p:sp>
      <p:sp>
        <p:nvSpPr>
          <p:cNvPr id="6" name="Shape 4"/>
          <p:cNvSpPr/>
          <p:nvPr/>
        </p:nvSpPr>
        <p:spPr>
          <a:xfrm>
            <a:off x="685800" y="2130552"/>
            <a:ext cx="10789920" cy="713232"/>
          </a:xfrm>
          <a:prstGeom prst="roundRect">
            <a:avLst>
              <a:gd name="adj" fmla="val 7692"/>
            </a:avLst>
          </a:prstGeom>
          <a:solidFill>
            <a:srgbClr val="D9E6F4"/>
          </a:solidFill>
          <a:ln w="19050">
            <a:solidFill>
              <a:srgbClr val="0B5CAD"/>
            </a:solidFill>
            <a:prstDash val="solid"/>
          </a:ln>
        </p:spPr>
      </p:sp>
      <p:sp>
        <p:nvSpPr>
          <p:cNvPr id="7" name="Text 5"/>
          <p:cNvSpPr/>
          <p:nvPr/>
        </p:nvSpPr>
        <p:spPr>
          <a:xfrm>
            <a:off x="914400" y="2286000"/>
            <a:ext cx="10332720" cy="402336"/>
          </a:xfrm>
          <a:prstGeom prst="rect">
            <a:avLst/>
          </a:prstGeom>
          <a:noFill/>
          <a:ln/>
        </p:spPr>
        <p:txBody>
          <a:bodyPr wrap="square" lIns="0" tIns="0" rIns="0" bIns="0" rtlCol="0" anchor="ctr"/>
          <a:lstStyle/>
          <a:p>
            <a:pPr indent="0" marL="0">
              <a:buNone/>
            </a:pPr>
            <a:r>
              <a:rPr lang="en-US" sz="1700" b="1" dirty="0">
                <a:solidFill>
                  <a:srgbClr val="0B5CAD"/>
                </a:solidFill>
                <a:latin typeface="Yu Gothic" pitchFamily="34" charset="0"/>
                <a:ea typeface="Yu Gothic" pitchFamily="34" charset="-122"/>
                <a:cs typeface="Yu Gothic" pitchFamily="34" charset="-120"/>
              </a:rPr>
              <a:t>素因数分解は「計算できない」のではなく、「多項式時間の解法が知られていない」だけ</a:t>
            </a:r>
            <a:endParaRPr lang="en-US" sz="1700" dirty="0"/>
          </a:p>
        </p:txBody>
      </p:sp>
      <p:sp>
        <p:nvSpPr>
          <p:cNvPr id="8" name="Text 6"/>
          <p:cNvSpPr/>
          <p:nvPr/>
        </p:nvSpPr>
        <p:spPr>
          <a:xfrm>
            <a:off x="1188720" y="3090672"/>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第2回の計算量の話</a:t>
            </a:r>
            <a:endParaRPr lang="en-US" sz="1500" dirty="0"/>
          </a:p>
        </p:txBody>
      </p:sp>
      <p:sp>
        <p:nvSpPr>
          <p:cNvPr id="9" name="Shape 7"/>
          <p:cNvSpPr/>
          <p:nvPr/>
        </p:nvSpPr>
        <p:spPr>
          <a:xfrm>
            <a:off x="5943600" y="3218688"/>
            <a:ext cx="640080" cy="201168"/>
          </a:xfrm>
          <a:prstGeom prst="rightArrow">
            <a:avLst/>
          </a:prstGeom>
          <a:solidFill>
            <a:srgbClr val="0B5CAD"/>
          </a:solidFill>
          <a:ln/>
        </p:spPr>
      </p:sp>
      <p:sp>
        <p:nvSpPr>
          <p:cNvPr id="10" name="Text 8"/>
          <p:cNvSpPr/>
          <p:nvPr/>
        </p:nvSpPr>
        <p:spPr>
          <a:xfrm>
            <a:off x="6766560" y="3090672"/>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ここで効いてくる</a:t>
            </a:r>
            <a:endParaRPr lang="en-US" sz="1600" dirty="0"/>
          </a:p>
        </p:txBody>
      </p:sp>
      <p:sp>
        <p:nvSpPr>
          <p:cNvPr id="11" name="Text 9"/>
          <p:cNvSpPr/>
          <p:nvPr/>
        </p:nvSpPr>
        <p:spPr>
          <a:xfrm>
            <a:off x="1188720" y="3712464"/>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P = NP が証明されたら</a:t>
            </a:r>
            <a:endParaRPr lang="en-US" sz="1500" dirty="0"/>
          </a:p>
        </p:txBody>
      </p:sp>
      <p:sp>
        <p:nvSpPr>
          <p:cNvPr id="12" name="Shape 10"/>
          <p:cNvSpPr/>
          <p:nvPr/>
        </p:nvSpPr>
        <p:spPr>
          <a:xfrm>
            <a:off x="5943600" y="3840480"/>
            <a:ext cx="640080" cy="201168"/>
          </a:xfrm>
          <a:prstGeom prst="rightArrow">
            <a:avLst/>
          </a:prstGeom>
          <a:solidFill>
            <a:srgbClr val="0B5CAD"/>
          </a:solidFill>
          <a:ln/>
        </p:spPr>
      </p:sp>
      <p:sp>
        <p:nvSpPr>
          <p:cNvPr id="13" name="Text 11"/>
          <p:cNvSpPr/>
          <p:nvPr/>
        </p:nvSpPr>
        <p:spPr>
          <a:xfrm>
            <a:off x="6766560" y="3712464"/>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現在の公開鍵暗号は無力になる</a:t>
            </a:r>
            <a:endParaRPr lang="en-US" sz="1600" dirty="0"/>
          </a:p>
        </p:txBody>
      </p:sp>
      <p:sp>
        <p:nvSpPr>
          <p:cNvPr id="14" name="Text 12"/>
          <p:cNvSpPr/>
          <p:nvPr/>
        </p:nvSpPr>
        <p:spPr>
          <a:xfrm>
            <a:off x="1188720" y="4334256"/>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安全性の根拠</a:t>
            </a:r>
            <a:endParaRPr lang="en-US" sz="1500" dirty="0"/>
          </a:p>
        </p:txBody>
      </p:sp>
      <p:sp>
        <p:nvSpPr>
          <p:cNvPr id="15" name="Shape 13"/>
          <p:cNvSpPr/>
          <p:nvPr/>
        </p:nvSpPr>
        <p:spPr>
          <a:xfrm>
            <a:off x="5943600" y="4462272"/>
            <a:ext cx="640080" cy="201168"/>
          </a:xfrm>
          <a:prstGeom prst="rightArrow">
            <a:avLst/>
          </a:prstGeom>
          <a:solidFill>
            <a:srgbClr val="0B5CAD"/>
          </a:solidFill>
          <a:ln/>
        </p:spPr>
      </p:sp>
      <p:sp>
        <p:nvSpPr>
          <p:cNvPr id="16" name="Text 14"/>
          <p:cNvSpPr/>
          <p:nvPr/>
        </p:nvSpPr>
        <p:spPr>
          <a:xfrm>
            <a:off x="6766560" y="4334256"/>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数学的証明ではない</a:t>
            </a:r>
            <a:endParaRPr lang="en-US" sz="1600" dirty="0"/>
          </a:p>
        </p:txBody>
      </p:sp>
      <p:sp>
        <p:nvSpPr>
          <p:cNvPr id="17" name="Text 15"/>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公開鍵暗号は遅い（共通鍵の数百〜数千倍）。実際は公開鍵で共通鍵を渡し、以降は共通鍵で流す（ハイブリッド方式）。TLS がまさにこれである。</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耐量子</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量子計算機が、その「まだ解けていない」を崩す</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12</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第1回で見たとおり、量子計算機は計算できる範囲を変えないが、速さを変える。そして変わる対象に、公開鍵暗号が正面から入っている。</a:t>
            </a:r>
            <a:endParaRPr lang="en-US" sz="1500" dirty="0"/>
          </a:p>
        </p:txBody>
      </p:sp>
      <p:sp>
        <p:nvSpPr>
          <p:cNvPr id="6" name="Shape 4"/>
          <p:cNvSpPr/>
          <p:nvPr/>
        </p:nvSpPr>
        <p:spPr>
          <a:xfrm>
            <a:off x="685800" y="2130552"/>
            <a:ext cx="10789920" cy="713232"/>
          </a:xfrm>
          <a:prstGeom prst="roundRect">
            <a:avLst>
              <a:gd name="adj" fmla="val 7692"/>
            </a:avLst>
          </a:prstGeom>
          <a:solidFill>
            <a:srgbClr val="D9E6F4"/>
          </a:solidFill>
          <a:ln w="19050">
            <a:solidFill>
              <a:srgbClr val="0B5CAD"/>
            </a:solidFill>
            <a:prstDash val="solid"/>
          </a:ln>
        </p:spPr>
      </p:sp>
      <p:sp>
        <p:nvSpPr>
          <p:cNvPr id="7" name="Text 5"/>
          <p:cNvSpPr/>
          <p:nvPr/>
        </p:nvSpPr>
        <p:spPr>
          <a:xfrm>
            <a:off x="914400" y="2286000"/>
            <a:ext cx="10332720" cy="402336"/>
          </a:xfrm>
          <a:prstGeom prst="rect">
            <a:avLst/>
          </a:prstGeom>
          <a:noFill/>
          <a:ln/>
        </p:spPr>
        <p:txBody>
          <a:bodyPr wrap="square" lIns="0" tIns="0" rIns="0" bIns="0" rtlCol="0" anchor="ctr"/>
          <a:lstStyle/>
          <a:p>
            <a:pPr indent="0" marL="0">
              <a:buNone/>
            </a:pPr>
            <a:r>
              <a:rPr lang="en-US" sz="1700" b="1" dirty="0">
                <a:solidFill>
                  <a:srgbClr val="0B5CAD"/>
                </a:solidFill>
                <a:latin typeface="Yu Gothic" pitchFamily="34" charset="0"/>
                <a:ea typeface="Yu Gothic" pitchFamily="34" charset="-122"/>
                <a:cs typeface="Yu Gothic" pitchFamily="34" charset="-120"/>
              </a:rPr>
              <a:t>Shor のアルゴリズムは、RSA も楕円曲線暗号も多項式時間で破る</a:t>
            </a:r>
            <a:endParaRPr lang="en-US" sz="1700" dirty="0"/>
          </a:p>
        </p:txBody>
      </p:sp>
      <p:sp>
        <p:nvSpPr>
          <p:cNvPr id="8" name="Text 6"/>
          <p:cNvSpPr/>
          <p:nvPr/>
        </p:nvSpPr>
        <p:spPr>
          <a:xfrm>
            <a:off x="1188720" y="3090672"/>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共通鍵暗号（AES）</a:t>
            </a:r>
            <a:endParaRPr lang="en-US" sz="1500" dirty="0"/>
          </a:p>
        </p:txBody>
      </p:sp>
      <p:sp>
        <p:nvSpPr>
          <p:cNvPr id="9" name="Shape 7"/>
          <p:cNvSpPr/>
          <p:nvPr/>
        </p:nvSpPr>
        <p:spPr>
          <a:xfrm>
            <a:off x="5943600" y="3218688"/>
            <a:ext cx="640080" cy="201168"/>
          </a:xfrm>
          <a:prstGeom prst="rightArrow">
            <a:avLst/>
          </a:prstGeom>
          <a:solidFill>
            <a:srgbClr val="0B5CAD"/>
          </a:solidFill>
          <a:ln/>
        </p:spPr>
      </p:sp>
      <p:sp>
        <p:nvSpPr>
          <p:cNvPr id="10" name="Text 8"/>
          <p:cNvSpPr/>
          <p:nvPr/>
        </p:nvSpPr>
        <p:spPr>
          <a:xfrm>
            <a:off x="6766560" y="3090672"/>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鍵長を倍にすれば足りる</a:t>
            </a:r>
            <a:endParaRPr lang="en-US" sz="1600" dirty="0"/>
          </a:p>
        </p:txBody>
      </p:sp>
      <p:sp>
        <p:nvSpPr>
          <p:cNvPr id="11" name="Text 9"/>
          <p:cNvSpPr/>
          <p:nvPr/>
        </p:nvSpPr>
        <p:spPr>
          <a:xfrm>
            <a:off x="1188720" y="3712464"/>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公開鍵暗号</a:t>
            </a:r>
            <a:endParaRPr lang="en-US" sz="1500" dirty="0"/>
          </a:p>
        </p:txBody>
      </p:sp>
      <p:sp>
        <p:nvSpPr>
          <p:cNvPr id="12" name="Shape 10"/>
          <p:cNvSpPr/>
          <p:nvPr/>
        </p:nvSpPr>
        <p:spPr>
          <a:xfrm>
            <a:off x="5943600" y="3840480"/>
            <a:ext cx="640080" cy="201168"/>
          </a:xfrm>
          <a:prstGeom prst="rightArrow">
            <a:avLst/>
          </a:prstGeom>
          <a:solidFill>
            <a:srgbClr val="0B5CAD"/>
          </a:solidFill>
          <a:ln/>
        </p:spPr>
      </p:sp>
      <p:sp>
        <p:nvSpPr>
          <p:cNvPr id="13" name="Text 11"/>
          <p:cNvSpPr/>
          <p:nvPr/>
        </p:nvSpPr>
        <p:spPr>
          <a:xfrm>
            <a:off x="6766560" y="3712464"/>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別の数学問題へ乗り換え</a:t>
            </a:r>
            <a:endParaRPr lang="en-US" sz="1600" dirty="0"/>
          </a:p>
        </p:txBody>
      </p:sp>
      <p:sp>
        <p:nvSpPr>
          <p:cNvPr id="14" name="Text 12"/>
          <p:cNvSpPr/>
          <p:nvPr/>
        </p:nvSpPr>
        <p:spPr>
          <a:xfrm>
            <a:off x="685800" y="4425696"/>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Grover のアルゴリズムでも探索は √n 回に減るだけなので、共通鍵は鍵長で対処できる。ハッシュも出力長を延ばせばよい。</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影響は公開鍵暗号に集中している。RSA と楕円曲線暗号は、現在の公開鍵暗号のほぼ全部である。</a:t>
            </a:r>
            <a:endParaRPr lang="en-US" sz="1300" dirty="0"/>
          </a:p>
        </p:txBody>
      </p:sp>
      <p:sp>
        <p:nvSpPr>
          <p:cNvPr id="15" name="Text 13"/>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実用的な量子計算機は2026年時点で存在しない。それでも移行は急がれている。</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耐量子</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なぜ、いま移行するのか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13</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攻撃が今日から成立するからである。</a:t>
            </a:r>
            <a:endParaRPr lang="en-US" sz="1500" dirty="0"/>
          </a:p>
        </p:txBody>
      </p:sp>
      <p:sp>
        <p:nvSpPr>
          <p:cNvPr id="6" name="Shape 4"/>
          <p:cNvSpPr/>
          <p:nvPr/>
        </p:nvSpPr>
        <p:spPr>
          <a:xfrm>
            <a:off x="685800" y="1883664"/>
            <a:ext cx="5280660" cy="1554480"/>
          </a:xfrm>
          <a:prstGeom prst="roundRect">
            <a:avLst>
              <a:gd name="adj" fmla="val 3529"/>
            </a:avLst>
          </a:prstGeom>
          <a:solidFill>
            <a:srgbClr val="D9E6F4"/>
          </a:solidFill>
          <a:ln w="12700">
            <a:solidFill>
              <a:srgbClr val="0B5CAD"/>
            </a:solidFill>
            <a:prstDash val="solid"/>
          </a:ln>
        </p:spPr>
      </p:sp>
      <p:sp>
        <p:nvSpPr>
          <p:cNvPr id="7" name="Text 5"/>
          <p:cNvSpPr/>
          <p:nvPr/>
        </p:nvSpPr>
        <p:spPr>
          <a:xfrm>
            <a:off x="868680" y="2020824"/>
            <a:ext cx="4914900" cy="310896"/>
          </a:xfrm>
          <a:prstGeom prst="rect">
            <a:avLst/>
          </a:prstGeom>
          <a:noFill/>
          <a:ln/>
        </p:spPr>
        <p:txBody>
          <a:bodyPr wrap="square" lIns="0" tIns="0" rIns="0" bIns="0" rtlCol="0" anchor="ctr"/>
          <a:lstStyle/>
          <a:p>
            <a:pPr indent="0" marL="0">
              <a:buNone/>
            </a:pPr>
            <a:r>
              <a:rPr lang="en-US" sz="1400" b="1" dirty="0">
                <a:solidFill>
                  <a:srgbClr val="0B5CAD"/>
                </a:solidFill>
                <a:latin typeface="Yu Gothic" pitchFamily="34" charset="0"/>
                <a:ea typeface="Yu Gothic" pitchFamily="34" charset="-122"/>
                <a:cs typeface="Yu Gothic" pitchFamily="34" charset="-120"/>
              </a:rPr>
              <a:t>いま盗聴して、あとで復号する</a:t>
            </a:r>
            <a:endParaRPr lang="en-US" sz="1400" dirty="0"/>
          </a:p>
        </p:txBody>
      </p:sp>
      <p:sp>
        <p:nvSpPr>
          <p:cNvPr id="8" name="Text 6"/>
          <p:cNvSpPr/>
          <p:nvPr/>
        </p:nvSpPr>
        <p:spPr>
          <a:xfrm>
            <a:off x="868680" y="2368296"/>
            <a:ext cx="491490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通信を保存しておき、量子計算機ができてから復号する。store now, decrypt later という</a:t>
            </a:r>
            <a:endParaRPr lang="en-US" sz="1200" dirty="0"/>
          </a:p>
        </p:txBody>
      </p:sp>
      <p:sp>
        <p:nvSpPr>
          <p:cNvPr id="9" name="Shape 7"/>
          <p:cNvSpPr/>
          <p:nvPr/>
        </p:nvSpPr>
        <p:spPr>
          <a:xfrm>
            <a:off x="6195060" y="1883664"/>
            <a:ext cx="5280660" cy="1554480"/>
          </a:xfrm>
          <a:prstGeom prst="roundRect">
            <a:avLst>
              <a:gd name="adj" fmla="val 3529"/>
            </a:avLst>
          </a:prstGeom>
          <a:solidFill>
            <a:srgbClr val="EEF1F5"/>
          </a:solidFill>
          <a:ln w="12700">
            <a:solidFill>
              <a:srgbClr val="DDE4EC"/>
            </a:solidFill>
            <a:prstDash val="solid"/>
          </a:ln>
        </p:spPr>
      </p:sp>
      <p:sp>
        <p:nvSpPr>
          <p:cNvPr id="10" name="Text 8"/>
          <p:cNvSpPr/>
          <p:nvPr/>
        </p:nvSpPr>
        <p:spPr>
          <a:xfrm>
            <a:off x="6377940" y="2020824"/>
            <a:ext cx="491490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長期の秘密は、すでに危ない</a:t>
            </a:r>
            <a:endParaRPr lang="en-US" sz="1400" dirty="0"/>
          </a:p>
        </p:txBody>
      </p:sp>
      <p:sp>
        <p:nvSpPr>
          <p:cNvPr id="11" name="Text 9"/>
          <p:cNvSpPr/>
          <p:nvPr/>
        </p:nvSpPr>
        <p:spPr>
          <a:xfrm>
            <a:off x="6377940" y="2368296"/>
            <a:ext cx="491490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いま暗号化して送ったものが10年後に読まれる。医療記録や国家機密は、完成を待ってからでは間に合わない</a:t>
            </a:r>
            <a:endParaRPr lang="en-US" sz="1200" dirty="0"/>
          </a:p>
        </p:txBody>
      </p:sp>
      <p:sp>
        <p:nvSpPr>
          <p:cNvPr id="12" name="Shape 10"/>
          <p:cNvSpPr/>
          <p:nvPr/>
        </p:nvSpPr>
        <p:spPr>
          <a:xfrm>
            <a:off x="685800" y="3730752"/>
            <a:ext cx="10789920" cy="786384"/>
          </a:xfrm>
          <a:prstGeom prst="roundRect">
            <a:avLst>
              <a:gd name="adj" fmla="val 6977"/>
            </a:avLst>
          </a:prstGeom>
          <a:solidFill>
            <a:srgbClr val="FFFFFF"/>
          </a:solidFill>
          <a:ln w="19050">
            <a:solidFill>
              <a:srgbClr val="0B5CAD"/>
            </a:solidFill>
            <a:prstDash val="dash"/>
          </a:ln>
        </p:spPr>
      </p:sp>
      <p:sp>
        <p:nvSpPr>
          <p:cNvPr id="13" name="Text 11"/>
          <p:cNvSpPr/>
          <p:nvPr/>
        </p:nvSpPr>
        <p:spPr>
          <a:xfrm>
            <a:off x="914400" y="3858768"/>
            <a:ext cx="10332720" cy="292608"/>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耐量子計算機暗号（PQC）への移行</a:t>
            </a:r>
            <a:endParaRPr lang="en-US" sz="1500" dirty="0"/>
          </a:p>
        </p:txBody>
      </p:sp>
      <p:sp>
        <p:nvSpPr>
          <p:cNvPr id="14" name="Text 12"/>
          <p:cNvSpPr/>
          <p:nvPr/>
        </p:nvSpPr>
        <p:spPr>
          <a:xfrm>
            <a:off x="914400" y="4169664"/>
            <a:ext cx="10332720" cy="292608"/>
          </a:xfrm>
          <a:prstGeom prst="rect">
            <a:avLst/>
          </a:prstGeom>
          <a:noFill/>
          <a:ln/>
        </p:spPr>
        <p:txBody>
          <a:bodyPr wrap="square" lIns="0" tIns="0" rIns="0" bIns="0" rtlCol="0" anchor="ctr"/>
          <a:lstStyle/>
          <a:p>
            <a:pPr indent="0" marL="0">
              <a:buNone/>
            </a:pPr>
            <a:r>
              <a:rPr lang="en-US" sz="1250" dirty="0">
                <a:solidFill>
                  <a:srgbClr val="5F6672"/>
                </a:solidFill>
                <a:latin typeface="Yu Gothic" pitchFamily="34" charset="0"/>
                <a:ea typeface="Yu Gothic" pitchFamily="34" charset="-122"/>
                <a:cs typeface="Yu Gothic" pitchFamily="34" charset="-120"/>
              </a:rPr>
              <a:t>量子計算機でも効率的に解く方法が知られていない問題（格子問題など）に基づく。2024年に NIST が標準を定めた —— 鍵交換の ML-KEM、署名の ML-DSA など。TLS では従来の鍵交換と両方走らせて結果を混ぜる（ハイブリッド）。</a:t>
            </a:r>
            <a:endParaRPr lang="en-US" sz="1250" dirty="0"/>
          </a:p>
        </p:txBody>
      </p:sp>
      <p:sp>
        <p:nvSpPr>
          <p:cNvPr id="15" name="Text 13"/>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NIST の選定は公募と公開解析で行われた。ケルクホフスの原理が、そのまま運用されている例である。</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ハッシュ</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ハッシュ関数</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14</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任意長のデータから固定長の値を作る。一方向性・衝突困難性・雪崩効果を満たす。</a:t>
            </a:r>
            <a:endParaRPr lang="en-US" sz="1500" dirty="0"/>
          </a:p>
        </p:txBody>
      </p:sp>
      <p:sp>
        <p:nvSpPr>
          <p:cNvPr id="6" name="Shape 4"/>
          <p:cNvSpPr/>
          <p:nvPr/>
        </p:nvSpPr>
        <p:spPr>
          <a:xfrm>
            <a:off x="685800" y="1883664"/>
            <a:ext cx="3444240" cy="1371600"/>
          </a:xfrm>
          <a:prstGeom prst="roundRect">
            <a:avLst>
              <a:gd name="adj" fmla="val 4000"/>
            </a:avLst>
          </a:prstGeom>
          <a:solidFill>
            <a:srgbClr val="EEF1F5"/>
          </a:solidFill>
          <a:ln w="12700">
            <a:solidFill>
              <a:srgbClr val="DDE4EC"/>
            </a:solidFill>
            <a:prstDash val="solid"/>
          </a:ln>
        </p:spPr>
      </p:sp>
      <p:sp>
        <p:nvSpPr>
          <p:cNvPr id="7" name="Text 5"/>
          <p:cNvSpPr/>
          <p:nvPr/>
        </p:nvSpPr>
        <p:spPr>
          <a:xfrm>
            <a:off x="868680" y="2020824"/>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改竄の検知</a:t>
            </a:r>
            <a:endParaRPr lang="en-US" sz="1400" dirty="0"/>
          </a:p>
        </p:txBody>
      </p:sp>
      <p:sp>
        <p:nvSpPr>
          <p:cNvPr id="8" name="Text 6"/>
          <p:cNvSpPr/>
          <p:nvPr/>
        </p:nvSpPr>
        <p:spPr>
          <a:xfrm>
            <a:off x="868680" y="2368296"/>
            <a:ext cx="3078480"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データとハッシュ値を別々に持ち、照合する</a:t>
            </a:r>
            <a:endParaRPr lang="en-US" sz="1200" dirty="0"/>
          </a:p>
        </p:txBody>
      </p:sp>
      <p:sp>
        <p:nvSpPr>
          <p:cNvPr id="9" name="Shape 7"/>
          <p:cNvSpPr/>
          <p:nvPr/>
        </p:nvSpPr>
        <p:spPr>
          <a:xfrm>
            <a:off x="4358640" y="1883664"/>
            <a:ext cx="3444240" cy="1371600"/>
          </a:xfrm>
          <a:prstGeom prst="roundRect">
            <a:avLst>
              <a:gd name="adj" fmla="val 4000"/>
            </a:avLst>
          </a:prstGeom>
          <a:solidFill>
            <a:srgbClr val="EEF1F5"/>
          </a:solidFill>
          <a:ln w="12700">
            <a:solidFill>
              <a:srgbClr val="DDE4EC"/>
            </a:solidFill>
            <a:prstDash val="solid"/>
          </a:ln>
        </p:spPr>
      </p:sp>
      <p:sp>
        <p:nvSpPr>
          <p:cNvPr id="10" name="Text 8"/>
          <p:cNvSpPr/>
          <p:nvPr/>
        </p:nvSpPr>
        <p:spPr>
          <a:xfrm>
            <a:off x="4541520" y="2020824"/>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パスワードの保管</a:t>
            </a:r>
            <a:endParaRPr lang="en-US" sz="1400" dirty="0"/>
          </a:p>
        </p:txBody>
      </p:sp>
      <p:sp>
        <p:nvSpPr>
          <p:cNvPr id="11" name="Text 9"/>
          <p:cNvSpPr/>
          <p:nvPr/>
        </p:nvSpPr>
        <p:spPr>
          <a:xfrm>
            <a:off x="4541520" y="2368296"/>
            <a:ext cx="3078480"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パスワードそのものではなくハッシュ値を保存する。漏洩しても元が分からない</a:t>
            </a:r>
            <a:endParaRPr lang="en-US" sz="1200" dirty="0"/>
          </a:p>
        </p:txBody>
      </p:sp>
      <p:sp>
        <p:nvSpPr>
          <p:cNvPr id="12" name="Shape 10"/>
          <p:cNvSpPr/>
          <p:nvPr/>
        </p:nvSpPr>
        <p:spPr>
          <a:xfrm>
            <a:off x="8031480" y="1883664"/>
            <a:ext cx="3444240" cy="1371600"/>
          </a:xfrm>
          <a:prstGeom prst="roundRect">
            <a:avLst>
              <a:gd name="adj" fmla="val 4000"/>
            </a:avLst>
          </a:prstGeom>
          <a:solidFill>
            <a:srgbClr val="EEF1F5"/>
          </a:solidFill>
          <a:ln w="12700">
            <a:solidFill>
              <a:srgbClr val="DDE4EC"/>
            </a:solidFill>
            <a:prstDash val="solid"/>
          </a:ln>
        </p:spPr>
      </p:sp>
      <p:sp>
        <p:nvSpPr>
          <p:cNvPr id="13" name="Text 11"/>
          <p:cNvSpPr/>
          <p:nvPr/>
        </p:nvSpPr>
        <p:spPr>
          <a:xfrm>
            <a:off x="8214360" y="2020824"/>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ディジタル署名</a:t>
            </a:r>
            <a:endParaRPr lang="en-US" sz="1400" dirty="0"/>
          </a:p>
        </p:txBody>
      </p:sp>
      <p:sp>
        <p:nvSpPr>
          <p:cNvPr id="14" name="Text 12"/>
          <p:cNvSpPr/>
          <p:nvPr/>
        </p:nvSpPr>
        <p:spPr>
          <a:xfrm>
            <a:off x="8214360" y="2368296"/>
            <a:ext cx="3078480" cy="73152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次項で扱う</a:t>
            </a:r>
            <a:endParaRPr lang="en-US" sz="1200" dirty="0"/>
          </a:p>
        </p:txBody>
      </p:sp>
      <p:sp>
        <p:nvSpPr>
          <p:cNvPr id="15" name="Shape 13"/>
          <p:cNvSpPr/>
          <p:nvPr/>
        </p:nvSpPr>
        <p:spPr>
          <a:xfrm>
            <a:off x="685800" y="3547872"/>
            <a:ext cx="10789920" cy="786384"/>
          </a:xfrm>
          <a:prstGeom prst="roundRect">
            <a:avLst>
              <a:gd name="adj" fmla="val 6977"/>
            </a:avLst>
          </a:prstGeom>
          <a:solidFill>
            <a:srgbClr val="FFFFFF"/>
          </a:solidFill>
          <a:ln w="19050">
            <a:solidFill>
              <a:srgbClr val="0B5CAD"/>
            </a:solidFill>
            <a:prstDash val="dash"/>
          </a:ln>
        </p:spPr>
      </p:sp>
      <p:sp>
        <p:nvSpPr>
          <p:cNvPr id="16" name="Text 14"/>
          <p:cNvSpPr/>
          <p:nvPr/>
        </p:nvSpPr>
        <p:spPr>
          <a:xfrm>
            <a:off x="914400" y="3675888"/>
            <a:ext cx="10332720" cy="292608"/>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パスワードには専用の関数を使う</a:t>
            </a:r>
            <a:endParaRPr lang="en-US" sz="1500" dirty="0"/>
          </a:p>
        </p:txBody>
      </p:sp>
      <p:sp>
        <p:nvSpPr>
          <p:cNvPr id="17" name="Text 15"/>
          <p:cNvSpPr/>
          <p:nvPr/>
        </p:nvSpPr>
        <p:spPr>
          <a:xfrm>
            <a:off x="914400" y="3986784"/>
            <a:ext cx="10332720" cy="292608"/>
          </a:xfrm>
          <a:prstGeom prst="rect">
            <a:avLst/>
          </a:prstGeom>
          <a:noFill/>
          <a:ln/>
        </p:spPr>
        <p:txBody>
          <a:bodyPr wrap="square" lIns="0" tIns="0" rIns="0" bIns="0" rtlCol="0" anchor="ctr"/>
          <a:lstStyle/>
          <a:p>
            <a:pPr indent="0" marL="0">
              <a:buNone/>
            </a:pPr>
            <a:r>
              <a:rPr lang="en-US" sz="1250" dirty="0">
                <a:solidFill>
                  <a:srgbClr val="5F6672"/>
                </a:solidFill>
                <a:latin typeface="Yu Gothic" pitchFamily="34" charset="0"/>
                <a:ea typeface="Yu Gothic" pitchFamily="34" charset="-122"/>
                <a:cs typeface="Yu Gothic" pitchFamily="34" charset="-120"/>
              </a:rPr>
              <a:t>SHA-256 は高速に設計されているため総当たり攻撃も速い。パスワードには意図的に遅い bcrypt、scrypt、Argon2 を使い、利用者ごとに異なるソルトを混ぜる。</a:t>
            </a:r>
            <a:endParaRPr lang="en-US" sz="1250" dirty="0"/>
          </a:p>
        </p:txBody>
      </p:sp>
      <p:sp>
        <p:nvSpPr>
          <p:cNvPr id="18" name="Text 16"/>
          <p:cNvSpPr/>
          <p:nvPr/>
        </p:nvSpPr>
        <p:spPr>
          <a:xfrm>
            <a:off x="685800" y="56235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使ってよい：SHA-256、SHA-3。使ってはならない：MD5、SHA-1（衝突が実際に発見されている）。</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12.2　署名</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ディジタル署名</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15</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公開鍵暗号を逆向きに使う。秘密鍵で処理したものは、対応する公開鍵で検証できる。</a:t>
            </a:r>
            <a:endParaRPr lang="en-US" sz="1500" dirty="0"/>
          </a:p>
        </p:txBody>
      </p:sp>
      <p:pic>
        <p:nvPicPr>
          <p:cNvPr id="6" name="Image 0" descr="/Users/koide/Documents/Playground/CompOutline/slides/png/fig-12-02.png">    </p:cNvPr>
          <p:cNvPicPr>
            <a:picLocks noChangeAspect="1"/>
          </p:cNvPicPr>
          <p:nvPr/>
        </p:nvPicPr>
        <p:blipFill>
          <a:blip r:embed="rId1"/>
          <a:stretch>
            <a:fillRect/>
          </a:stretch>
        </p:blipFill>
        <p:spPr>
          <a:xfrm>
            <a:off x="3148300" y="1883664"/>
            <a:ext cx="5864919" cy="36027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12.3</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証明書と信頼の連鎖</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その公開鍵は、本当にその相手のものか</a:t>
            </a:r>
            <a:endParaRPr lang="en-US" sz="1700" dirty="0"/>
          </a:p>
        </p:txBody>
      </p:sp>
      <p:sp>
        <p:nvSpPr>
          <p:cNvPr id="5" name="Shape 3"/>
          <p:cNvSpPr/>
          <p:nvPr/>
        </p:nvSpPr>
        <p:spPr>
          <a:xfrm>
            <a:off x="548640" y="585216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FFFFFF">
              <a:alpha val="12000"/>
            </a:srgbClr>
          </a:solidFill>
          <a:ln w="7620">
            <a:solidFill>
              <a:srgbClr val="6AB0F3">
                <a:alpha val="4500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12.3　証明書</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残った問題：中間者攻撃</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17</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公開鍵暗号で鍵配送問題は解けた。しかし、攻撃者が「これが銀行の公開鍵です」と偽の鍵を渡せば、利用者はそれで暗号化してしまう。</a:t>
            </a:r>
            <a:endParaRPr lang="en-US" sz="1500" dirty="0"/>
          </a:p>
        </p:txBody>
      </p:sp>
      <p:sp>
        <p:nvSpPr>
          <p:cNvPr id="6" name="Shape 4"/>
          <p:cNvSpPr/>
          <p:nvPr/>
        </p:nvSpPr>
        <p:spPr>
          <a:xfrm>
            <a:off x="685800" y="2130552"/>
            <a:ext cx="10789920" cy="713232"/>
          </a:xfrm>
          <a:prstGeom prst="roundRect">
            <a:avLst>
              <a:gd name="adj" fmla="val 7692"/>
            </a:avLst>
          </a:prstGeom>
          <a:solidFill>
            <a:srgbClr val="D9E6F4"/>
          </a:solidFill>
          <a:ln w="19050">
            <a:solidFill>
              <a:srgbClr val="0B5CAD"/>
            </a:solidFill>
            <a:prstDash val="solid"/>
          </a:ln>
        </p:spPr>
      </p:sp>
      <p:sp>
        <p:nvSpPr>
          <p:cNvPr id="7" name="Text 5"/>
          <p:cNvSpPr/>
          <p:nvPr/>
        </p:nvSpPr>
        <p:spPr>
          <a:xfrm>
            <a:off x="914400" y="2286000"/>
            <a:ext cx="10332720" cy="402336"/>
          </a:xfrm>
          <a:prstGeom prst="rect">
            <a:avLst/>
          </a:prstGeom>
          <a:noFill/>
          <a:ln/>
        </p:spPr>
        <p:txBody>
          <a:bodyPr wrap="square" lIns="0" tIns="0" rIns="0" bIns="0" rtlCol="0" anchor="ctr"/>
          <a:lstStyle/>
          <a:p>
            <a:pPr indent="0" marL="0">
              <a:buNone/>
            </a:pPr>
            <a:r>
              <a:rPr lang="en-US" sz="1700" b="1" dirty="0">
                <a:solidFill>
                  <a:srgbClr val="0B5CAD"/>
                </a:solidFill>
                <a:latin typeface="Yu Gothic" pitchFamily="34" charset="0"/>
                <a:ea typeface="Yu Gothic" pitchFamily="34" charset="-122"/>
                <a:cs typeface="Yu Gothic" pitchFamily="34" charset="-120"/>
              </a:rPr>
              <a:t>暗号化していても、暗号化した相手が偽物なら意味がない</a:t>
            </a:r>
            <a:endParaRPr lang="en-US" sz="1700" dirty="0"/>
          </a:p>
        </p:txBody>
      </p:sp>
      <p:sp>
        <p:nvSpPr>
          <p:cNvPr id="8" name="Text 6"/>
          <p:cNvSpPr/>
          <p:nvPr/>
        </p:nvSpPr>
        <p:spPr>
          <a:xfrm>
            <a:off x="1188720" y="3090672"/>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解決策</a:t>
            </a:r>
            <a:endParaRPr lang="en-US" sz="1500" dirty="0"/>
          </a:p>
        </p:txBody>
      </p:sp>
      <p:sp>
        <p:nvSpPr>
          <p:cNvPr id="9" name="Shape 7"/>
          <p:cNvSpPr/>
          <p:nvPr/>
        </p:nvSpPr>
        <p:spPr>
          <a:xfrm>
            <a:off x="5943600" y="3218688"/>
            <a:ext cx="640080" cy="201168"/>
          </a:xfrm>
          <a:prstGeom prst="rightArrow">
            <a:avLst/>
          </a:prstGeom>
          <a:solidFill>
            <a:srgbClr val="0B5CAD"/>
          </a:solidFill>
          <a:ln/>
        </p:spPr>
      </p:sp>
      <p:sp>
        <p:nvSpPr>
          <p:cNvPr id="10" name="Text 8"/>
          <p:cNvSpPr/>
          <p:nvPr/>
        </p:nvSpPr>
        <p:spPr>
          <a:xfrm>
            <a:off x="6766560" y="3090672"/>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信頼できる第三者に保証してもらう</a:t>
            </a:r>
            <a:endParaRPr lang="en-US" sz="1600" dirty="0"/>
          </a:p>
        </p:txBody>
      </p:sp>
      <p:sp>
        <p:nvSpPr>
          <p:cNvPr id="11" name="Text 9"/>
          <p:cNvSpPr/>
          <p:nvPr/>
        </p:nvSpPr>
        <p:spPr>
          <a:xfrm>
            <a:off x="1188720" y="3712464"/>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公開鍵証明書</a:t>
            </a:r>
            <a:endParaRPr lang="en-US" sz="1500" dirty="0"/>
          </a:p>
        </p:txBody>
      </p:sp>
      <p:sp>
        <p:nvSpPr>
          <p:cNvPr id="12" name="Shape 10"/>
          <p:cNvSpPr/>
          <p:nvPr/>
        </p:nvSpPr>
        <p:spPr>
          <a:xfrm>
            <a:off x="5943600" y="3840480"/>
            <a:ext cx="640080" cy="201168"/>
          </a:xfrm>
          <a:prstGeom prst="rightArrow">
            <a:avLst/>
          </a:prstGeom>
          <a:solidFill>
            <a:srgbClr val="0B5CAD"/>
          </a:solidFill>
          <a:ln/>
        </p:spPr>
      </p:sp>
      <p:sp>
        <p:nvSpPr>
          <p:cNvPr id="13" name="Text 11"/>
          <p:cNvSpPr/>
          <p:nvPr/>
        </p:nvSpPr>
        <p:spPr>
          <a:xfrm>
            <a:off x="6766560" y="3712464"/>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主体者名・公開鍵・発行者・有効期間・用途</a:t>
            </a:r>
            <a:endParaRPr lang="en-US" sz="1600" dirty="0"/>
          </a:p>
        </p:txBody>
      </p:sp>
      <p:sp>
        <p:nvSpPr>
          <p:cNvPr id="14" name="Text 12"/>
          <p:cNvSpPr/>
          <p:nvPr/>
        </p:nvSpPr>
        <p:spPr>
          <a:xfrm>
            <a:off x="1188720" y="4334256"/>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決め手</a:t>
            </a:r>
            <a:endParaRPr lang="en-US" sz="1500" dirty="0"/>
          </a:p>
        </p:txBody>
      </p:sp>
      <p:sp>
        <p:nvSpPr>
          <p:cNvPr id="15" name="Shape 13"/>
          <p:cNvSpPr/>
          <p:nvPr/>
        </p:nvSpPr>
        <p:spPr>
          <a:xfrm>
            <a:off x="5943600" y="4462272"/>
            <a:ext cx="640080" cy="201168"/>
          </a:xfrm>
          <a:prstGeom prst="rightArrow">
            <a:avLst/>
          </a:prstGeom>
          <a:solidFill>
            <a:srgbClr val="0B5CAD"/>
          </a:solidFill>
          <a:ln/>
        </p:spPr>
      </p:sp>
      <p:sp>
        <p:nvSpPr>
          <p:cNvPr id="16" name="Text 14"/>
          <p:cNvSpPr/>
          <p:nvPr/>
        </p:nvSpPr>
        <p:spPr>
          <a:xfrm>
            <a:off x="6766560" y="4334256"/>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発行者の署名。1ビットでも書き換えれば検証が失敗する</a:t>
            </a:r>
            <a:endParaRPr lang="en-US" sz="1600" dirty="0"/>
          </a:p>
        </p:txBody>
      </p:sp>
      <p:sp>
        <p:nvSpPr>
          <p:cNvPr id="17" name="Text 15"/>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第10回で「TLS の3つの保証のうち真正性が土台」と述べたのは、このことである。</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12.3　証明書</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信頼の連鎖</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18</a:t>
            </a:r>
            <a:endParaRPr lang="en-US" sz="1000" dirty="0"/>
          </a:p>
        </p:txBody>
      </p:sp>
      <p:pic>
        <p:nvPicPr>
          <p:cNvPr id="5" name="Image 0" descr="/Users/koide/Documents/Playground/CompOutline/slides/png/fig-12-03.png">    </p:cNvPr>
          <p:cNvPicPr>
            <a:picLocks noChangeAspect="1"/>
          </p:cNvPicPr>
          <p:nvPr/>
        </p:nvPicPr>
        <p:blipFill>
          <a:blip r:embed="rId1"/>
          <a:stretch>
            <a:fillRect/>
          </a:stretch>
        </p:blipFill>
        <p:spPr>
          <a:xfrm>
            <a:off x="2651760" y="1371600"/>
            <a:ext cx="6858000" cy="4114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12.3　証明書</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この仕組みの弱点</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19</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ブラウザには世界中の数百の CA が登録されており、そのどれか1つが不正な証明書を発行すれば、任意のサイトになりすませる。</a:t>
            </a:r>
            <a:endParaRPr lang="en-US" sz="1500" dirty="0"/>
          </a:p>
        </p:txBody>
      </p:sp>
      <p:sp>
        <p:nvSpPr>
          <p:cNvPr id="6" name="Shape 4"/>
          <p:cNvSpPr/>
          <p:nvPr/>
        </p:nvSpPr>
        <p:spPr>
          <a:xfrm>
            <a:off x="685800" y="2084832"/>
            <a:ext cx="3444240" cy="1645920"/>
          </a:xfrm>
          <a:prstGeom prst="roundRect">
            <a:avLst>
              <a:gd name="adj" fmla="val 3333"/>
            </a:avLst>
          </a:prstGeom>
          <a:solidFill>
            <a:srgbClr val="EEF1F5"/>
          </a:solidFill>
          <a:ln w="12700">
            <a:solidFill>
              <a:srgbClr val="DDE4EC"/>
            </a:solidFill>
            <a:prstDash val="solid"/>
          </a:ln>
        </p:spPr>
      </p:sp>
      <p:sp>
        <p:nvSpPr>
          <p:cNvPr id="7" name="Text 5"/>
          <p:cNvSpPr/>
          <p:nvPr/>
        </p:nvSpPr>
        <p:spPr>
          <a:xfrm>
            <a:off x="86868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実際に起きた事例</a:t>
            </a:r>
            <a:endParaRPr lang="en-US" sz="1400" dirty="0"/>
          </a:p>
        </p:txBody>
      </p:sp>
      <p:sp>
        <p:nvSpPr>
          <p:cNvPr id="8" name="Text 6"/>
          <p:cNvSpPr/>
          <p:nvPr/>
        </p:nvSpPr>
        <p:spPr>
          <a:xfrm>
            <a:off x="868680" y="2569464"/>
            <a:ext cx="3078480" cy="10058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2011年、オランダの CA が侵害され Google などの偽証明書が発行された。その CA は信頼リストから削除され事業を停止した</a:t>
            </a:r>
            <a:endParaRPr lang="en-US" sz="1200" dirty="0"/>
          </a:p>
        </p:txBody>
      </p:sp>
      <p:sp>
        <p:nvSpPr>
          <p:cNvPr id="9" name="Shape 7"/>
          <p:cNvSpPr/>
          <p:nvPr/>
        </p:nvSpPr>
        <p:spPr>
          <a:xfrm>
            <a:off x="4358640" y="2084832"/>
            <a:ext cx="3444240" cy="1645920"/>
          </a:xfrm>
          <a:prstGeom prst="roundRect">
            <a:avLst>
              <a:gd name="adj" fmla="val 3333"/>
            </a:avLst>
          </a:prstGeom>
          <a:solidFill>
            <a:srgbClr val="EEF1F5"/>
          </a:solidFill>
          <a:ln w="12700">
            <a:solidFill>
              <a:srgbClr val="DDE4EC"/>
            </a:solidFill>
            <a:prstDash val="solid"/>
          </a:ln>
        </p:spPr>
      </p:sp>
      <p:sp>
        <p:nvSpPr>
          <p:cNvPr id="10" name="Text 8"/>
          <p:cNvSpPr/>
          <p:nvPr/>
        </p:nvSpPr>
        <p:spPr>
          <a:xfrm>
            <a:off x="454152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証明書の透明性</a:t>
            </a:r>
            <a:endParaRPr lang="en-US" sz="1400" dirty="0"/>
          </a:p>
        </p:txBody>
      </p:sp>
      <p:sp>
        <p:nvSpPr>
          <p:cNvPr id="11" name="Text 9"/>
          <p:cNvSpPr/>
          <p:nvPr/>
        </p:nvSpPr>
        <p:spPr>
          <a:xfrm>
            <a:off x="4541520" y="2569464"/>
            <a:ext cx="3078480" cy="10058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発行された証明書をすべて公開ログに記録する。ドメイン所有者が身に覚えのない証明書を検知できる</a:t>
            </a:r>
            <a:endParaRPr lang="en-US" sz="1200" dirty="0"/>
          </a:p>
        </p:txBody>
      </p:sp>
      <p:sp>
        <p:nvSpPr>
          <p:cNvPr id="12" name="Shape 10"/>
          <p:cNvSpPr/>
          <p:nvPr/>
        </p:nvSpPr>
        <p:spPr>
          <a:xfrm>
            <a:off x="8031480" y="2084832"/>
            <a:ext cx="3444240" cy="1645920"/>
          </a:xfrm>
          <a:prstGeom prst="roundRect">
            <a:avLst>
              <a:gd name="adj" fmla="val 3333"/>
            </a:avLst>
          </a:prstGeom>
          <a:solidFill>
            <a:srgbClr val="EEF1F5"/>
          </a:solidFill>
          <a:ln w="12700">
            <a:solidFill>
              <a:srgbClr val="DDE4EC"/>
            </a:solidFill>
            <a:prstDash val="solid"/>
          </a:ln>
        </p:spPr>
      </p:sp>
      <p:sp>
        <p:nvSpPr>
          <p:cNvPr id="13" name="Text 11"/>
          <p:cNvSpPr/>
          <p:nvPr/>
        </p:nvSpPr>
        <p:spPr>
          <a:xfrm>
            <a:off x="821436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有効期間の短縮</a:t>
            </a:r>
            <a:endParaRPr lang="en-US" sz="1400" dirty="0"/>
          </a:p>
        </p:txBody>
      </p:sp>
      <p:sp>
        <p:nvSpPr>
          <p:cNvPr id="14" name="Text 12"/>
          <p:cNvSpPr/>
          <p:nvPr/>
        </p:nvSpPr>
        <p:spPr>
          <a:xfrm>
            <a:off x="8214360" y="2569464"/>
            <a:ext cx="3078480" cy="100584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長くて数ヶ月。失効の仕組みが働かなくても、被害の期間が限られる</a:t>
            </a:r>
            <a:endParaRPr lang="en-US" sz="1200" dirty="0"/>
          </a:p>
        </p:txBody>
      </p:sp>
      <p:sp>
        <p:nvSpPr>
          <p:cNvPr id="15" name="Text 13"/>
          <p:cNvSpPr/>
          <p:nvPr/>
        </p:nvSpPr>
        <p:spPr>
          <a:xfrm>
            <a:off x="685800" y="4709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ブラウザの警告は、名前の不一致・期限切れ・信頼された CA に到達できない・失効のいずれか。どれも中間者攻撃時に起きる現象と区別がつかない。</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12.4</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認証と認可</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あなたは誰か、と、何をしてよいか</a:t>
            </a:r>
            <a:endParaRPr lang="en-US" sz="1700" dirty="0"/>
          </a:p>
        </p:txBody>
      </p:sp>
      <p:sp>
        <p:nvSpPr>
          <p:cNvPr id="5" name="Shape 3"/>
          <p:cNvSpPr/>
          <p:nvPr/>
        </p:nvSpPr>
        <p:spPr>
          <a:xfrm>
            <a:off x="548640" y="585216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FFFFFF">
              <a:alpha val="12000"/>
            </a:srgbClr>
          </a:solidFill>
          <a:ln w="7620">
            <a:solidFill>
              <a:srgbClr val="6AB0F3">
                <a:alpha val="4500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12.4　認証と認可</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まったく別の概念である</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21</a:t>
            </a:r>
            <a:endParaRPr lang="en-US" sz="1000" dirty="0"/>
          </a:p>
        </p:txBody>
      </p:sp>
      <p:sp>
        <p:nvSpPr>
          <p:cNvPr id="5" name="Text 3"/>
          <p:cNvSpPr/>
          <p:nvPr/>
        </p:nvSpPr>
        <p:spPr>
          <a:xfrm>
            <a:off x="68580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認証 (Authentication)</a:t>
            </a:r>
            <a:endParaRPr lang="en-US" sz="1500" dirty="0"/>
          </a:p>
        </p:txBody>
      </p:sp>
      <p:sp>
        <p:nvSpPr>
          <p:cNvPr id="6" name="Text 4"/>
          <p:cNvSpPr/>
          <p:nvPr/>
        </p:nvSpPr>
        <p:spPr>
          <a:xfrm>
            <a:off x="685800" y="1883664"/>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問い：あなたは誰か</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例：ログイン</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順序：先</a:t>
            </a:r>
            <a:endParaRPr lang="en-US" sz="1300" dirty="0"/>
          </a:p>
        </p:txBody>
      </p:sp>
      <p:sp>
        <p:nvSpPr>
          <p:cNvPr id="7" name="Text 5"/>
          <p:cNvSpPr/>
          <p:nvPr/>
        </p:nvSpPr>
        <p:spPr>
          <a:xfrm>
            <a:off x="6309360" y="1481328"/>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認可 (Authorization)</a:t>
            </a:r>
            <a:endParaRPr lang="en-US" sz="1500" dirty="0"/>
          </a:p>
        </p:txBody>
      </p:sp>
      <p:sp>
        <p:nvSpPr>
          <p:cNvPr id="8" name="Text 6"/>
          <p:cNvSpPr/>
          <p:nvPr/>
        </p:nvSpPr>
        <p:spPr>
          <a:xfrm>
            <a:off x="6309360" y="1883664"/>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問い：あなたは何をしてよいか</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例：ファイルの読み書き権限</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順序：後</a:t>
            </a:r>
            <a:endParaRPr lang="en-US" sz="1300" dirty="0"/>
          </a:p>
        </p:txBody>
      </p:sp>
      <p:sp>
        <p:nvSpPr>
          <p:cNvPr id="9" name="Text 7"/>
          <p:cNvSpPr/>
          <p:nvPr/>
        </p:nvSpPr>
        <p:spPr>
          <a:xfrm>
            <a:off x="685800" y="49377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実際の事故の多くは認可の不備である。ログイン機能は作られているが「URL の ID を書き換えれば他人のデータが見える」という欠陥は繰り返し発見されている。</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12.4　認証</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認証の3要素と、パスワードの限界</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22</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多要素認証は「異なる要素」を2つ以上組み合わせる。「パスワード＋秘密の質問」は両方とも知識なので多要素ではない。</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883664"/>
          <a:ext cx="10789920" cy="914400"/>
        </p:xfrm>
        <a:graphic>
          <a:graphicData uri="http://schemas.openxmlformats.org/drawingml/2006/table">
            <a:tbl>
              <a:tblPr/>
              <a:tblGrid>
                <a:gridCol w="3657600"/>
                <a:gridCol w="2743200"/>
                <a:gridCol w="4389120"/>
              </a:tblGrid>
              <a:tr h="420624">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内容</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300" b="1" dirty="0">
                          <a:solidFill>
                            <a:srgbClr val="000000"/>
                          </a:solidFill>
                          <a:latin typeface="Yu Gothic" pitchFamily="34" charset="0"/>
                          <a:ea typeface="Yu Gothic" pitchFamily="34" charset="-122"/>
                          <a:cs typeface="Yu Gothic" pitchFamily="34" charset="-120"/>
                        </a:rPr>
                        <a:t>例</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知識 (something you know)</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知っていること</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パスワード、暗証番号</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所持 (something you have)</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持っているもの</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スマートフォン、ICカード、セキュリティキー</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生体 (something you are)</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身体的特徴</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Yu Gothic" pitchFamily="34" charset="0"/>
                          <a:ea typeface="Yu Gothic" pitchFamily="34" charset="-122"/>
                          <a:cs typeface="Yu Gothic" pitchFamily="34" charset="-120"/>
                        </a:rPr>
                        <a:t>指紋、顔、虹彩</a:t>
                      </a:r>
                      <a:endParaRPr lang="en-US" sz="130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7" name="Shape 4"/>
          <p:cNvSpPr/>
          <p:nvPr/>
        </p:nvSpPr>
        <p:spPr>
          <a:xfrm>
            <a:off x="685800" y="3794760"/>
            <a:ext cx="10789920" cy="658368"/>
          </a:xfrm>
          <a:prstGeom prst="roundRect">
            <a:avLst>
              <a:gd name="adj" fmla="val 8333"/>
            </a:avLst>
          </a:prstGeom>
          <a:solidFill>
            <a:srgbClr val="D9E6F4"/>
          </a:solidFill>
          <a:ln w="19050">
            <a:solidFill>
              <a:srgbClr val="0B5CAD"/>
            </a:solidFill>
            <a:prstDash val="solid"/>
          </a:ln>
        </p:spPr>
      </p:sp>
      <p:sp>
        <p:nvSpPr>
          <p:cNvPr id="8" name="Text 5"/>
          <p:cNvSpPr/>
          <p:nvPr/>
        </p:nvSpPr>
        <p:spPr>
          <a:xfrm>
            <a:off x="914400" y="3941064"/>
            <a:ext cx="10332720" cy="365760"/>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パスワードは、覚えられる複雑さに限度があり、使い回され、フィッシングに弱い</a:t>
            </a:r>
            <a:endParaRPr lang="en-US" sz="1500" dirty="0"/>
          </a:p>
        </p:txBody>
      </p:sp>
      <p:sp>
        <p:nvSpPr>
          <p:cNvPr id="9" name="Text 6"/>
          <p:cNvSpPr/>
          <p:nvPr/>
        </p:nvSpPr>
        <p:spPr>
          <a:xfrm>
            <a:off x="685800" y="4617720"/>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SMS の確認コードもフィッシングを完全には防げない。偽サイトが利用者からコードを聞き出し、</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即座に本物のサイトに入力すれば通ってしまう。</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12.4　パスキー</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パスキー（FIDO2 / WebAuthn）</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23</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端末が鍵ペアを生成し、公開鍵だけをサーバに登録する。認証時はサーバのチャレンジに秘密鍵で署名して返す。秘密鍵は端末から出ない。</a:t>
            </a:r>
            <a:endParaRPr lang="en-US" sz="1500" dirty="0"/>
          </a:p>
        </p:txBody>
      </p:sp>
      <p:sp>
        <p:nvSpPr>
          <p:cNvPr id="6" name="Shape 4"/>
          <p:cNvSpPr/>
          <p:nvPr/>
        </p:nvSpPr>
        <p:spPr>
          <a:xfrm>
            <a:off x="685800" y="2130552"/>
            <a:ext cx="10789920" cy="713232"/>
          </a:xfrm>
          <a:prstGeom prst="roundRect">
            <a:avLst>
              <a:gd name="adj" fmla="val 7692"/>
            </a:avLst>
          </a:prstGeom>
          <a:solidFill>
            <a:srgbClr val="D9E6F4"/>
          </a:solidFill>
          <a:ln w="19050">
            <a:solidFill>
              <a:srgbClr val="0B5CAD"/>
            </a:solidFill>
            <a:prstDash val="solid"/>
          </a:ln>
        </p:spPr>
      </p:sp>
      <p:sp>
        <p:nvSpPr>
          <p:cNvPr id="7" name="Text 5"/>
          <p:cNvSpPr/>
          <p:nvPr/>
        </p:nvSpPr>
        <p:spPr>
          <a:xfrm>
            <a:off x="914400" y="2286000"/>
            <a:ext cx="10332720" cy="402336"/>
          </a:xfrm>
          <a:prstGeom prst="rect">
            <a:avLst/>
          </a:prstGeom>
          <a:noFill/>
          <a:ln/>
        </p:spPr>
        <p:txBody>
          <a:bodyPr wrap="square" lIns="0" tIns="0" rIns="0" bIns="0" rtlCol="0" anchor="ctr"/>
          <a:lstStyle/>
          <a:p>
            <a:pPr indent="0" marL="0">
              <a:buNone/>
            </a:pPr>
            <a:r>
              <a:rPr lang="en-US" sz="1700" b="1" dirty="0">
                <a:solidFill>
                  <a:srgbClr val="0B5CAD"/>
                </a:solidFill>
                <a:latin typeface="Yu Gothic" pitchFamily="34" charset="0"/>
                <a:ea typeface="Yu Gothic" pitchFamily="34" charset="-122"/>
                <a:cs typeface="Yu Gothic" pitchFamily="34" charset="-120"/>
              </a:rPr>
              <a:t>署名の対象にアクセス先のドメイン名が含まれている</a:t>
            </a:r>
            <a:endParaRPr lang="en-US" sz="1700" dirty="0"/>
          </a:p>
        </p:txBody>
      </p:sp>
      <p:sp>
        <p:nvSpPr>
          <p:cNvPr id="8" name="Text 6"/>
          <p:cNvSpPr/>
          <p:nvPr/>
        </p:nvSpPr>
        <p:spPr>
          <a:xfrm>
            <a:off x="1188720" y="3090672"/>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偽サイト examp1e.com からの要求</a:t>
            </a:r>
            <a:endParaRPr lang="en-US" sz="1500" dirty="0"/>
          </a:p>
        </p:txBody>
      </p:sp>
      <p:sp>
        <p:nvSpPr>
          <p:cNvPr id="9" name="Shape 7"/>
          <p:cNvSpPr/>
          <p:nvPr/>
        </p:nvSpPr>
        <p:spPr>
          <a:xfrm>
            <a:off x="5943600" y="3218688"/>
            <a:ext cx="640080" cy="201168"/>
          </a:xfrm>
          <a:prstGeom prst="rightArrow">
            <a:avLst/>
          </a:prstGeom>
          <a:solidFill>
            <a:srgbClr val="0B5CAD"/>
          </a:solidFill>
          <a:ln/>
        </p:spPr>
      </p:sp>
      <p:sp>
        <p:nvSpPr>
          <p:cNvPr id="10" name="Text 8"/>
          <p:cNvSpPr/>
          <p:nvPr/>
        </p:nvSpPr>
        <p:spPr>
          <a:xfrm>
            <a:off x="6766560" y="3090672"/>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端末は署名しない</a:t>
            </a:r>
            <a:endParaRPr lang="en-US" sz="1600" dirty="0"/>
          </a:p>
        </p:txBody>
      </p:sp>
      <p:sp>
        <p:nvSpPr>
          <p:cNvPr id="11" name="Text 9"/>
          <p:cNvSpPr/>
          <p:nvPr/>
        </p:nvSpPr>
        <p:spPr>
          <a:xfrm>
            <a:off x="1188720" y="3712464"/>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利用者が騙されても</a:t>
            </a:r>
            <a:endParaRPr lang="en-US" sz="1500" dirty="0"/>
          </a:p>
        </p:txBody>
      </p:sp>
      <p:sp>
        <p:nvSpPr>
          <p:cNvPr id="12" name="Shape 10"/>
          <p:cNvSpPr/>
          <p:nvPr/>
        </p:nvSpPr>
        <p:spPr>
          <a:xfrm>
            <a:off x="5943600" y="3840480"/>
            <a:ext cx="640080" cy="201168"/>
          </a:xfrm>
          <a:prstGeom prst="rightArrow">
            <a:avLst/>
          </a:prstGeom>
          <a:solidFill>
            <a:srgbClr val="0B5CAD"/>
          </a:solidFill>
          <a:ln/>
        </p:spPr>
      </p:sp>
      <p:sp>
        <p:nvSpPr>
          <p:cNvPr id="13" name="Text 11"/>
          <p:cNvSpPr/>
          <p:nvPr/>
        </p:nvSpPr>
        <p:spPr>
          <a:xfrm>
            <a:off x="6766560" y="3712464"/>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端末が騙されない</a:t>
            </a:r>
            <a:endParaRPr lang="en-US" sz="1600" dirty="0"/>
          </a:p>
        </p:txBody>
      </p:sp>
      <p:sp>
        <p:nvSpPr>
          <p:cNvPr id="14" name="Text 12"/>
          <p:cNvSpPr/>
          <p:nvPr/>
        </p:nvSpPr>
        <p:spPr>
          <a:xfrm>
            <a:off x="1188720" y="4334256"/>
            <a:ext cx="4572000" cy="457200"/>
          </a:xfrm>
          <a:prstGeom prst="rect">
            <a:avLst/>
          </a:prstGeom>
          <a:noFill/>
          <a:ln/>
        </p:spPr>
        <p:txBody>
          <a:bodyPr wrap="square" lIns="0" tIns="0" rIns="0" bIns="0" rtlCol="0" anchor="ctr"/>
          <a:lstStyle/>
          <a:p>
            <a:pPr algn="r" indent="0" marL="0">
              <a:buNone/>
            </a:pPr>
            <a:r>
              <a:rPr lang="en-US" sz="1500" dirty="0">
                <a:solidFill>
                  <a:srgbClr val="16191D"/>
                </a:solidFill>
                <a:latin typeface="Yu Gothic" pitchFamily="34" charset="0"/>
                <a:ea typeface="Yu Gothic" pitchFamily="34" charset="-122"/>
                <a:cs typeface="Yu Gothic" pitchFamily="34" charset="-120"/>
              </a:rPr>
              <a:t>サーバが侵害されても</a:t>
            </a:r>
            <a:endParaRPr lang="en-US" sz="1500" dirty="0"/>
          </a:p>
        </p:txBody>
      </p:sp>
      <p:sp>
        <p:nvSpPr>
          <p:cNvPr id="15" name="Shape 13"/>
          <p:cNvSpPr/>
          <p:nvPr/>
        </p:nvSpPr>
        <p:spPr>
          <a:xfrm>
            <a:off x="5943600" y="4462272"/>
            <a:ext cx="640080" cy="201168"/>
          </a:xfrm>
          <a:prstGeom prst="rightArrow">
            <a:avLst/>
          </a:prstGeom>
          <a:solidFill>
            <a:srgbClr val="0B5CAD"/>
          </a:solidFill>
          <a:ln/>
        </p:spPr>
      </p:sp>
      <p:sp>
        <p:nvSpPr>
          <p:cNvPr id="16" name="Text 14"/>
          <p:cNvSpPr/>
          <p:nvPr/>
        </p:nvSpPr>
        <p:spPr>
          <a:xfrm>
            <a:off x="6766560" y="4334256"/>
            <a:ext cx="4206240" cy="457200"/>
          </a:xfrm>
          <a:prstGeom prst="rect">
            <a:avLst/>
          </a:prstGeom>
          <a:noFill/>
          <a:ln/>
        </p:spPr>
        <p:txBody>
          <a:bodyPr wrap="square" lIns="0" tIns="0" rIns="0" bIns="0" rtlCol="0" anchor="ctr"/>
          <a:lstStyle/>
          <a:p>
            <a:pPr indent="0" marL="0">
              <a:buNone/>
            </a:pPr>
            <a:r>
              <a:rPr lang="en-US" sz="1600" b="1" dirty="0">
                <a:solidFill>
                  <a:srgbClr val="0B5CAD"/>
                </a:solidFill>
                <a:latin typeface="Yu Gothic" pitchFamily="34" charset="0"/>
                <a:ea typeface="Yu Gothic" pitchFamily="34" charset="-122"/>
                <a:cs typeface="Yu Gothic" pitchFamily="34" charset="-120"/>
              </a:rPr>
              <a:t>公開鍵しかないので認証情報が漏れない</a:t>
            </a:r>
            <a:endParaRPr lang="en-US" sz="1600" dirty="0"/>
          </a:p>
        </p:txBody>
      </p:sp>
      <p:sp>
        <p:nvSpPr>
          <p:cNvPr id="17" name="Text 15"/>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秘密鍵の使用には端末のロック解除（生体認証や PIN）が要求される。これで「所持」と「知識／生体」の多要素が自然に成立する。</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12.4　認証連携</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OAuth 2.0 と OpenID Connect</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24</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利用するサービスが増えると、それぞれで別々にアカウントを管理するのは破綻する。</a:t>
            </a:r>
            <a:endParaRPr lang="en-US" sz="1500" dirty="0"/>
          </a:p>
        </p:txBody>
      </p:sp>
      <p:sp>
        <p:nvSpPr>
          <p:cNvPr id="6" name="Text 4"/>
          <p:cNvSpPr/>
          <p:nvPr/>
        </p:nvSpPr>
        <p:spPr>
          <a:xfrm>
            <a:off x="685800" y="1883664"/>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OAuth 2.0 —— 認可</a:t>
            </a:r>
            <a:endParaRPr lang="en-US" sz="1500" dirty="0"/>
          </a:p>
        </p:txBody>
      </p:sp>
      <p:sp>
        <p:nvSpPr>
          <p:cNvPr id="7" name="Text 5"/>
          <p:cNvSpPr/>
          <p:nvPr/>
        </p:nvSpPr>
        <p:spPr>
          <a:xfrm>
            <a:off x="685800" y="2286000"/>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「このアプリに、私のカレンダーの読み取りだけを許可する」</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要点はパスワードを渡さないこと。限定された権限のトークンを渡す。権限を絞れ、期限を設けられ、後から取り消せる。</a:t>
            </a:r>
            <a:endParaRPr lang="en-US" sz="1300" dirty="0"/>
          </a:p>
        </p:txBody>
      </p:sp>
      <p:sp>
        <p:nvSpPr>
          <p:cNvPr id="8" name="Text 6"/>
          <p:cNvSpPr/>
          <p:nvPr/>
        </p:nvSpPr>
        <p:spPr>
          <a:xfrm>
            <a:off x="6309360" y="1883664"/>
            <a:ext cx="5166360" cy="292608"/>
          </a:xfrm>
          <a:prstGeom prst="rect">
            <a:avLst/>
          </a:prstGeom>
          <a:noFill/>
          <a:ln/>
        </p:spPr>
        <p:txBody>
          <a:bodyPr wrap="square" lIns="0" tIns="0" rIns="0" bIns="0" rtlCol="0" anchor="ctr"/>
          <a:lstStyle/>
          <a:p>
            <a:pPr indent="0" marL="0">
              <a:buNone/>
            </a:pPr>
            <a:r>
              <a:rPr lang="en-US" sz="1500" b="1" dirty="0">
                <a:solidFill>
                  <a:srgbClr val="16191D"/>
                </a:solidFill>
                <a:latin typeface="Yu Gothic" pitchFamily="34" charset="0"/>
                <a:ea typeface="Yu Gothic" pitchFamily="34" charset="-122"/>
                <a:cs typeface="Yu Gothic" pitchFamily="34" charset="-120"/>
              </a:rPr>
              <a:t>OpenID Connect —— 認証</a:t>
            </a:r>
            <a:endParaRPr lang="en-US" sz="1500" dirty="0"/>
          </a:p>
        </p:txBody>
      </p:sp>
      <p:sp>
        <p:nvSpPr>
          <p:cNvPr id="9" name="Text 7"/>
          <p:cNvSpPr/>
          <p:nvPr/>
        </p:nvSpPr>
        <p:spPr>
          <a:xfrm>
            <a:off x="6309360" y="2286000"/>
            <a:ext cx="5166360" cy="1554480"/>
          </a:xfrm>
          <a:prstGeom prst="rect">
            <a:avLst/>
          </a:prstGeom>
          <a:noFill/>
          <a:ln/>
        </p:spPr>
        <p:txBody>
          <a:bodyPr wrap="square" lIns="0" tIns="0" rIns="0" bIns="0" rtlCol="0" anchor="t"/>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OAuth 2.0 の上に構築され、「この人は誰か」を伝える。</a:t>
            </a:r>
            <a:endParaRPr lang="en-US" sz="1300" dirty="0"/>
          </a:p>
          <a:p>
            <a:pPr indent="0" marL="0">
              <a:lnSpc>
                <a:spcPts val="2000"/>
              </a:lnSpc>
              <a:buNone/>
            </a:pP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「〇〇でログイン」というボタンの裏側はこれである。</a:t>
            </a:r>
            <a:endParaRPr lang="en-US" sz="1300" dirty="0"/>
          </a:p>
        </p:txBody>
      </p:sp>
      <p:sp>
        <p:nvSpPr>
          <p:cNvPr id="10" name="Text 8"/>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かつて Unix 系で使われた NIS は通信が暗号化されておらず、現在は使われない。ディレクトリサービス（LDAP、Active Directory）や学認 Shibboleth も同じ系譜にある。</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2194560"/>
            <a:ext cx="2743200" cy="822960"/>
          </a:xfrm>
          <a:prstGeom prst="rect">
            <a:avLst/>
          </a:prstGeom>
          <a:noFill/>
          <a:ln/>
        </p:spPr>
        <p:txBody>
          <a:bodyPr wrap="square" lIns="0" tIns="0" rIns="0" bIns="0" rtlCol="0" anchor="ctr"/>
          <a:lstStyle/>
          <a:p>
            <a:pPr indent="0" marL="0">
              <a:buNone/>
            </a:pPr>
            <a:r>
              <a:rPr lang="en-US" sz="5600" b="1" dirty="0">
                <a:solidFill>
                  <a:srgbClr val="2E3A4A"/>
                </a:solidFill>
                <a:latin typeface="Yu Gothic" pitchFamily="34" charset="0"/>
                <a:ea typeface="Yu Gothic" pitchFamily="34" charset="-122"/>
                <a:cs typeface="Yu Gothic" pitchFamily="34" charset="-120"/>
              </a:rPr>
              <a:t>12.5</a:t>
            </a:r>
            <a:endParaRPr lang="en-US" sz="5600" dirty="0"/>
          </a:p>
        </p:txBody>
      </p:sp>
      <p:sp>
        <p:nvSpPr>
          <p:cNvPr id="3" name="Text 1"/>
          <p:cNvSpPr/>
          <p:nvPr/>
        </p:nvSpPr>
        <p:spPr>
          <a:xfrm>
            <a:off x="822960" y="306324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Yu Gothic" pitchFamily="34" charset="0"/>
                <a:ea typeface="Yu Gothic" pitchFamily="34" charset="-122"/>
                <a:cs typeface="Yu Gothic" pitchFamily="34" charset="-120"/>
              </a:rPr>
              <a:t>現実の脅威</a:t>
            </a:r>
            <a:endParaRPr lang="en-US" sz="3800" dirty="0"/>
          </a:p>
        </p:txBody>
      </p:sp>
      <p:sp>
        <p:nvSpPr>
          <p:cNvPr id="4" name="Text 2"/>
          <p:cNvSpPr/>
          <p:nvPr/>
        </p:nvSpPr>
        <p:spPr>
          <a:xfrm>
            <a:off x="822960" y="3977640"/>
            <a:ext cx="10607040" cy="457200"/>
          </a:xfrm>
          <a:prstGeom prst="rect">
            <a:avLst/>
          </a:prstGeom>
          <a:noFill/>
          <a:ln/>
        </p:spPr>
        <p:txBody>
          <a:bodyPr wrap="square" lIns="0" tIns="0" rIns="0" bIns="0" rtlCol="0" anchor="ctr"/>
          <a:lstStyle/>
          <a:p>
            <a:pPr indent="0" marL="0">
              <a:buNone/>
            </a:pPr>
            <a:r>
              <a:rPr lang="en-US" sz="1700" dirty="0">
                <a:solidFill>
                  <a:srgbClr val="9AA3B0"/>
                </a:solidFill>
                <a:latin typeface="Yu Gothic" pitchFamily="34" charset="0"/>
                <a:ea typeface="Yu Gothic" pitchFamily="34" charset="-122"/>
                <a:cs typeface="Yu Gothic" pitchFamily="34" charset="-120"/>
              </a:rPr>
              <a:t>手口は違っても、根は同じ</a:t>
            </a:r>
            <a:endParaRPr lang="en-US" sz="1700" dirty="0"/>
          </a:p>
        </p:txBody>
      </p:sp>
      <p:sp>
        <p:nvSpPr>
          <p:cNvPr id="5" name="Shape 3"/>
          <p:cNvSpPr/>
          <p:nvPr/>
        </p:nvSpPr>
        <p:spPr>
          <a:xfrm>
            <a:off x="548640" y="5852160"/>
            <a:ext cx="265176" cy="182880"/>
          </a:xfrm>
          <a:prstGeom prst="rect">
            <a:avLst/>
          </a:prstGeom>
          <a:solidFill>
            <a:srgbClr val="6AB0F3"/>
          </a:solidFill>
          <a:ln w="7620">
            <a:solidFill>
              <a:srgbClr val="6AB0F3">
                <a:alpha val="45000"/>
              </a:srgbClr>
            </a:solidFill>
            <a:prstDash val="solid"/>
          </a:ln>
        </p:spPr>
      </p:sp>
      <p:sp>
        <p:nvSpPr>
          <p:cNvPr id="6" name="Shape 4"/>
          <p:cNvSpPr/>
          <p:nvPr/>
        </p:nvSpPr>
        <p:spPr>
          <a:xfrm>
            <a:off x="850392" y="5852160"/>
            <a:ext cx="265176" cy="182880"/>
          </a:xfrm>
          <a:prstGeom prst="rect">
            <a:avLst/>
          </a:prstGeom>
          <a:solidFill>
            <a:srgbClr val="FFFFFF">
              <a:alpha val="12000"/>
            </a:srgbClr>
          </a:solidFill>
          <a:ln w="7620">
            <a:solidFill>
              <a:srgbClr val="6AB0F3">
                <a:alpha val="45000"/>
              </a:srgbClr>
            </a:solidFill>
            <a:prstDash val="solid"/>
          </a:ln>
        </p:spPr>
      </p:sp>
      <p:sp>
        <p:nvSpPr>
          <p:cNvPr id="7" name="Shape 5"/>
          <p:cNvSpPr/>
          <p:nvPr/>
        </p:nvSpPr>
        <p:spPr>
          <a:xfrm>
            <a:off x="1152144" y="5852160"/>
            <a:ext cx="265176" cy="182880"/>
          </a:xfrm>
          <a:prstGeom prst="rect">
            <a:avLst/>
          </a:prstGeom>
          <a:solidFill>
            <a:srgbClr val="FFFFFF">
              <a:alpha val="12000"/>
            </a:srgbClr>
          </a:solidFill>
          <a:ln w="7620">
            <a:solidFill>
              <a:srgbClr val="6AB0F3">
                <a:alpha val="45000"/>
              </a:srgbClr>
            </a:solidFill>
            <a:prstDash val="solid"/>
          </a:ln>
        </p:spPr>
      </p:sp>
      <p:sp>
        <p:nvSpPr>
          <p:cNvPr id="8" name="Shape 6"/>
          <p:cNvSpPr/>
          <p:nvPr/>
        </p:nvSpPr>
        <p:spPr>
          <a:xfrm>
            <a:off x="1453896" y="5852160"/>
            <a:ext cx="265176" cy="182880"/>
          </a:xfrm>
          <a:prstGeom prst="rect">
            <a:avLst/>
          </a:prstGeom>
          <a:solidFill>
            <a:srgbClr val="FFFFFF">
              <a:alpha val="12000"/>
            </a:srgbClr>
          </a:solidFill>
          <a:ln w="7620">
            <a:solidFill>
              <a:srgbClr val="6AB0F3">
                <a:alpha val="45000"/>
              </a:srgbClr>
            </a:solidFill>
            <a:prstDash val="solid"/>
          </a:ln>
        </p:spPr>
      </p:sp>
      <p:sp>
        <p:nvSpPr>
          <p:cNvPr id="9" name="Shape 7"/>
          <p:cNvSpPr/>
          <p:nvPr/>
        </p:nvSpPr>
        <p:spPr>
          <a:xfrm>
            <a:off x="1755648" y="5852160"/>
            <a:ext cx="265176" cy="182880"/>
          </a:xfrm>
          <a:prstGeom prst="rect">
            <a:avLst/>
          </a:prstGeom>
          <a:solidFill>
            <a:srgbClr val="FFFFFF">
              <a:alpha val="12000"/>
            </a:srgbClr>
          </a:solidFill>
          <a:ln w="7620">
            <a:solidFill>
              <a:srgbClr val="6AB0F3">
                <a:alpha val="45000"/>
              </a:srgbClr>
            </a:solidFill>
            <a:prstDash val="solid"/>
          </a:ln>
        </p:spPr>
      </p:sp>
      <p:sp>
        <p:nvSpPr>
          <p:cNvPr id="10" name="Shape 8"/>
          <p:cNvSpPr/>
          <p:nvPr/>
        </p:nvSpPr>
        <p:spPr>
          <a:xfrm>
            <a:off x="2057400" y="5852160"/>
            <a:ext cx="265176" cy="182880"/>
          </a:xfrm>
          <a:prstGeom prst="rect">
            <a:avLst/>
          </a:prstGeom>
          <a:solidFill>
            <a:srgbClr val="FFFFFF">
              <a:alpha val="12000"/>
            </a:srgbClr>
          </a:solidFill>
          <a:ln w="7620">
            <a:solidFill>
              <a:srgbClr val="6AB0F3">
                <a:alpha val="45000"/>
              </a:srgbClr>
            </a:solidFill>
            <a:prstDash val="solid"/>
          </a:ln>
        </p:spPr>
      </p:sp>
      <p:sp>
        <p:nvSpPr>
          <p:cNvPr id="11" name="Shape 9"/>
          <p:cNvSpPr/>
          <p:nvPr/>
        </p:nvSpPr>
        <p:spPr>
          <a:xfrm>
            <a:off x="2359152" y="5852160"/>
            <a:ext cx="265176" cy="182880"/>
          </a:xfrm>
          <a:prstGeom prst="rect">
            <a:avLst/>
          </a:prstGeom>
          <a:solidFill>
            <a:srgbClr val="FFFFFF">
              <a:alpha val="12000"/>
            </a:srgbClr>
          </a:solidFill>
          <a:ln w="7620">
            <a:solidFill>
              <a:srgbClr val="6AB0F3">
                <a:alpha val="45000"/>
              </a:srgbClr>
            </a:solidFill>
            <a:prstDash val="solid"/>
          </a:ln>
        </p:spPr>
      </p:sp>
      <p:sp>
        <p:nvSpPr>
          <p:cNvPr id="12" name="Shape 10"/>
          <p:cNvSpPr/>
          <p:nvPr/>
        </p:nvSpPr>
        <p:spPr>
          <a:xfrm>
            <a:off x="2660904" y="5852160"/>
            <a:ext cx="265176" cy="182880"/>
          </a:xfrm>
          <a:prstGeom prst="rect">
            <a:avLst/>
          </a:prstGeom>
          <a:solidFill>
            <a:srgbClr val="FFFFFF">
              <a:alpha val="12000"/>
            </a:srgbClr>
          </a:solidFill>
          <a:ln w="7620">
            <a:solidFill>
              <a:srgbClr val="6AB0F3">
                <a:alpha val="45000"/>
              </a:srgbClr>
            </a:solidFill>
            <a:prstDash val="solid"/>
          </a:ln>
        </p:spPr>
      </p:sp>
      <p:sp>
        <p:nvSpPr>
          <p:cNvPr id="13" name="Shape 11"/>
          <p:cNvSpPr/>
          <p:nvPr/>
        </p:nvSpPr>
        <p:spPr>
          <a:xfrm>
            <a:off x="2962656" y="5852160"/>
            <a:ext cx="265176" cy="182880"/>
          </a:xfrm>
          <a:prstGeom prst="rect">
            <a:avLst/>
          </a:prstGeom>
          <a:solidFill>
            <a:srgbClr val="FFFFFF">
              <a:alpha val="12000"/>
            </a:srgbClr>
          </a:solidFill>
          <a:ln w="7620">
            <a:solidFill>
              <a:srgbClr val="6AB0F3">
                <a:alpha val="45000"/>
              </a:srgbClr>
            </a:solidFill>
            <a:prstDash val="solid"/>
          </a:ln>
        </p:spPr>
      </p:sp>
      <p:sp>
        <p:nvSpPr>
          <p:cNvPr id="14" name="Shape 12"/>
          <p:cNvSpPr/>
          <p:nvPr/>
        </p:nvSpPr>
        <p:spPr>
          <a:xfrm>
            <a:off x="3264408" y="5852160"/>
            <a:ext cx="265176" cy="182880"/>
          </a:xfrm>
          <a:prstGeom prst="rect">
            <a:avLst/>
          </a:prstGeom>
          <a:solidFill>
            <a:srgbClr val="FFFFFF">
              <a:alpha val="12000"/>
            </a:srgbClr>
          </a:solidFill>
          <a:ln w="7620">
            <a:solidFill>
              <a:srgbClr val="6AB0F3">
                <a:alpha val="45000"/>
              </a:srgbClr>
            </a:solidFill>
            <a:prstDash val="solid"/>
          </a:ln>
        </p:spPr>
      </p:sp>
      <p:sp>
        <p:nvSpPr>
          <p:cNvPr id="15" name="Shape 13"/>
          <p:cNvSpPr/>
          <p:nvPr/>
        </p:nvSpPr>
        <p:spPr>
          <a:xfrm>
            <a:off x="3566160" y="5852160"/>
            <a:ext cx="265176" cy="182880"/>
          </a:xfrm>
          <a:prstGeom prst="rect">
            <a:avLst/>
          </a:prstGeom>
          <a:solidFill>
            <a:srgbClr val="FFFFFF">
              <a:alpha val="12000"/>
            </a:srgbClr>
          </a:solidFill>
          <a:ln w="7620">
            <a:solidFill>
              <a:srgbClr val="6AB0F3">
                <a:alpha val="45000"/>
              </a:srgbClr>
            </a:solidFill>
            <a:prstDash val="solid"/>
          </a:ln>
        </p:spPr>
      </p:sp>
      <p:sp>
        <p:nvSpPr>
          <p:cNvPr id="16" name="Shape 14"/>
          <p:cNvSpPr/>
          <p:nvPr/>
        </p:nvSpPr>
        <p:spPr>
          <a:xfrm>
            <a:off x="3867912" y="5852160"/>
            <a:ext cx="265176" cy="182880"/>
          </a:xfrm>
          <a:prstGeom prst="rect">
            <a:avLst/>
          </a:prstGeom>
          <a:solidFill>
            <a:srgbClr val="FFFFFF">
              <a:alpha val="12000"/>
            </a:srgbClr>
          </a:solidFill>
          <a:ln w="7620">
            <a:solidFill>
              <a:srgbClr val="6AB0F3">
                <a:alpha val="45000"/>
              </a:srgbClr>
            </a:solidFill>
            <a:prstDash val="solid"/>
          </a:ln>
        </p:spPr>
      </p:sp>
      <p:sp>
        <p:nvSpPr>
          <p:cNvPr id="17" name="Shape 15"/>
          <p:cNvSpPr/>
          <p:nvPr/>
        </p:nvSpPr>
        <p:spPr>
          <a:xfrm>
            <a:off x="4169664" y="5852160"/>
            <a:ext cx="265176" cy="182880"/>
          </a:xfrm>
          <a:prstGeom prst="rect">
            <a:avLst/>
          </a:prstGeom>
          <a:solidFill>
            <a:srgbClr val="FFFFFF">
              <a:alpha val="12000"/>
            </a:srgbClr>
          </a:solidFill>
          <a:ln w="7620">
            <a:solidFill>
              <a:srgbClr val="6AB0F3">
                <a:alpha val="45000"/>
              </a:srgbClr>
            </a:solidFill>
            <a:prstDash val="solid"/>
          </a:ln>
        </p:spPr>
      </p:sp>
      <p:sp>
        <p:nvSpPr>
          <p:cNvPr id="18" name="Shape 16"/>
          <p:cNvSpPr/>
          <p:nvPr/>
        </p:nvSpPr>
        <p:spPr>
          <a:xfrm>
            <a:off x="4471416" y="5852160"/>
            <a:ext cx="265176" cy="182880"/>
          </a:xfrm>
          <a:prstGeom prst="rect">
            <a:avLst/>
          </a:prstGeom>
          <a:solidFill>
            <a:srgbClr val="FFFFFF">
              <a:alpha val="12000"/>
            </a:srgbClr>
          </a:solidFill>
          <a:ln w="7620">
            <a:solidFill>
              <a:srgbClr val="6AB0F3">
                <a:alpha val="45000"/>
              </a:srgbClr>
            </a:solidFill>
            <a:prstDash val="solid"/>
          </a:ln>
        </p:spPr>
      </p:sp>
      <p:sp>
        <p:nvSpPr>
          <p:cNvPr id="19" name="Shape 17"/>
          <p:cNvSpPr/>
          <p:nvPr/>
        </p:nvSpPr>
        <p:spPr>
          <a:xfrm>
            <a:off x="4773168" y="5852160"/>
            <a:ext cx="265176" cy="182880"/>
          </a:xfrm>
          <a:prstGeom prst="rect">
            <a:avLst/>
          </a:prstGeom>
          <a:solidFill>
            <a:srgbClr val="FFFFFF">
              <a:alpha val="12000"/>
            </a:srgbClr>
          </a:solidFill>
          <a:ln w="7620">
            <a:solidFill>
              <a:srgbClr val="6AB0F3">
                <a:alpha val="45000"/>
              </a:srgbClr>
            </a:solidFill>
            <a:prstDash val="solid"/>
          </a:ln>
        </p:spPr>
      </p:sp>
      <p:sp>
        <p:nvSpPr>
          <p:cNvPr id="20" name="Shape 18"/>
          <p:cNvSpPr/>
          <p:nvPr/>
        </p:nvSpPr>
        <p:spPr>
          <a:xfrm>
            <a:off x="5074920" y="5852160"/>
            <a:ext cx="265176" cy="182880"/>
          </a:xfrm>
          <a:prstGeom prst="rect">
            <a:avLst/>
          </a:prstGeom>
          <a:solidFill>
            <a:srgbClr val="6AB0F3"/>
          </a:solidFill>
          <a:ln w="7620">
            <a:solidFill>
              <a:srgbClr val="6AB0F3">
                <a:alpha val="45000"/>
              </a:srgbClr>
            </a:solidFill>
            <a:prstDash val="solid"/>
          </a:ln>
        </p:spPr>
      </p:sp>
      <p:sp>
        <p:nvSpPr>
          <p:cNvPr id="21" name="Shape 19"/>
          <p:cNvSpPr/>
          <p:nvPr/>
        </p:nvSpPr>
        <p:spPr>
          <a:xfrm>
            <a:off x="5376672" y="5852160"/>
            <a:ext cx="265176" cy="182880"/>
          </a:xfrm>
          <a:prstGeom prst="rect">
            <a:avLst/>
          </a:prstGeom>
          <a:solidFill>
            <a:srgbClr val="FFFFFF">
              <a:alpha val="12000"/>
            </a:srgbClr>
          </a:solidFill>
          <a:ln w="7620">
            <a:solidFill>
              <a:srgbClr val="6AB0F3">
                <a:alpha val="45000"/>
              </a:srgbClr>
            </a:solidFill>
            <a:prstDash val="solid"/>
          </a:ln>
        </p:spPr>
      </p:sp>
      <p:sp>
        <p:nvSpPr>
          <p:cNvPr id="22" name="Shape 20"/>
          <p:cNvSpPr/>
          <p:nvPr/>
        </p:nvSpPr>
        <p:spPr>
          <a:xfrm>
            <a:off x="5678424" y="5852160"/>
            <a:ext cx="265176" cy="182880"/>
          </a:xfrm>
          <a:prstGeom prst="rect">
            <a:avLst/>
          </a:prstGeom>
          <a:solidFill>
            <a:srgbClr val="FFFFFF">
              <a:alpha val="12000"/>
            </a:srgbClr>
          </a:solidFill>
          <a:ln w="7620">
            <a:solidFill>
              <a:srgbClr val="6AB0F3">
                <a:alpha val="45000"/>
              </a:srgbClr>
            </a:solidFill>
            <a:prstDash val="solid"/>
          </a:ln>
        </p:spPr>
      </p:sp>
      <p:sp>
        <p:nvSpPr>
          <p:cNvPr id="23" name="Shape 21"/>
          <p:cNvSpPr/>
          <p:nvPr/>
        </p:nvSpPr>
        <p:spPr>
          <a:xfrm>
            <a:off x="5980176" y="5852160"/>
            <a:ext cx="265176" cy="182880"/>
          </a:xfrm>
          <a:prstGeom prst="rect">
            <a:avLst/>
          </a:prstGeom>
          <a:solidFill>
            <a:srgbClr val="FFFFFF">
              <a:alpha val="12000"/>
            </a:srgbClr>
          </a:solidFill>
          <a:ln w="7620">
            <a:solidFill>
              <a:srgbClr val="6AB0F3">
                <a:alpha val="45000"/>
              </a:srgbClr>
            </a:solidFill>
            <a:prstDash val="solid"/>
          </a:ln>
        </p:spPr>
      </p:sp>
      <p:sp>
        <p:nvSpPr>
          <p:cNvPr id="24" name="Shape 22"/>
          <p:cNvSpPr/>
          <p:nvPr/>
        </p:nvSpPr>
        <p:spPr>
          <a:xfrm>
            <a:off x="6281928" y="5852160"/>
            <a:ext cx="265176" cy="182880"/>
          </a:xfrm>
          <a:prstGeom prst="rect">
            <a:avLst/>
          </a:prstGeom>
          <a:solidFill>
            <a:srgbClr val="FFFFFF">
              <a:alpha val="12000"/>
            </a:srgbClr>
          </a:solidFill>
          <a:ln w="7620">
            <a:solidFill>
              <a:srgbClr val="6AB0F3">
                <a:alpha val="45000"/>
              </a:srgbClr>
            </a:solidFill>
            <a:prstDash val="solid"/>
          </a:ln>
        </p:spPr>
      </p:sp>
      <p:sp>
        <p:nvSpPr>
          <p:cNvPr id="25" name="Shape 23"/>
          <p:cNvSpPr/>
          <p:nvPr/>
        </p:nvSpPr>
        <p:spPr>
          <a:xfrm>
            <a:off x="6583680" y="5852160"/>
            <a:ext cx="265176" cy="182880"/>
          </a:xfrm>
          <a:prstGeom prst="rect">
            <a:avLst/>
          </a:prstGeom>
          <a:solidFill>
            <a:srgbClr val="FFFFFF">
              <a:alpha val="12000"/>
            </a:srgbClr>
          </a:solidFill>
          <a:ln w="7620">
            <a:solidFill>
              <a:srgbClr val="6AB0F3">
                <a:alpha val="45000"/>
              </a:srgbClr>
            </a:solidFill>
            <a:prstDash val="solid"/>
          </a:ln>
        </p:spPr>
      </p:sp>
      <p:sp>
        <p:nvSpPr>
          <p:cNvPr id="26" name="Shape 24"/>
          <p:cNvSpPr/>
          <p:nvPr/>
        </p:nvSpPr>
        <p:spPr>
          <a:xfrm>
            <a:off x="6885432" y="5852160"/>
            <a:ext cx="265176" cy="182880"/>
          </a:xfrm>
          <a:prstGeom prst="rect">
            <a:avLst/>
          </a:prstGeom>
          <a:solidFill>
            <a:srgbClr val="FFFFFF">
              <a:alpha val="12000"/>
            </a:srgbClr>
          </a:solidFill>
          <a:ln w="7620">
            <a:solidFill>
              <a:srgbClr val="6AB0F3">
                <a:alpha val="45000"/>
              </a:srgbClr>
            </a:solidFill>
            <a:prstDash val="solid"/>
          </a:ln>
        </p:spPr>
      </p:sp>
      <p:sp>
        <p:nvSpPr>
          <p:cNvPr id="27" name="Shape 25"/>
          <p:cNvSpPr/>
          <p:nvPr/>
        </p:nvSpPr>
        <p:spPr>
          <a:xfrm>
            <a:off x="7187184" y="5852160"/>
            <a:ext cx="265176" cy="182880"/>
          </a:xfrm>
          <a:prstGeom prst="rect">
            <a:avLst/>
          </a:prstGeom>
          <a:solidFill>
            <a:srgbClr val="FFFFFF">
              <a:alpha val="12000"/>
            </a:srgbClr>
          </a:solidFill>
          <a:ln w="7620">
            <a:solidFill>
              <a:srgbClr val="6AB0F3">
                <a:alpha val="45000"/>
              </a:srgbClr>
            </a:solidFill>
            <a:prstDash val="solid"/>
          </a:ln>
        </p:spPr>
      </p:sp>
      <p:sp>
        <p:nvSpPr>
          <p:cNvPr id="28" name="Shape 26"/>
          <p:cNvSpPr/>
          <p:nvPr/>
        </p:nvSpPr>
        <p:spPr>
          <a:xfrm>
            <a:off x="7488936" y="5852160"/>
            <a:ext cx="265176" cy="182880"/>
          </a:xfrm>
          <a:prstGeom prst="rect">
            <a:avLst/>
          </a:prstGeom>
          <a:solidFill>
            <a:srgbClr val="FFFFFF">
              <a:alpha val="12000"/>
            </a:srgbClr>
          </a:solidFill>
          <a:ln w="7620">
            <a:solidFill>
              <a:srgbClr val="6AB0F3">
                <a:alpha val="45000"/>
              </a:srgbClr>
            </a:solidFill>
            <a:prstDash val="solid"/>
          </a:ln>
        </p:spPr>
      </p:sp>
      <p:sp>
        <p:nvSpPr>
          <p:cNvPr id="29" name="Shape 27"/>
          <p:cNvSpPr/>
          <p:nvPr/>
        </p:nvSpPr>
        <p:spPr>
          <a:xfrm>
            <a:off x="7790688" y="5852160"/>
            <a:ext cx="265176" cy="182880"/>
          </a:xfrm>
          <a:prstGeom prst="rect">
            <a:avLst/>
          </a:prstGeom>
          <a:solidFill>
            <a:srgbClr val="FFFFFF">
              <a:alpha val="12000"/>
            </a:srgbClr>
          </a:solidFill>
          <a:ln w="7620">
            <a:solidFill>
              <a:srgbClr val="6AB0F3">
                <a:alpha val="45000"/>
              </a:srgbClr>
            </a:solidFill>
            <a:prstDash val="solid"/>
          </a:ln>
        </p:spPr>
      </p:sp>
      <p:sp>
        <p:nvSpPr>
          <p:cNvPr id="30" name="Shape 28"/>
          <p:cNvSpPr/>
          <p:nvPr/>
        </p:nvSpPr>
        <p:spPr>
          <a:xfrm>
            <a:off x="8092440" y="5852160"/>
            <a:ext cx="265176" cy="182880"/>
          </a:xfrm>
          <a:prstGeom prst="rect">
            <a:avLst/>
          </a:prstGeom>
          <a:solidFill>
            <a:srgbClr val="FFFFFF">
              <a:alpha val="12000"/>
            </a:srgbClr>
          </a:solidFill>
          <a:ln w="7620">
            <a:solidFill>
              <a:srgbClr val="6AB0F3">
                <a:alpha val="4500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12.5　脅威</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主な攻撃手法</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481328"/>
          <a:ext cx="10789920" cy="914400"/>
        </p:xfrm>
        <a:graphic>
          <a:graphicData uri="http://schemas.openxmlformats.org/drawingml/2006/table">
            <a:tbl>
              <a:tblPr/>
              <a:tblGrid>
                <a:gridCol w="3291840"/>
                <a:gridCol w="4206240"/>
                <a:gridCol w="3291840"/>
              </a:tblGrid>
              <a:tr h="329184">
                <a:tc>
                  <a:txBody>
                    <a:bodyPr/>
                    <a:lstStyle/>
                    <a:p>
                      <a:pPr algn="l" indent="0" marL="0">
                        <a:buNone/>
                      </a:pPr>
                      <a:r>
                        <a:rPr lang="en-US" sz="1250" b="1" dirty="0">
                          <a:solidFill>
                            <a:srgbClr val="000000"/>
                          </a:solidFill>
                          <a:latin typeface="Yu Gothic" pitchFamily="34" charset="0"/>
                          <a:ea typeface="Yu Gothic" pitchFamily="34" charset="-122"/>
                          <a:cs typeface="Yu Gothic" pitchFamily="34" charset="-120"/>
                        </a:rPr>
                        <a:t>攻撃</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250" b="1" dirty="0">
                          <a:solidFill>
                            <a:srgbClr val="000000"/>
                          </a:solidFill>
                          <a:latin typeface="Yu Gothic" pitchFamily="34" charset="0"/>
                          <a:ea typeface="Yu Gothic" pitchFamily="34" charset="-122"/>
                          <a:cs typeface="Yu Gothic" pitchFamily="34" charset="-120"/>
                        </a:rPr>
                        <a:t>内容</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c>
                  <a:txBody>
                    <a:bodyPr/>
                    <a:lstStyle/>
                    <a:p>
                      <a:pPr algn="l" indent="0" marL="0">
                        <a:buNone/>
                      </a:pPr>
                      <a:r>
                        <a:rPr lang="en-US" sz="1250" b="1" dirty="0">
                          <a:solidFill>
                            <a:srgbClr val="000000"/>
                          </a:solidFill>
                          <a:latin typeface="Yu Gothic" pitchFamily="34" charset="0"/>
                          <a:ea typeface="Yu Gothic" pitchFamily="34" charset="-122"/>
                          <a:cs typeface="Yu Gothic" pitchFamily="34" charset="-120"/>
                        </a:rPr>
                        <a:t>主な対策</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EEF1F5"/>
                    </a:solidFill>
                  </a:tcPr>
                </a:tc>
              </a:tr>
              <a:tr h="329184">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フィッシング</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偽サイトへ誘導し情報を入力させる</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パスキー、ドメインの確認</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ランサムウェア</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データを暗号化し身代金を要求</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オフラインバックアップ</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SQLインジェクション</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入力値に SQL を埋め込み不正操作</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プレースホルダの使用</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クロスサイトスクリプティング</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他者のブラウザで悪意ある JS を実行</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出力時のエスケープ</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バッファオーバフロー</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領域を超えた書き込みで制御を奪う</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メモリ安全な言語</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サプライチェーン攻撃</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ライブラリや業者を経由して侵入</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00000"/>
                          </a:solidFill>
                          <a:latin typeface="Yu Gothic" pitchFamily="34" charset="0"/>
                          <a:ea typeface="Yu Gothic" pitchFamily="34" charset="-122"/>
                          <a:cs typeface="Yu Gothic" pitchFamily="34" charset="-120"/>
                        </a:rPr>
                        <a:t>依存関係の把握と検証</a:t>
                      </a:r>
                      <a:endParaRPr lang="en-US" sz="1250" dirty="0">
                        <a:latin typeface="Yu Gothic" charset="0"/>
                        <a:ea typeface="Yu Gothic" charset="0"/>
                        <a:cs typeface="Yu Gothic"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6" name="Text 3"/>
          <p:cNvSpPr/>
          <p:nvPr/>
        </p:nvSpPr>
        <p:spPr>
          <a:xfrm>
            <a:off x="685800" y="49377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個々の手口は違うが、根底には同じ構造がある。</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12.5　脅威</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根は「データとコードの境界の曖昧さ」</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27</a:t>
            </a:r>
            <a:endParaRPr lang="en-US" sz="1000" dirty="0"/>
          </a:p>
        </p:txBody>
      </p:sp>
      <p:sp>
        <p:nvSpPr>
          <p:cNvPr id="5" name="Text 3"/>
          <p:cNvSpPr/>
          <p:nvPr/>
        </p:nvSpPr>
        <p:spPr>
          <a:xfrm>
            <a:off x="685800" y="1481328"/>
            <a:ext cx="10789920" cy="365760"/>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第3回のノイマン型は命令とデータを区別せずに置く。この設計が次の攻撃を可能にしている。</a:t>
            </a:r>
            <a:endParaRPr lang="en-US" sz="1500" dirty="0"/>
          </a:p>
        </p:txBody>
      </p:sp>
      <p:sp>
        <p:nvSpPr>
          <p:cNvPr id="6" name="Shape 4"/>
          <p:cNvSpPr/>
          <p:nvPr/>
        </p:nvSpPr>
        <p:spPr>
          <a:xfrm>
            <a:off x="685800" y="1883664"/>
            <a:ext cx="10789920" cy="1737360"/>
          </a:xfrm>
          <a:prstGeom prst="roundRect">
            <a:avLst>
              <a:gd name="adj" fmla="val 2105"/>
            </a:avLst>
          </a:prstGeom>
          <a:solidFill>
            <a:srgbClr val="F5F7FA"/>
          </a:solidFill>
          <a:ln w="12700">
            <a:solidFill>
              <a:srgbClr val="DDE4EC"/>
            </a:solidFill>
            <a:prstDash val="solid"/>
          </a:ln>
        </p:spPr>
      </p:sp>
      <p:sp>
        <p:nvSpPr>
          <p:cNvPr id="7" name="Text 5"/>
          <p:cNvSpPr/>
          <p:nvPr/>
        </p:nvSpPr>
        <p:spPr>
          <a:xfrm>
            <a:off x="886968" y="2029968"/>
            <a:ext cx="10387584" cy="1444752"/>
          </a:xfrm>
          <a:prstGeom prst="rect">
            <a:avLst/>
          </a:prstGeom>
          <a:noFill/>
          <a:ln/>
        </p:spPr>
        <p:txBody>
          <a:bodyPr wrap="square" lIns="0" tIns="0" rIns="0" bIns="0" rtlCol="0" anchor="t"/>
          <a:lstStyle/>
          <a:p>
            <a:pPr indent="0" marL="0">
              <a:lnSpc>
                <a:spcPts val="1800"/>
              </a:lnSpc>
              <a:buNone/>
            </a:pPr>
            <a:r>
              <a:rPr lang="en-US" sz="1200" dirty="0">
                <a:solidFill>
                  <a:srgbClr val="16191D"/>
                </a:solidFill>
                <a:latin typeface="Courier New" pitchFamily="34" charset="0"/>
                <a:ea typeface="Courier New" pitchFamily="34" charset="-122"/>
                <a:cs typeface="Courier New" pitchFamily="34" charset="-120"/>
              </a:rPr>
              <a:t># 危険：入力が SQL として解釈されうる</a:t>
            </a:r>
            <a:endParaRPr lang="en-US" sz="1200" dirty="0"/>
          </a:p>
          <a:p>
            <a:pPr indent="0" marL="0">
              <a:lnSpc>
                <a:spcPts val="1800"/>
              </a:lnSpc>
              <a:buNone/>
            </a:pPr>
            <a:r>
              <a:rPr lang="en-US" sz="1200" dirty="0">
                <a:solidFill>
                  <a:srgbClr val="16191D"/>
                </a:solidFill>
                <a:latin typeface="Courier New" pitchFamily="34" charset="0"/>
                <a:ea typeface="Courier New" pitchFamily="34" charset="-122"/>
                <a:cs typeface="Courier New" pitchFamily="34" charset="-120"/>
              </a:rPr>
              <a:t>cursor.execute("SELECT * FROM users WHERE name = '" + name + "'")</a:t>
            </a:r>
            <a:endParaRPr lang="en-US" sz="1200" dirty="0"/>
          </a:p>
          <a:p>
            <a:pPr indent="0" marL="0">
              <a:lnSpc>
                <a:spcPts val="1800"/>
              </a:lnSpc>
              <a:buNone/>
            </a:pPr>
            <a:endParaRPr lang="en-US" sz="1200" dirty="0"/>
          </a:p>
          <a:p>
            <a:pPr indent="0" marL="0">
              <a:lnSpc>
                <a:spcPts val="1800"/>
              </a:lnSpc>
              <a:buNone/>
            </a:pPr>
            <a:r>
              <a:rPr lang="en-US" sz="1200" dirty="0">
                <a:solidFill>
                  <a:srgbClr val="16191D"/>
                </a:solidFill>
                <a:latin typeface="Courier New" pitchFamily="34" charset="0"/>
                <a:ea typeface="Courier New" pitchFamily="34" charset="-122"/>
                <a:cs typeface="Courier New" pitchFamily="34" charset="-120"/>
              </a:rPr>
              <a:t># 安全：値として扱われる</a:t>
            </a:r>
            <a:endParaRPr lang="en-US" sz="1200" dirty="0"/>
          </a:p>
          <a:p>
            <a:pPr indent="0" marL="0">
              <a:lnSpc>
                <a:spcPts val="1800"/>
              </a:lnSpc>
              <a:buNone/>
            </a:pPr>
            <a:r>
              <a:rPr lang="en-US" sz="1200" dirty="0">
                <a:solidFill>
                  <a:srgbClr val="16191D"/>
                </a:solidFill>
                <a:latin typeface="Courier New" pitchFamily="34" charset="0"/>
                <a:ea typeface="Courier New" pitchFamily="34" charset="-122"/>
                <a:cs typeface="Courier New" pitchFamily="34" charset="-120"/>
              </a:rPr>
              <a:t>cursor.execute("SELECT * FROM users WHERE name = %s", (name,))</a:t>
            </a:r>
            <a:endParaRPr lang="en-US" sz="1200" dirty="0"/>
          </a:p>
        </p:txBody>
      </p:sp>
      <p:sp>
        <p:nvSpPr>
          <p:cNvPr id="8" name="Text 6"/>
          <p:cNvSpPr/>
          <p:nvPr/>
        </p:nvSpPr>
        <p:spPr>
          <a:xfrm>
            <a:off x="685800" y="3895344"/>
            <a:ext cx="10789920" cy="457200"/>
          </a:xfrm>
          <a:prstGeom prst="rect">
            <a:avLst/>
          </a:prstGeom>
          <a:noFill/>
          <a:ln/>
        </p:spPr>
        <p:txBody>
          <a:bodyPr wrap="square" lIns="0" tIns="0" rIns="0" bIns="0" rtlCol="0" anchor="ctr"/>
          <a:lstStyle/>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SQLインジェクションは「データのつもりの入力が SQL の一部として解釈される」問題。XSS は JavaScript として実行される問題。</a:t>
            </a:r>
            <a:endParaRPr lang="en-US" sz="1300" dirty="0"/>
          </a:p>
          <a:p>
            <a:pPr indent="0" marL="0">
              <a:lnSpc>
                <a:spcPts val="2000"/>
              </a:lnSpc>
              <a:buNone/>
            </a:pPr>
            <a:r>
              <a:rPr lang="en-US" sz="1300" dirty="0">
                <a:solidFill>
                  <a:srgbClr val="5F6672"/>
                </a:solidFill>
                <a:latin typeface="Yu Gothic" pitchFamily="34" charset="0"/>
                <a:ea typeface="Yu Gothic" pitchFamily="34" charset="-122"/>
                <a:cs typeface="Yu Gothic" pitchFamily="34" charset="-120"/>
              </a:rPr>
              <a:t>バッファオーバフローは、データの書き込みが戻り番地を書き換える問題（第4回のメモリ配置）。</a:t>
            </a:r>
            <a:endParaRPr lang="en-US" sz="1300" dirty="0"/>
          </a:p>
        </p:txBody>
      </p:sp>
      <p:sp>
        <p:nvSpPr>
          <p:cNvPr id="9" name="Text 7"/>
          <p:cNvSpPr/>
          <p:nvPr/>
        </p:nvSpPr>
        <p:spPr>
          <a:xfrm>
            <a:off x="685800" y="576072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共通の対策は「データをデータとして扱う」こと。文字列を連結せず、プレースホルダで「これは値である」と明示する。</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12.5　ゼロトラスト</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境界型からゼロトラストへ</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28</a:t>
            </a:r>
            <a:endParaRPr lang="en-US" sz="1000" dirty="0"/>
          </a:p>
        </p:txBody>
      </p:sp>
      <p:sp>
        <p:nvSpPr>
          <p:cNvPr id="5" name="Text 3"/>
          <p:cNvSpPr/>
          <p:nvPr/>
        </p:nvSpPr>
        <p:spPr>
          <a:xfrm>
            <a:off x="685800" y="1481328"/>
            <a:ext cx="10789920" cy="566928"/>
          </a:xfrm>
          <a:prstGeom prst="rect">
            <a:avLst/>
          </a:prstGeom>
          <a:noFill/>
          <a:ln/>
        </p:spPr>
        <p:txBody>
          <a:bodyPr wrap="square" lIns="0" tIns="0" rIns="0" bIns="0" rtlCol="0" anchor="ctr"/>
          <a:lstStyle/>
          <a:p>
            <a:pPr indent="0" marL="0">
              <a:lnSpc>
                <a:spcPts val="2200"/>
              </a:lnSpc>
              <a:buNone/>
            </a:pPr>
            <a:r>
              <a:rPr lang="en-US" sz="1500" dirty="0">
                <a:solidFill>
                  <a:srgbClr val="16191D"/>
                </a:solidFill>
                <a:latin typeface="Yu Gothic" pitchFamily="34" charset="0"/>
                <a:ea typeface="Yu Gothic" pitchFamily="34" charset="-122"/>
                <a:cs typeface="Yu Gothic" pitchFamily="34" charset="-120"/>
              </a:rPr>
              <a:t>従来は「社内は安全、外は危険」と考え、境界にファイアウォールを置いた。クラウド利用と在宅勤務で、これが成り立たなくなった。</a:t>
            </a:r>
            <a:endParaRPr lang="en-US" sz="1500" dirty="0"/>
          </a:p>
        </p:txBody>
      </p:sp>
      <p:sp>
        <p:nvSpPr>
          <p:cNvPr id="6" name="Shape 4"/>
          <p:cNvSpPr/>
          <p:nvPr/>
        </p:nvSpPr>
        <p:spPr>
          <a:xfrm>
            <a:off x="685800" y="2084832"/>
            <a:ext cx="3444240" cy="1554480"/>
          </a:xfrm>
          <a:prstGeom prst="roundRect">
            <a:avLst>
              <a:gd name="adj" fmla="val 3529"/>
            </a:avLst>
          </a:prstGeom>
          <a:solidFill>
            <a:srgbClr val="EEF1F5"/>
          </a:solidFill>
          <a:ln w="12700">
            <a:solidFill>
              <a:srgbClr val="DDE4EC"/>
            </a:solidFill>
            <a:prstDash val="solid"/>
          </a:ln>
        </p:spPr>
      </p:sp>
      <p:sp>
        <p:nvSpPr>
          <p:cNvPr id="7" name="Text 5"/>
          <p:cNvSpPr/>
          <p:nvPr/>
        </p:nvSpPr>
        <p:spPr>
          <a:xfrm>
            <a:off x="86868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前提を変える</a:t>
            </a:r>
            <a:endParaRPr lang="en-US" sz="1400" dirty="0"/>
          </a:p>
        </p:txBody>
      </p:sp>
      <p:sp>
        <p:nvSpPr>
          <p:cNvPr id="8" name="Text 6"/>
          <p:cNvSpPr/>
          <p:nvPr/>
        </p:nvSpPr>
        <p:spPr>
          <a:xfrm>
            <a:off x="868680" y="2569464"/>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ネットワークの位置によらず、何も信頼しない。すべてのアクセスを、その都度検証する</a:t>
            </a:r>
            <a:endParaRPr lang="en-US" sz="1200" dirty="0"/>
          </a:p>
        </p:txBody>
      </p:sp>
      <p:sp>
        <p:nvSpPr>
          <p:cNvPr id="9" name="Shape 7"/>
          <p:cNvSpPr/>
          <p:nvPr/>
        </p:nvSpPr>
        <p:spPr>
          <a:xfrm>
            <a:off x="4358640" y="2084832"/>
            <a:ext cx="3444240" cy="1554480"/>
          </a:xfrm>
          <a:prstGeom prst="roundRect">
            <a:avLst>
              <a:gd name="adj" fmla="val 3529"/>
            </a:avLst>
          </a:prstGeom>
          <a:solidFill>
            <a:srgbClr val="EEF1F5"/>
          </a:solidFill>
          <a:ln w="12700">
            <a:solidFill>
              <a:srgbClr val="DDE4EC"/>
            </a:solidFill>
            <a:prstDash val="solid"/>
          </a:ln>
        </p:spPr>
      </p:sp>
      <p:sp>
        <p:nvSpPr>
          <p:cNvPr id="10" name="Text 8"/>
          <p:cNvSpPr/>
          <p:nvPr/>
        </p:nvSpPr>
        <p:spPr>
          <a:xfrm>
            <a:off x="454152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最小権限</a:t>
            </a:r>
            <a:endParaRPr lang="en-US" sz="1400" dirty="0"/>
          </a:p>
        </p:txBody>
      </p:sp>
      <p:sp>
        <p:nvSpPr>
          <p:cNvPr id="11" name="Text 9"/>
          <p:cNvSpPr/>
          <p:nvPr/>
        </p:nvSpPr>
        <p:spPr>
          <a:xfrm>
            <a:off x="4541520" y="2569464"/>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必要な権限だけを、必要な期間だけ与える</a:t>
            </a:r>
            <a:endParaRPr lang="en-US" sz="1200" dirty="0"/>
          </a:p>
        </p:txBody>
      </p:sp>
      <p:sp>
        <p:nvSpPr>
          <p:cNvPr id="12" name="Shape 10"/>
          <p:cNvSpPr/>
          <p:nvPr/>
        </p:nvSpPr>
        <p:spPr>
          <a:xfrm>
            <a:off x="8031480" y="2084832"/>
            <a:ext cx="3444240" cy="1554480"/>
          </a:xfrm>
          <a:prstGeom prst="roundRect">
            <a:avLst>
              <a:gd name="adj" fmla="val 3529"/>
            </a:avLst>
          </a:prstGeom>
          <a:solidFill>
            <a:srgbClr val="EEF1F5"/>
          </a:solidFill>
          <a:ln w="12700">
            <a:solidFill>
              <a:srgbClr val="DDE4EC"/>
            </a:solidFill>
            <a:prstDash val="solid"/>
          </a:ln>
        </p:spPr>
      </p:sp>
      <p:sp>
        <p:nvSpPr>
          <p:cNvPr id="13" name="Text 11"/>
          <p:cNvSpPr/>
          <p:nvPr/>
        </p:nvSpPr>
        <p:spPr>
          <a:xfrm>
            <a:off x="8214360" y="2221992"/>
            <a:ext cx="3078480" cy="310896"/>
          </a:xfrm>
          <a:prstGeom prst="rect">
            <a:avLst/>
          </a:prstGeom>
          <a:noFill/>
          <a:ln/>
        </p:spPr>
        <p:txBody>
          <a:bodyPr wrap="square" lIns="0" tIns="0" rIns="0" bIns="0" rtlCol="0" anchor="ctr"/>
          <a:lstStyle/>
          <a:p>
            <a:pPr indent="0" marL="0">
              <a:buNone/>
            </a:pPr>
            <a:r>
              <a:rPr lang="en-US" sz="1400" b="1" dirty="0">
                <a:solidFill>
                  <a:srgbClr val="16191D"/>
                </a:solidFill>
                <a:latin typeface="Yu Gothic" pitchFamily="34" charset="0"/>
                <a:ea typeface="Yu Gothic" pitchFamily="34" charset="-122"/>
                <a:cs typeface="Yu Gothic" pitchFamily="34" charset="-120"/>
              </a:rPr>
              <a:t>記録と分割</a:t>
            </a:r>
            <a:endParaRPr lang="en-US" sz="1400" dirty="0"/>
          </a:p>
        </p:txBody>
      </p:sp>
      <p:sp>
        <p:nvSpPr>
          <p:cNvPr id="14" name="Text 12"/>
          <p:cNvSpPr/>
          <p:nvPr/>
        </p:nvSpPr>
        <p:spPr>
          <a:xfrm>
            <a:off x="8214360" y="2569464"/>
            <a:ext cx="3078480" cy="914400"/>
          </a:xfrm>
          <a:prstGeom prst="rect">
            <a:avLst/>
          </a:prstGeom>
          <a:noFill/>
          <a:ln/>
        </p:spPr>
        <p:txBody>
          <a:bodyPr wrap="square" lIns="0" tIns="0" rIns="0" bIns="0" rtlCol="0" anchor="t"/>
          <a:lstStyle/>
          <a:p>
            <a:pPr indent="0" marL="0">
              <a:lnSpc>
                <a:spcPts val="1600"/>
              </a:lnSpc>
              <a:buNone/>
            </a:pPr>
            <a:r>
              <a:rPr lang="en-US" sz="1200" dirty="0">
                <a:solidFill>
                  <a:srgbClr val="5F6672"/>
                </a:solidFill>
                <a:latin typeface="Yu Gothic" pitchFamily="34" charset="0"/>
                <a:ea typeface="Yu Gothic" pitchFamily="34" charset="-122"/>
                <a:cs typeface="Yu Gothic" pitchFamily="34" charset="-120"/>
              </a:rPr>
              <a:t>すべてのアクセスを記録し異常を検知する。ネットワークを細かく分割し、侵入時の被害範囲を限る</a:t>
            </a:r>
            <a:endParaRPr lang="en-US" sz="1200" dirty="0"/>
          </a:p>
        </p:txBody>
      </p:sp>
      <p:sp>
        <p:nvSpPr>
          <p:cNvPr id="15" name="Shape 13"/>
          <p:cNvSpPr/>
          <p:nvPr/>
        </p:nvSpPr>
        <p:spPr>
          <a:xfrm>
            <a:off x="685800" y="3931920"/>
            <a:ext cx="10789920" cy="786384"/>
          </a:xfrm>
          <a:prstGeom prst="roundRect">
            <a:avLst>
              <a:gd name="adj" fmla="val 6977"/>
            </a:avLst>
          </a:prstGeom>
          <a:solidFill>
            <a:srgbClr val="FFFFFF"/>
          </a:solidFill>
          <a:ln w="19050">
            <a:solidFill>
              <a:srgbClr val="0B5CAD"/>
            </a:solidFill>
            <a:prstDash val="dash"/>
          </a:ln>
        </p:spPr>
      </p:sp>
      <p:sp>
        <p:nvSpPr>
          <p:cNvPr id="16" name="Text 14"/>
          <p:cNvSpPr/>
          <p:nvPr/>
        </p:nvSpPr>
        <p:spPr>
          <a:xfrm>
            <a:off x="914400" y="4059936"/>
            <a:ext cx="10332720" cy="292608"/>
          </a:xfrm>
          <a:prstGeom prst="rect">
            <a:avLst/>
          </a:prstGeom>
          <a:noFill/>
          <a:ln/>
        </p:spPr>
        <p:txBody>
          <a:bodyPr wrap="square" lIns="0" tIns="0" rIns="0" bIns="0" rtlCol="0" anchor="ctr"/>
          <a:lstStyle/>
          <a:p>
            <a:pPr indent="0" marL="0">
              <a:buNone/>
            </a:pPr>
            <a:r>
              <a:rPr lang="en-US" sz="1500" b="1" dirty="0">
                <a:solidFill>
                  <a:srgbClr val="0B5CAD"/>
                </a:solidFill>
                <a:latin typeface="Yu Gothic" pitchFamily="34" charset="0"/>
                <a:ea typeface="Yu Gothic" pitchFamily="34" charset="-122"/>
                <a:cs typeface="Yu Gothic" pitchFamily="34" charset="-120"/>
              </a:rPr>
              <a:t>守る側の原則</a:t>
            </a:r>
            <a:endParaRPr lang="en-US" sz="1500" dirty="0"/>
          </a:p>
        </p:txBody>
      </p:sp>
      <p:sp>
        <p:nvSpPr>
          <p:cNvPr id="17" name="Text 15"/>
          <p:cNvSpPr/>
          <p:nvPr/>
        </p:nvSpPr>
        <p:spPr>
          <a:xfrm>
            <a:off x="914400" y="4370832"/>
            <a:ext cx="10332720" cy="292608"/>
          </a:xfrm>
          <a:prstGeom prst="rect">
            <a:avLst/>
          </a:prstGeom>
          <a:noFill/>
          <a:ln/>
        </p:spPr>
        <p:txBody>
          <a:bodyPr wrap="square" lIns="0" tIns="0" rIns="0" bIns="0" rtlCol="0" anchor="ctr"/>
          <a:lstStyle/>
          <a:p>
            <a:pPr indent="0" marL="0">
              <a:buNone/>
            </a:pPr>
            <a:r>
              <a:rPr lang="en-US" sz="1250" dirty="0">
                <a:solidFill>
                  <a:srgbClr val="5F6672"/>
                </a:solidFill>
                <a:latin typeface="Yu Gothic" pitchFamily="34" charset="0"/>
                <a:ea typeface="Yu Gothic" pitchFamily="34" charset="-122"/>
                <a:cs typeface="Yu Gothic" pitchFamily="34" charset="-120"/>
              </a:rPr>
              <a:t>多層防御／最小権限／安全側に倒す（第1回の決定不能性への対処と同じ発想）／隠蔽に頼らない／更新を適用する／バックアップ／記録を取る</a:t>
            </a:r>
            <a:endParaRPr lang="en-US" sz="1250" dirty="0"/>
          </a:p>
        </p:txBody>
      </p:sp>
      <p:sp>
        <p:nvSpPr>
          <p:cNvPr id="18" name="Text 16"/>
          <p:cNvSpPr/>
          <p:nvPr/>
        </p:nvSpPr>
        <p:spPr>
          <a:xfrm>
            <a:off x="685800" y="5852160"/>
            <a:ext cx="10789920" cy="512064"/>
          </a:xfrm>
          <a:prstGeom prst="rect">
            <a:avLst/>
          </a:prstGeom>
          <a:noFill/>
          <a:ln/>
        </p:spPr>
        <p:txBody>
          <a:bodyPr wrap="square" lIns="0" tIns="0" rIns="0" bIns="0" rtlCol="0" anchor="ctr"/>
          <a:lstStyle/>
          <a:p>
            <a:pPr indent="0" marL="0">
              <a:lnSpc>
                <a:spcPts val="1900"/>
              </a:lnSpc>
              <a:buNone/>
            </a:pPr>
            <a:r>
              <a:rPr lang="en-US" sz="1300" b="1" dirty="0">
                <a:solidFill>
                  <a:srgbClr val="0B5CAD"/>
                </a:solidFill>
                <a:latin typeface="Yu Gothic" pitchFamily="34" charset="0"/>
                <a:ea typeface="Yu Gothic" pitchFamily="34" charset="-122"/>
                <a:cs typeface="Yu Gothic" pitchFamily="34" charset="-120"/>
              </a:rPr>
              <a:t>セキュリティは製品ではなく過程である。一度設定して終わりではなく、脅威も環境も変わり続ける。</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4572000" cy="256032"/>
          </a:xfrm>
          <a:prstGeom prst="rect">
            <a:avLst/>
          </a:prstGeom>
          <a:noFill/>
          <a:ln/>
        </p:spPr>
        <p:txBody>
          <a:bodyPr wrap="square" lIns="0" tIns="0" rIns="0" bIns="0" rtlCol="0" anchor="ctr"/>
          <a:lstStyle/>
          <a:p>
            <a:pPr indent="0" marL="0">
              <a:buNone/>
            </a:pPr>
            <a:r>
              <a:rPr lang="en-US" sz="1200" b="1" dirty="0">
                <a:solidFill>
                  <a:srgbClr val="0B5CAD"/>
                </a:solidFill>
                <a:latin typeface="Yu Gothic" pitchFamily="34" charset="0"/>
                <a:ea typeface="Yu Gothic" pitchFamily="34" charset="-122"/>
                <a:cs typeface="Yu Gothic" pitchFamily="34" charset="-120"/>
              </a:rPr>
              <a:t>第12回</a:t>
            </a:r>
            <a:endParaRPr lang="en-US" sz="12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000" b="1" dirty="0">
                <a:solidFill>
                  <a:srgbClr val="16191D"/>
                </a:solidFill>
                <a:latin typeface="Yu Gothic" pitchFamily="34" charset="0"/>
                <a:ea typeface="Yu Gothic" pitchFamily="34" charset="-122"/>
                <a:cs typeface="Yu Gothic" pitchFamily="34" charset="-120"/>
              </a:rPr>
              <a:t>演習</a:t>
            </a:r>
            <a:endParaRPr lang="en-US" sz="3000" dirty="0"/>
          </a:p>
        </p:txBody>
      </p:sp>
      <p:sp>
        <p:nvSpPr>
          <p:cNvPr id="4" name="Text 2"/>
          <p:cNvSpPr/>
          <p:nvPr/>
        </p:nvSpPr>
        <p:spPr>
          <a:xfrm>
            <a:off x="11247120" y="6355080"/>
            <a:ext cx="548640" cy="274320"/>
          </a:xfrm>
          <a:prstGeom prst="rect">
            <a:avLst/>
          </a:prstGeom>
          <a:noFill/>
          <a:ln/>
        </p:spPr>
        <p:txBody>
          <a:bodyPr wrap="square" lIns="0" tIns="0" rIns="0" bIns="0" rtlCol="0" anchor="ctr"/>
          <a:lstStyle/>
          <a:p>
            <a:pPr algn="r" indent="0" marL="0">
              <a:buNone/>
            </a:pPr>
            <a:r>
              <a:rPr lang="en-US" sz="1000" dirty="0">
                <a:solidFill>
                  <a:srgbClr val="5F6672"/>
                </a:solidFill>
                <a:latin typeface="Yu Gothic" pitchFamily="34" charset="0"/>
                <a:ea typeface="Yu Gothic" pitchFamily="34" charset="-122"/>
                <a:cs typeface="Yu Gothic" pitchFamily="34" charset="-120"/>
              </a:rPr>
              <a:t>29</a:t>
            </a:r>
            <a:endParaRPr lang="en-US" sz="1000" dirty="0"/>
          </a:p>
        </p:txBody>
      </p:sp>
      <p:sp>
        <p:nvSpPr>
          <p:cNvPr id="5" name="Shape 3"/>
          <p:cNvSpPr/>
          <p:nvPr/>
        </p:nvSpPr>
        <p:spPr>
          <a:xfrm>
            <a:off x="685800" y="1691640"/>
            <a:ext cx="868680" cy="402336"/>
          </a:xfrm>
          <a:prstGeom prst="roundRect">
            <a:avLst>
              <a:gd name="adj" fmla="val 18182"/>
            </a:avLst>
          </a:prstGeom>
          <a:solidFill>
            <a:srgbClr val="D9E6F4"/>
          </a:solidFill>
          <a:ln w="12700">
            <a:solidFill>
              <a:srgbClr val="0B5CAD"/>
            </a:solidFill>
            <a:prstDash val="solid"/>
          </a:ln>
        </p:spPr>
      </p:sp>
      <p:sp>
        <p:nvSpPr>
          <p:cNvPr id="6" name="Text 4"/>
          <p:cNvSpPr/>
          <p:nvPr/>
        </p:nvSpPr>
        <p:spPr>
          <a:xfrm>
            <a:off x="685800" y="1691640"/>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12-1</a:t>
            </a:r>
            <a:endParaRPr lang="en-US" sz="1300" dirty="0"/>
          </a:p>
        </p:txBody>
      </p:sp>
      <p:sp>
        <p:nvSpPr>
          <p:cNvPr id="7" name="Text 5"/>
          <p:cNvSpPr/>
          <p:nvPr/>
        </p:nvSpPr>
        <p:spPr>
          <a:xfrm>
            <a:off x="1783080" y="1673352"/>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情報セキュリティの3要素を挙げ、それぞれが破られた場合に大学の成績システムで何が起きるか具体的に述べよ。</a:t>
            </a:r>
            <a:endParaRPr lang="en-US" sz="1400" dirty="0"/>
          </a:p>
        </p:txBody>
      </p:sp>
      <p:sp>
        <p:nvSpPr>
          <p:cNvPr id="8" name="Shape 6"/>
          <p:cNvSpPr/>
          <p:nvPr/>
        </p:nvSpPr>
        <p:spPr>
          <a:xfrm>
            <a:off x="685800" y="2770632"/>
            <a:ext cx="868680" cy="402336"/>
          </a:xfrm>
          <a:prstGeom prst="roundRect">
            <a:avLst>
              <a:gd name="adj" fmla="val 18182"/>
            </a:avLst>
          </a:prstGeom>
          <a:solidFill>
            <a:srgbClr val="D9E6F4"/>
          </a:solidFill>
          <a:ln w="12700">
            <a:solidFill>
              <a:srgbClr val="0B5CAD"/>
            </a:solidFill>
            <a:prstDash val="solid"/>
          </a:ln>
        </p:spPr>
      </p:sp>
      <p:sp>
        <p:nvSpPr>
          <p:cNvPr id="9" name="Text 7"/>
          <p:cNvSpPr/>
          <p:nvPr/>
        </p:nvSpPr>
        <p:spPr>
          <a:xfrm>
            <a:off x="685800" y="2770632"/>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12-2</a:t>
            </a:r>
            <a:endParaRPr lang="en-US" sz="1300" dirty="0"/>
          </a:p>
        </p:txBody>
      </p:sp>
      <p:sp>
        <p:nvSpPr>
          <p:cNvPr id="10" name="Text 8"/>
          <p:cNvSpPr/>
          <p:nvPr/>
        </p:nvSpPr>
        <p:spPr>
          <a:xfrm>
            <a:off x="1783080" y="2752344"/>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共通鍵暗号における鍵配送問題とは何か。n 人が互いに通信する場合に必要な鍵の数を共通鍵と公開鍵で求め、n=1000 で比較せよ。</a:t>
            </a:r>
            <a:endParaRPr lang="en-US" sz="1400" dirty="0"/>
          </a:p>
        </p:txBody>
      </p:sp>
      <p:sp>
        <p:nvSpPr>
          <p:cNvPr id="11" name="Shape 9"/>
          <p:cNvSpPr/>
          <p:nvPr/>
        </p:nvSpPr>
        <p:spPr>
          <a:xfrm>
            <a:off x="685800" y="3849624"/>
            <a:ext cx="868680" cy="402336"/>
          </a:xfrm>
          <a:prstGeom prst="roundRect">
            <a:avLst>
              <a:gd name="adj" fmla="val 18182"/>
            </a:avLst>
          </a:prstGeom>
          <a:solidFill>
            <a:srgbClr val="D9E6F4"/>
          </a:solidFill>
          <a:ln w="12700">
            <a:solidFill>
              <a:srgbClr val="0B5CAD"/>
            </a:solidFill>
            <a:prstDash val="solid"/>
          </a:ln>
        </p:spPr>
      </p:sp>
      <p:sp>
        <p:nvSpPr>
          <p:cNvPr id="12" name="Text 10"/>
          <p:cNvSpPr/>
          <p:nvPr/>
        </p:nvSpPr>
        <p:spPr>
          <a:xfrm>
            <a:off x="685800" y="3849624"/>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12-6</a:t>
            </a:r>
            <a:endParaRPr lang="en-US" sz="1300" dirty="0"/>
          </a:p>
        </p:txBody>
      </p:sp>
      <p:sp>
        <p:nvSpPr>
          <p:cNvPr id="13" name="Text 11"/>
          <p:cNvSpPr/>
          <p:nvPr/>
        </p:nvSpPr>
        <p:spPr>
          <a:xfrm>
            <a:off x="1783080" y="3831336"/>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認証と認可の違いを説明し、「認証は正しく行われているが認可に欠陥がある」システムの例を挙げよ。</a:t>
            </a:r>
            <a:endParaRPr lang="en-US" sz="1400" dirty="0"/>
          </a:p>
        </p:txBody>
      </p:sp>
      <p:sp>
        <p:nvSpPr>
          <p:cNvPr id="14" name="Shape 12"/>
          <p:cNvSpPr/>
          <p:nvPr/>
        </p:nvSpPr>
        <p:spPr>
          <a:xfrm>
            <a:off x="685800" y="4928616"/>
            <a:ext cx="868680" cy="402336"/>
          </a:xfrm>
          <a:prstGeom prst="roundRect">
            <a:avLst>
              <a:gd name="adj" fmla="val 18182"/>
            </a:avLst>
          </a:prstGeom>
          <a:solidFill>
            <a:srgbClr val="D9E6F4"/>
          </a:solidFill>
          <a:ln w="12700">
            <a:solidFill>
              <a:srgbClr val="0B5CAD"/>
            </a:solidFill>
            <a:prstDash val="solid"/>
          </a:ln>
        </p:spPr>
      </p:sp>
      <p:sp>
        <p:nvSpPr>
          <p:cNvPr id="15" name="Text 13"/>
          <p:cNvSpPr/>
          <p:nvPr/>
        </p:nvSpPr>
        <p:spPr>
          <a:xfrm>
            <a:off x="685800" y="4928616"/>
            <a:ext cx="868680" cy="402336"/>
          </a:xfrm>
          <a:prstGeom prst="rect">
            <a:avLst/>
          </a:prstGeom>
          <a:noFill/>
          <a:ln/>
        </p:spPr>
        <p:txBody>
          <a:bodyPr wrap="square" lIns="0" tIns="0" rIns="0" bIns="0" rtlCol="0" anchor="ctr"/>
          <a:lstStyle/>
          <a:p>
            <a:pPr algn="ctr" indent="0" marL="0">
              <a:buNone/>
            </a:pPr>
            <a:r>
              <a:rPr lang="en-US" sz="1300" b="1" dirty="0">
                <a:solidFill>
                  <a:srgbClr val="0B5CAD"/>
                </a:solidFill>
                <a:latin typeface="Courier New" pitchFamily="34" charset="0"/>
                <a:ea typeface="Courier New" pitchFamily="34" charset="-122"/>
                <a:cs typeface="Courier New" pitchFamily="34" charset="-120"/>
              </a:rPr>
              <a:t>12-7</a:t>
            </a:r>
            <a:endParaRPr lang="en-US" sz="1300" dirty="0"/>
          </a:p>
        </p:txBody>
      </p:sp>
      <p:sp>
        <p:nvSpPr>
          <p:cNvPr id="16" name="Text 14"/>
          <p:cNvSpPr/>
          <p:nvPr/>
        </p:nvSpPr>
        <p:spPr>
          <a:xfrm>
            <a:off x="1783080" y="4910328"/>
            <a:ext cx="9692640" cy="932688"/>
          </a:xfrm>
          <a:prstGeom prst="rect">
            <a:avLst/>
          </a:prstGeom>
          <a:noFill/>
          <a:ln/>
        </p:spPr>
        <p:txBody>
          <a:bodyPr wrap="square" lIns="0" tIns="0" rIns="0" bIns="0" rtlCol="0" anchor="t"/>
          <a:lstStyle/>
          <a:p>
            <a:pPr indent="0" marL="0">
              <a:lnSpc>
                <a:spcPts val="2100"/>
              </a:lnSpc>
              <a:buNone/>
            </a:pPr>
            <a:r>
              <a:rPr lang="en-US" sz="1400" dirty="0">
                <a:solidFill>
                  <a:srgbClr val="16191D"/>
                </a:solidFill>
                <a:latin typeface="Yu Gothic" pitchFamily="34" charset="0"/>
                <a:ea typeface="Yu Gothic" pitchFamily="34" charset="-122"/>
                <a:cs typeface="Yu Gothic" pitchFamily="34" charset="-120"/>
              </a:rPr>
              <a:t>パスキーがパスワード＋SMS認証よりフィッシングに強い理由を、署名の対象に何が含まれるかに触れて説明せよ。</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822960" y="64008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Yu Gothic" pitchFamily="34" charset="0"/>
                <a:ea typeface="Yu Gothic" pitchFamily="34" charset="-122"/>
                <a:cs typeface="Yu Gothic" pitchFamily="34" charset="-120"/>
              </a:rPr>
              <a:t>まとめ</a:t>
            </a:r>
            <a:endParaRPr lang="en-US" sz="3000" dirty="0"/>
          </a:p>
        </p:txBody>
      </p:sp>
      <p:sp>
        <p:nvSpPr>
          <p:cNvPr id="3" name="Text 1"/>
          <p:cNvSpPr/>
          <p:nvPr/>
        </p:nvSpPr>
        <p:spPr>
          <a:xfrm>
            <a:off x="822960" y="1417320"/>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CIA</a:t>
            </a:r>
            <a:endParaRPr lang="en-US" sz="1400" dirty="0"/>
          </a:p>
        </p:txBody>
      </p:sp>
      <p:sp>
        <p:nvSpPr>
          <p:cNvPr id="4" name="Text 2"/>
          <p:cNvSpPr/>
          <p:nvPr/>
        </p:nvSpPr>
        <p:spPr>
          <a:xfrm>
            <a:off x="4297680" y="1380744"/>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機密性・完全性・可用性の釣り合いを決めることがセキュリティである</a:t>
            </a:r>
            <a:endParaRPr lang="en-US" sz="1250" dirty="0"/>
          </a:p>
        </p:txBody>
      </p:sp>
      <p:sp>
        <p:nvSpPr>
          <p:cNvPr id="5" name="Text 3"/>
          <p:cNvSpPr/>
          <p:nvPr/>
        </p:nvSpPr>
        <p:spPr>
          <a:xfrm>
            <a:off x="822960" y="2075688"/>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ケルクホフスの原理</a:t>
            </a:r>
            <a:endParaRPr lang="en-US" sz="1400" dirty="0"/>
          </a:p>
        </p:txBody>
      </p:sp>
      <p:sp>
        <p:nvSpPr>
          <p:cNvPr id="6" name="Text 4"/>
          <p:cNvSpPr/>
          <p:nvPr/>
        </p:nvSpPr>
        <p:spPr>
          <a:xfrm>
            <a:off x="4297680" y="2039112"/>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方式は公開されている前提で設計する。自作の暗号を使ってはならない</a:t>
            </a:r>
            <a:endParaRPr lang="en-US" sz="1250" dirty="0"/>
          </a:p>
        </p:txBody>
      </p:sp>
      <p:sp>
        <p:nvSpPr>
          <p:cNvPr id="7" name="Text 5"/>
          <p:cNvSpPr/>
          <p:nvPr/>
        </p:nvSpPr>
        <p:spPr>
          <a:xfrm>
            <a:off x="822960" y="2734056"/>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耐量子計算機暗号</a:t>
            </a:r>
            <a:endParaRPr lang="en-US" sz="1400" dirty="0"/>
          </a:p>
        </p:txBody>
      </p:sp>
      <p:sp>
        <p:nvSpPr>
          <p:cNvPr id="8" name="Text 6"/>
          <p:cNvSpPr/>
          <p:nvPr/>
        </p:nvSpPr>
        <p:spPr>
          <a:xfrm>
            <a:off x="4297680" y="2697480"/>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Shor が RSA と楕円曲線を破る。いま盗聴して後で復号されるので、移行はもう始まっている</a:t>
            </a:r>
            <a:endParaRPr lang="en-US" sz="1250" dirty="0"/>
          </a:p>
        </p:txBody>
      </p:sp>
      <p:sp>
        <p:nvSpPr>
          <p:cNvPr id="9" name="Text 7"/>
          <p:cNvSpPr/>
          <p:nvPr/>
        </p:nvSpPr>
        <p:spPr>
          <a:xfrm>
            <a:off x="822960" y="3392424"/>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公開鍵暗号</a:t>
            </a:r>
            <a:endParaRPr lang="en-US" sz="1400" dirty="0"/>
          </a:p>
        </p:txBody>
      </p:sp>
      <p:sp>
        <p:nvSpPr>
          <p:cNvPr id="10" name="Text 8"/>
          <p:cNvSpPr/>
          <p:nvPr/>
        </p:nvSpPr>
        <p:spPr>
          <a:xfrm>
            <a:off x="4297680" y="3355848"/>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鍵配送問題を解いたが遅い。実際はハイブリッドで使う。安全性は「まだ解けていない」ことに依存する</a:t>
            </a:r>
            <a:endParaRPr lang="en-US" sz="1250" dirty="0"/>
          </a:p>
        </p:txBody>
      </p:sp>
      <p:sp>
        <p:nvSpPr>
          <p:cNvPr id="11" name="Text 9"/>
          <p:cNvSpPr/>
          <p:nvPr/>
        </p:nvSpPr>
        <p:spPr>
          <a:xfrm>
            <a:off x="822960" y="4050792"/>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証明書</a:t>
            </a:r>
            <a:endParaRPr lang="en-US" sz="1400" dirty="0"/>
          </a:p>
        </p:txBody>
      </p:sp>
      <p:sp>
        <p:nvSpPr>
          <p:cNvPr id="12" name="Text 10"/>
          <p:cNvSpPr/>
          <p:nvPr/>
        </p:nvSpPr>
        <p:spPr>
          <a:xfrm>
            <a:off x="4297680" y="4014216"/>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信頼の連鎖を作るが、起点が数百の CA に分散している弱点を持つ</a:t>
            </a:r>
            <a:endParaRPr lang="en-US" sz="1250" dirty="0"/>
          </a:p>
        </p:txBody>
      </p:sp>
      <p:sp>
        <p:nvSpPr>
          <p:cNvPr id="13" name="Text 11"/>
          <p:cNvSpPr/>
          <p:nvPr/>
        </p:nvSpPr>
        <p:spPr>
          <a:xfrm>
            <a:off x="822960" y="4709160"/>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認証と認可</a:t>
            </a:r>
            <a:endParaRPr lang="en-US" sz="1400" dirty="0"/>
          </a:p>
        </p:txBody>
      </p:sp>
      <p:sp>
        <p:nvSpPr>
          <p:cNvPr id="14" name="Text 12"/>
          <p:cNvSpPr/>
          <p:nvPr/>
        </p:nvSpPr>
        <p:spPr>
          <a:xfrm>
            <a:off x="4297680" y="4672584"/>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別物である。事故の多くは認可の不備による</a:t>
            </a:r>
            <a:endParaRPr lang="en-US" sz="1250" dirty="0"/>
          </a:p>
        </p:txBody>
      </p:sp>
      <p:sp>
        <p:nvSpPr>
          <p:cNvPr id="15" name="Text 13"/>
          <p:cNvSpPr/>
          <p:nvPr/>
        </p:nvSpPr>
        <p:spPr>
          <a:xfrm>
            <a:off x="822960" y="5367528"/>
            <a:ext cx="3291840" cy="320040"/>
          </a:xfrm>
          <a:prstGeom prst="rect">
            <a:avLst/>
          </a:prstGeom>
          <a:noFill/>
          <a:ln/>
        </p:spPr>
        <p:txBody>
          <a:bodyPr wrap="square" lIns="0" tIns="0" rIns="0" bIns="0" rtlCol="0" anchor="ctr"/>
          <a:lstStyle/>
          <a:p>
            <a:pPr indent="0" marL="0">
              <a:buNone/>
            </a:pPr>
            <a:r>
              <a:rPr lang="en-US" sz="1400" b="1" dirty="0">
                <a:solidFill>
                  <a:srgbClr val="6AB0F3"/>
                </a:solidFill>
                <a:latin typeface="Yu Gothic" pitchFamily="34" charset="0"/>
                <a:ea typeface="Yu Gothic" pitchFamily="34" charset="-122"/>
                <a:cs typeface="Yu Gothic" pitchFamily="34" charset="-120"/>
              </a:rPr>
              <a:t>攻撃の根</a:t>
            </a:r>
            <a:endParaRPr lang="en-US" sz="1400" dirty="0"/>
          </a:p>
        </p:txBody>
      </p:sp>
      <p:sp>
        <p:nvSpPr>
          <p:cNvPr id="16" name="Text 14"/>
          <p:cNvSpPr/>
          <p:nvPr/>
        </p:nvSpPr>
        <p:spPr>
          <a:xfrm>
            <a:off x="4297680" y="5330952"/>
            <a:ext cx="7132320" cy="548640"/>
          </a:xfrm>
          <a:prstGeom prst="rect">
            <a:avLst/>
          </a:prstGeom>
          <a:noFill/>
          <a:ln/>
        </p:spPr>
        <p:txBody>
          <a:bodyPr wrap="square" lIns="0" tIns="0" rIns="0" bIns="0" rtlCol="0" anchor="t"/>
          <a:lstStyle/>
          <a:p>
            <a:pPr indent="0" marL="0">
              <a:lnSpc>
                <a:spcPts val="1900"/>
              </a:lnSpc>
              <a:buNone/>
            </a:pPr>
            <a:r>
              <a:rPr lang="en-US" sz="1250" dirty="0">
                <a:solidFill>
                  <a:srgbClr val="E8EBEF"/>
                </a:solidFill>
                <a:latin typeface="Yu Gothic" pitchFamily="34" charset="0"/>
                <a:ea typeface="Yu Gothic" pitchFamily="34" charset="-122"/>
                <a:cs typeface="Yu Gothic" pitchFamily="34" charset="-120"/>
              </a:rPr>
              <a:t>多くは「データとコードの境界の曖昧さ」に由来する</a:t>
            </a:r>
            <a:endParaRPr lang="en-US" sz="1250" dirty="0"/>
          </a:p>
        </p:txBody>
      </p:sp>
      <p:sp>
        <p:nvSpPr>
          <p:cNvPr id="17" name="Text 15"/>
          <p:cNvSpPr/>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AA3B0"/>
                </a:solidFill>
                <a:latin typeface="Yu Gothic" pitchFamily="34" charset="0"/>
                <a:ea typeface="Yu Gothic" pitchFamily="34" charset="-122"/>
                <a:cs typeface="Yu Gothic" pitchFamily="34" charset="-120"/>
              </a:rPr>
              <a:t>次回　最終回。計算機が「学習する」とはどういう計算か。第1回のチューリングマシンから始まった話が、生成AIとエージェントに至る。</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第12回 情報セキュリティ</dc:title>
  <dc:subject>PptxGenJS Presentation</dc:subject>
  <dc:creator>九州大学 コンピュータシステム通論</dc:creator>
  <cp:lastModifiedBy>九州大学 コンピュータシステム通論</cp:lastModifiedBy>
  <cp:revision>1</cp:revision>
  <dcterms:created xsi:type="dcterms:W3CDTF">2026-09-22T02:13:01Z</dcterms:created>
  <dcterms:modified xsi:type="dcterms:W3CDTF">2026-09-22T02:13:01Z</dcterms:modified>
</cp:coreProperties>
</file>