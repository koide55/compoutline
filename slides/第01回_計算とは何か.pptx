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　計算とは何か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「計算できる」とはどういうことか。計算できないことはあるか。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「計算できる」とは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どういうことか。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そして、計算できないことはあるか。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が満たすべき条件を挙げられる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81635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チューリングマシン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の動作を追跡し、簡単な機械を設計できる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86791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886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チャーチ＝チューリングのテーゼ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が何を主張しているか説明できる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91947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937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計算できない問題が存在する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ことの意味を説明できる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　ガイダンス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この講義の見取り図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この講義は、機器のカタログを読むための科目ではない。CPU の型番も通信規格の数字も、数年で入れ替わる。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231136"/>
            <a:ext cx="1384663" cy="1188720"/>
          </a:xfrm>
          <a:prstGeom prst="roundRect">
            <a:avLst>
              <a:gd name="adj" fmla="val 4615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" y="2651760"/>
            <a:ext cx="109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計算の定義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2999232"/>
            <a:ext cx="109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第1〜2回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88751" y="2926080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1" name="Shape 9"/>
          <p:cNvSpPr/>
          <p:nvPr/>
        </p:nvSpPr>
        <p:spPr>
          <a:xfrm>
            <a:off x="2253343" y="2231136"/>
            <a:ext cx="1384663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9647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99647" y="2651760"/>
            <a:ext cx="109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回路と言語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99647" y="2999232"/>
            <a:ext cx="109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第3〜4回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6294" y="2926080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6" name="Shape 14"/>
          <p:cNvSpPr/>
          <p:nvPr/>
        </p:nvSpPr>
        <p:spPr>
          <a:xfrm>
            <a:off x="3820886" y="2231136"/>
            <a:ext cx="1384663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67190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67190" y="2651760"/>
            <a:ext cx="109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記憶の階層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67190" y="2999232"/>
            <a:ext cx="109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第5〜6回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23837" y="2926080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21" name="Shape 19"/>
          <p:cNvSpPr/>
          <p:nvPr/>
        </p:nvSpPr>
        <p:spPr>
          <a:xfrm>
            <a:off x="5388429" y="2231136"/>
            <a:ext cx="1384663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4733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4733" y="2651760"/>
            <a:ext cx="109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資源の管理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4733" y="2999232"/>
            <a:ext cx="109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第7〜8回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91379" y="2926080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26" name="Shape 24"/>
          <p:cNvSpPr/>
          <p:nvPr/>
        </p:nvSpPr>
        <p:spPr>
          <a:xfrm>
            <a:off x="6955971" y="2231136"/>
            <a:ext cx="1384663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2275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02275" y="2651760"/>
            <a:ext cx="109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02275" y="2999232"/>
            <a:ext cx="109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第9〜10回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58922" y="2926080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31" name="Shape 29"/>
          <p:cNvSpPr/>
          <p:nvPr/>
        </p:nvSpPr>
        <p:spPr>
          <a:xfrm>
            <a:off x="8523514" y="2231136"/>
            <a:ext cx="1384663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69818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69818" y="2651760"/>
            <a:ext cx="109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溜めて守る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69818" y="2999232"/>
            <a:ext cx="109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第11〜12回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926465" y="2926080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91057" y="2231136"/>
            <a:ext cx="1384663" cy="118872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37361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37361" y="2651760"/>
            <a:ext cx="1092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学習する機械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237361" y="2999232"/>
            <a:ext cx="109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第13回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369417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計算機は1940年代から性能で1兆倍近く変わった。しかし「何をする機械か」という定義は、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1936年にアラン・チューリングが書いた論文からほとんど変わっていない。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生成AIも、その定義の内側にある。だから第1回は1936年から始める。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手順を、曖昧さなく書き下すとはどういうことか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1.1　アルゴリズム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アルゴリズムの定義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051560"/>
          </a:xfrm>
          <a:prstGeom prst="roundRect">
            <a:avLst>
              <a:gd name="adj" fmla="val 5217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有限性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有限の手数で必ず終わる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051560"/>
          </a:xfrm>
          <a:prstGeom prst="roundRect">
            <a:avLst>
              <a:gd name="adj" fmla="val 5217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明確性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各ステップが曖昧さなく定まっている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051560"/>
          </a:xfrm>
          <a:prstGeom prst="roundRect">
            <a:avLst>
              <a:gd name="adj" fmla="val 5217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入力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0個以上の入力を受け取る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734056"/>
            <a:ext cx="3444240" cy="1051560"/>
          </a:xfrm>
          <a:prstGeom prst="roundRect">
            <a:avLst>
              <a:gd name="adj" fmla="val 5217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7121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出力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218688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1個以上の出力を返す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8640" y="2734056"/>
            <a:ext cx="3444240" cy="1051560"/>
          </a:xfrm>
          <a:prstGeom prst="roundRect">
            <a:avLst>
              <a:gd name="adj" fmla="val 5217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1520" y="287121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実行可能性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1520" y="3218688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各ステップが機械的に実行できる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078224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14400" y="42062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「明確さ」の要求は、思っているより厳しい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51713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料理のレシピにある「塩少々」は、アルゴリズムの条件を満たさない。実行する人の判断が入る余地があってはならない。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1.1　アルゴリズム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例：ユークリッドの互除法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2つの自然数 a, b の最大公約数を求める。紀元前300年ごろの記述が残っている。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5166360" cy="18288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32304"/>
            <a:ext cx="4764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入力: 自然数 a, b   (a &gt;= b &gt; 0)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 を b で割った余りを r とする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 = 0 なら b を出力して終了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 &lt;- b,  b &lt;- r  として 1 に戻る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a=1071, b=462 で追いかける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86000"/>
          <a:ext cx="5166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37160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回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1071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309360" y="387705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答えは 21。3回で終わった。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9377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この手順のどこにも「計算機」は出てこない。アルゴリズムは紙と鉛筆で実行できる。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1.1　アルゴリズム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互除法を図で見る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1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371600"/>
            <a:ext cx="8778240" cy="38875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46027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長方形から正方形を切り取っていくと、最後に残る正方形の一辺が最大公約数になる。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584432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余りが毎回真に小さくなり、0以上の整数は無限に減り続けられないので、必ず終わる。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1.1　アルゴリズム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「必ず終わる」は自明ではない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コラッツの手順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166360" cy="210312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29968"/>
            <a:ext cx="47640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入力: 自然数 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 = 1 なら終了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 が偶数なら n &lt;- n/2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奇数なら       n &lt;- 3n+1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1 に戻る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= 7 から始めると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→ 22 → 11 → 34 → 17 → 52 → 26 → 13 → 40 → 20 → 10 → 5 → 16 → 8 → 4 → 2 → 1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16ステップで終わった。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351129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 n で終わるかは、未解決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1206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「終わるかどうか分からない手順」が、こうも簡単に書けてしまう。この感覚が 1.3 で効いてくる。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チューリングマシン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紙と鉛筆で計算する人を、極限まで単純化する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1.2　チューリングマシン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なぜこんなものを考えるのか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「計算できる」を「アルゴリズムがある」で定義すると、今度は「機械的に実行できる」という曖昧な言葉が残る。堂々巡りになる。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9696"/>
            <a:ext cx="252603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76856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2160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紙のどこか1箇所を見て、書いてある記号を読む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0430" y="2139696"/>
            <a:ext cx="252603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3310" y="2276856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23310" y="2624328"/>
            <a:ext cx="2160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頭の中の「今どういうつもりか」と、読んだ記号から次にすることを決める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5060" y="2139696"/>
            <a:ext cx="252603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276856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7940" y="2624328"/>
            <a:ext cx="2160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そこに記号を書く。消して書き直すこともある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49690" y="2139696"/>
            <a:ext cx="252603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32570" y="2276856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32570" y="2624328"/>
            <a:ext cx="2160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視線を隣に移す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895344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14400" y="40233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チューリングが1936年にとった方針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3342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人間が紙と鉛筆で計算しているとき、その人は実際には何をしているのか。それを極限まで単純化した機械を作れば、その機械ができることが「計算」である。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48554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これを機械にしたものがチューリングマシン。部品はテープ・ヘッド・有限個の状態しかない。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1.2　チューリングマシン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チューリングマシンの構成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1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578" y="1371600"/>
            <a:ext cx="8728364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遷移規則は (現在の状態, 読んだ記号) → (書く記号, 移動方向, 次の状態) の表で完全に決まる。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1.2　チューリングマシン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例：1を足す機械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2進数が書かれたテープを受け取り、その数に1を足す。筆算と同じで、右端から見ていく。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遷移規則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5166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822960"/>
                <a:gridCol w="82296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状態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読んだ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書く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移動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次の状態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左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halt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␣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halt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387705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状態は2つ、規則は3行しかない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1011 で追いかける（[ ] がヘッド位置）</a:t>
            </a:r>
            <a:endParaRPr lang="en-US" sz="15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86000"/>
          <a:ext cx="5166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508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ステップ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テープ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状態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1 [1]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[1] 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[0] 0 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[1] 0 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halt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309360" y="42062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1100 = 12。正しい。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この機械は何桁の2進数でも動く。111 なら空白を読んで 1000 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1.2　チューリングマシン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状態遷移図で見る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1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371600"/>
            <a:ext cx="8778240" cy="3918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491625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表と同じ内容を図にしただけ。制御部の正体は「有限個の状態と、それを結ぶ矢印」である。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1.2　チューリングマシン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万能チューリングマシン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ここまでの機械は「1を足す」専用だった。ところがチューリングは、他のチューリングマシンの遷移規則表そのものをテープに書いて渡すと、それを解釈して真似する機械が作れることを示した。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85416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40864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専用機を作り分けるのではなく、1台の機械に「何をするか」をデータとして与える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1455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テープに書かれた規則表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73552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145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67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それを解釈して実行する万能機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9534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67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同じテープに置かれる入力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451713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56235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プログラムとデータが同じ場所に同じ形式で置かれる —— 第3回のノイマン型の原型が、ここにある。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計算の限界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計算できないことは、ある。しかも自然な問題で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1.3　計算の限界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チャーチ＝チューリングのテーゼ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発想はばらばらなのに、計算できる関数の集合はぴったり一致する。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108960"/>
                <a:gridCol w="48463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チューリングマシン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Turing, 1936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紙と鉛筆の計算を機械化する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λ計算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Church, 1936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関数の適用だけで計算を表す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帰納的関数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Gödel, Kleene, 1930s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基本関数と再帰から組み立てる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レジスタマシン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Shepherdson–Sturgis, 1963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無限個のレジスタを操作する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セルオートマトン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von Neumann, 1940s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単純な規則で更新される格子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197096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「直観的に計算可能」な関数は、チューリングマシンで計算可能な関数と一致する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02005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使う言語やハードウェアを変えても、計算できる問題の範囲は広がらない。GPU を1万個並べても同じ。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量子計算機も範囲は同じで、一部を速く解けるだけである。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1.3　計算の限界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停止問題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 P と入力 x が与えられたとき、「P に x を入力して実行すると、いつか停止するか」を判定せよ。これを判定する halts(P, x) は存在しない。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9696"/>
            <a:ext cx="10789920" cy="164592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286000"/>
            <a:ext cx="103875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trouble(P):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halts(P, P):        # P に P 自身を入力すると停止するか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True: pass   # 停止するなら、わざと無限ループする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            # 停止しないなら、さっさと停止する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05993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停止する とすると　halts は真を返す → trouble は無限ループに入る → 停止しない。矛盾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停止しない とすると　halts は偽を返す → trouble はすぐ return する → 停止する。矛盾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4864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どちらでも矛盾する。よって仮定が誤りで、halts は存在しない。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1.3　計算の限界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対角線論法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1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71600"/>
            <a:ext cx="6400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対角線をすべて反転させたものが trouble の振る舞い。どの行とも1マス以上食い違う。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1.1 で見たコラッツの手順が、なぜ90年も未解決なのかが、これで少し見える。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停止するかどうかを機械的に判定する一般的な方法が、そもそも存在しない。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1.3　計算の限界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決定不能な問題は、他にもある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ライスの定理：プログラムの入出力の振る舞いに関する自明でない性質は、すべて決定不能である。だからコンパイラの警告は見逃すし、テストはバグの不在を証明できない。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9696"/>
            <a:ext cx="344424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7685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近似する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「危ないかもしれない」を過剰に報告する（静的解析の偽陽性）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139696"/>
            <a:ext cx="344424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227685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対象を狭める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6243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決定可能な範囲に制限する（型システム、正規表現）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1480" y="2139696"/>
            <a:ext cx="344424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27685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人間を入れる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4360" y="26243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判断を人に委ねる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4805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技術が未熟だからではなく、原理的にそうである。現場ではこの限界を、こう迂回する。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互除法を a=252, b=105 で実行し、各ステップの (a, b, r) を書け。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テープ上の文字列に含まれる 1 の個数が偶数なら Y、奇数なら N を書いて停止するチューリングマシンの遷移規則表を作れ。（ヒント：状態は2つで足りる）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49624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9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831336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次の主張は正しいか。理由とともに答えよ。「量子コンピュータが実用化されれば、停止問題も解けるようになる。」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28616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286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910328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普段使っているソフトウェアで「決定不能性を回避するために安全側に倒している」と思われる挙動を1つ挙げ、なぜそう考えるか説明せよ。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有限性・明確性・実行可能性を満たす手順。「終わること」を確かめるのは、しばしば難しい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チューリングマシン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2249424"/>
            <a:ext cx="7132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紙と鉛筆の計算を極限まで単純化した機械。部品はテープ・ヘッド・有限個の状態しかない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万能チューリングマシン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3118104"/>
            <a:ext cx="7132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他の機械の規則表をデータとして受け取り実行する。プログラム内蔵方式の原型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チャーチ＝チューリングのテーゼ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3986784"/>
            <a:ext cx="7132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計算モデルを変えても、計算できる範囲は広がらない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停止問題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4855464"/>
            <a:ext cx="7132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計算できない。プログラムの振る舞いに関する自明でない性質は、すべて計算できない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計算できるとして、それは現実的な時間で終わるのか。そもそも情報を計算機で扱うには、どう表現すればよいのか。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第1回 計算とは何か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2026-08-09T14:08:39Z</dcterms:created>
  <dcterms:modified xsi:type="dcterms:W3CDTF">2026-08-09T14:08:39Z</dcterms:modified>
</cp:coreProperties>
</file>