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第1回　計算とは何か</a:t>
            </a:r>
            <a:endParaRPr lang="en-US" sz="4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「計算できる」とはどういうことか。計算できないことはあるか。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担当教員</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小出 洋（こいで ひろし）　情報基盤研究開発センター　情報システムセキュリティ研究部門</a:t>
            </a:r>
            <a:endParaRPr lang="en-US" sz="1500" dirty="0"/>
          </a:p>
        </p:txBody>
      </p:sp>
      <p:sp>
        <p:nvSpPr>
          <p:cNvPr id="6" name="Shape 4"/>
          <p:cNvSpPr/>
          <p:nvPr/>
        </p:nvSpPr>
        <p:spPr>
          <a:xfrm>
            <a:off x="685800" y="1883664"/>
            <a:ext cx="344424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研究</a:t>
            </a:r>
            <a:endParaRPr lang="en-US" sz="1400" dirty="0"/>
          </a:p>
        </p:txBody>
      </p:sp>
      <p:sp>
        <p:nvSpPr>
          <p:cNvPr id="8" name="Text 6"/>
          <p:cNvSpPr/>
          <p:nvPr/>
        </p:nvSpPr>
        <p:spPr>
          <a:xfrm>
            <a:off x="86868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サイバーセキュリティ。Moving Target Defense、攻撃検知と防御、IoT 機器の安全性、脅威追跡（Threat Trace）</a:t>
            </a:r>
            <a:endParaRPr lang="en-US" sz="1200" dirty="0"/>
          </a:p>
        </p:txBody>
      </p:sp>
      <p:sp>
        <p:nvSpPr>
          <p:cNvPr id="9" name="Shape 7"/>
          <p:cNvSpPr/>
          <p:nvPr/>
        </p:nvSpPr>
        <p:spPr>
          <a:xfrm>
            <a:off x="4358640" y="1883664"/>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CTF</a:t>
            </a:r>
            <a:endParaRPr lang="en-US" sz="1400" dirty="0"/>
          </a:p>
        </p:txBody>
      </p:sp>
      <p:sp>
        <p:nvSpPr>
          <p:cNvPr id="11" name="Text 9"/>
          <p:cNvSpPr/>
          <p:nvPr/>
        </p:nvSpPr>
        <p:spPr>
          <a:xfrm>
            <a:off x="454152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学生とチームを組んで参加している</a:t>
            </a:r>
            <a:endParaRPr lang="en-US" sz="1200" dirty="0"/>
          </a:p>
        </p:txBody>
      </p:sp>
      <p:sp>
        <p:nvSpPr>
          <p:cNvPr id="12" name="Shape 10"/>
          <p:cNvSpPr/>
          <p:nvPr/>
        </p:nvSpPr>
        <p:spPr>
          <a:xfrm>
            <a:off x="8031480" y="1883664"/>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教育</a:t>
            </a:r>
            <a:endParaRPr lang="en-US" sz="1400" dirty="0"/>
          </a:p>
        </p:txBody>
      </p:sp>
      <p:sp>
        <p:nvSpPr>
          <p:cNvPr id="14" name="Text 12"/>
          <p:cNvSpPr/>
          <p:nvPr/>
        </p:nvSpPr>
        <p:spPr>
          <a:xfrm>
            <a:off x="821436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九州大学で9年目。学生の指導歴は24年になる</a:t>
            </a:r>
            <a:endParaRPr lang="en-US" sz="1200" dirty="0"/>
          </a:p>
        </p:txBody>
      </p:sp>
      <p:sp>
        <p:nvSpPr>
          <p:cNvPr id="15" name="Shape 13"/>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攻撃者の次の一手を、先に読む</a:t>
            </a:r>
            <a:endParaRPr lang="en-US" sz="1500" dirty="0"/>
          </a:p>
        </p:txBody>
      </p:sp>
      <p:sp>
        <p:nvSpPr>
          <p:cNvPr id="17" name="Text 15"/>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インターネット、Web サービス、IoT 機器 —— 身近なシステムがサイバー攻撃を受けたときに、どうすれば被害を小さくできるのか。そもそも攻撃そのものを見つけられるのか。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13回のうち重きを置いているのは第12回（情報セキュリティ）と第13回（機械学習からエージェントAIへ）。他の回も、そこにつながるように並べてある。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研究室では何をしているか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研究は、この3つを回して進む。</a:t>
            </a:r>
            <a:endParaRPr lang="en-US" sz="1500" dirty="0"/>
          </a:p>
        </p:txBody>
      </p:sp>
      <p:sp>
        <p:nvSpPr>
          <p:cNvPr id="6" name="Shape 4"/>
          <p:cNvSpPr/>
          <p:nvPr/>
        </p:nvSpPr>
        <p:spPr>
          <a:xfrm>
            <a:off x="685800" y="1975104"/>
            <a:ext cx="347472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提案する</a:t>
            </a:r>
            <a:endParaRPr lang="en-US" sz="1400" dirty="0"/>
          </a:p>
        </p:txBody>
      </p:sp>
      <p:sp>
        <p:nvSpPr>
          <p:cNvPr id="9" name="Text 7"/>
          <p:cNvSpPr/>
          <p:nvPr/>
        </p:nvSpPr>
        <p:spPr>
          <a:xfrm>
            <a:off x="8321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課題を解くためのシステムを提案し、一緒に考えながら手法を設計する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作って試す</a:t>
            </a:r>
            <a:endParaRPr lang="en-US" sz="1400" dirty="0"/>
          </a:p>
        </p:txBody>
      </p:sp>
      <p:sp>
        <p:nvSpPr>
          <p:cNvPr id="14" name="Text 12"/>
          <p:cNvSpPr/>
          <p:nvPr/>
        </p:nvSpPr>
        <p:spPr>
          <a:xfrm>
            <a:off x="44897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提案したシステムを実際に構築し、実験して確かめる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外に出す</a:t>
            </a:r>
            <a:endParaRPr lang="en-US" sz="1400" dirty="0"/>
          </a:p>
        </p:txBody>
      </p:sp>
      <p:sp>
        <p:nvSpPr>
          <p:cNvPr id="19" name="Text 17"/>
          <p:cNvSpPr/>
          <p:nvPr/>
        </p:nvSpPr>
        <p:spPr>
          <a:xfrm>
            <a:off x="81473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国際会議などで発表し、フィードバックをもらう。学部生のうちから発表する学生もいる</a:t>
            </a:r>
            <a:endParaRPr lang="en-US" sz="1200" dirty="0"/>
          </a:p>
        </p:txBody>
      </p:sp>
      <p:sp>
        <p:nvSpPr>
          <p:cNvPr id="20" name="Text 1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技術の話も推しのアニメの話も同じテンションで盛り上がる研究室である。CTF にチームで出たり、勉強会を開いたり、</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「面白そうだからやってみる」が日常にある。学部生から博士課程まで、学年を越えて仲がよい。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研究室紹介の動画　https://youtu.be/SszCCza6PEM</a:t>
            </a:r>
            <a:endParaRPr lang="en-US" sz="1300" dirty="0"/>
          </a:p>
        </p:txBody>
      </p:sp>
      <p:sp>
        <p:nvSpPr>
          <p:cNvPr id="21" name="Text 19"/>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理論を学んでから手を動かすのではなく、手を動かしながら理論を深める —— この講義で毎回「手を動かして数値を出す問題」を1問入れているのも、同じ考えによる。</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この講義の進め方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90分 × 全13回。各回はこの型で進む。</a:t>
            </a:r>
            <a:endParaRPr lang="en-US" sz="1500" dirty="0"/>
          </a:p>
        </p:txBody>
      </p:sp>
      <p:sp>
        <p:nvSpPr>
          <p:cNvPr id="6" name="Shape 4"/>
          <p:cNvSpPr/>
          <p:nvPr/>
        </p:nvSpPr>
        <p:spPr>
          <a:xfrm>
            <a:off x="685800" y="1883664"/>
            <a:ext cx="3444240" cy="1234440"/>
          </a:xfrm>
          <a:prstGeom prst="roundRect">
            <a:avLst>
              <a:gd name="adj" fmla="val 4444"/>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冒頭</a:t>
            </a:r>
            <a:endParaRPr lang="en-US" sz="1400" dirty="0"/>
          </a:p>
        </p:txBody>
      </p:sp>
      <p:sp>
        <p:nvSpPr>
          <p:cNvPr id="8" name="Text 6"/>
          <p:cNvSpPr/>
          <p:nvPr/>
        </p:nvSpPr>
        <p:spPr>
          <a:xfrm>
            <a:off x="86868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前回の復習と、今回の問い —— この90分で答えを出す1つの問い</a:t>
            </a:r>
            <a:endParaRPr lang="en-US" sz="1200" dirty="0"/>
          </a:p>
        </p:txBody>
      </p:sp>
      <p:sp>
        <p:nvSpPr>
          <p:cNvPr id="9" name="Shape 7"/>
          <p:cNvSpPr/>
          <p:nvPr/>
        </p:nvSpPr>
        <p:spPr>
          <a:xfrm>
            <a:off x="4358640" y="1883664"/>
            <a:ext cx="3444240" cy="1234440"/>
          </a:xfrm>
          <a:prstGeom prst="roundRect">
            <a:avLst>
              <a:gd name="adj" fmla="val 4444"/>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本体</a:t>
            </a:r>
            <a:endParaRPr lang="en-US" sz="1400" dirty="0"/>
          </a:p>
        </p:txBody>
      </p:sp>
      <p:sp>
        <p:nvSpPr>
          <p:cNvPr id="11" name="Text 9"/>
          <p:cNvSpPr/>
          <p:nvPr/>
        </p:nvSpPr>
        <p:spPr>
          <a:xfrm>
            <a:off x="454152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3ブロック。各ブロックに図と、手を動かす例を置く</a:t>
            </a:r>
            <a:endParaRPr lang="en-US" sz="1200" dirty="0"/>
          </a:p>
        </p:txBody>
      </p:sp>
      <p:sp>
        <p:nvSpPr>
          <p:cNvPr id="12" name="Shape 10"/>
          <p:cNvSpPr/>
          <p:nvPr/>
        </p:nvSpPr>
        <p:spPr>
          <a:xfrm>
            <a:off x="8031480" y="1883664"/>
            <a:ext cx="3444240" cy="1234440"/>
          </a:xfrm>
          <a:prstGeom prst="roundRect">
            <a:avLst>
              <a:gd name="adj" fmla="val 4444"/>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終わり</a:t>
            </a:r>
            <a:endParaRPr lang="en-US" sz="1400" dirty="0"/>
          </a:p>
        </p:txBody>
      </p:sp>
      <p:sp>
        <p:nvSpPr>
          <p:cNvPr id="14" name="Text 12"/>
          <p:cNvSpPr/>
          <p:nvPr/>
        </p:nvSpPr>
        <p:spPr>
          <a:xfrm>
            <a:off x="821436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まとめと次回予告</a:t>
            </a:r>
            <a:endParaRPr lang="en-US" sz="1200" dirty="0"/>
          </a:p>
        </p:txBody>
      </p:sp>
      <p:sp>
        <p:nvSpPr>
          <p:cNvPr id="15" name="Shape 13"/>
          <p:cNvSpPr/>
          <p:nvPr/>
        </p:nvSpPr>
        <p:spPr>
          <a:xfrm>
            <a:off x="685800" y="341071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5387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演習には、手を動かして数値を出す問題を必ず1問入れてある</a:t>
            </a:r>
            <a:endParaRPr lang="en-US" sz="1500" dirty="0"/>
          </a:p>
        </p:txBody>
      </p:sp>
      <p:sp>
        <p:nvSpPr>
          <p:cNvPr id="17" name="Text 15"/>
          <p:cNvSpPr/>
          <p:nvPr/>
        </p:nvSpPr>
        <p:spPr>
          <a:xfrm>
            <a:off x="914400" y="38496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計算機科学は「桁の感覚」が身につかないと理解が定着しない。答えを覚えるのではなく、桁を見積もれるようになってほしい。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演習の解答は、ポートフォリオと一緒に Moodle で提出してもらう。</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提出物・成績評価・出席</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提出はすべて Moodle で行う。</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743200"/>
                <a:gridCol w="8046720"/>
              </a:tblGrid>
              <a:tr h="347472">
                <a:tc>
                  <a:txBody>
                    <a:bodyPr/>
                    <a:lstStyle/>
                    <a:p>
                      <a:pPr algn="l" indent="0" marL="0">
                        <a:buNone/>
                      </a:pP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ポートフォリオ と 演習問題の解答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出題から1週間以内</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成績評価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毎回の提出物で付ける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出席</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提出をもって出席とする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連絡・質問</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 で受け付ける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44568"/>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69087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毎回出すこと。それが成績であり、出席でもある</a:t>
            </a:r>
            <a:endParaRPr lang="en-US" sz="1500" dirty="0"/>
          </a:p>
        </p:txBody>
      </p:sp>
      <p:sp>
        <p:nvSpPr>
          <p:cNvPr id="9" name="Text 6"/>
          <p:cNvSpPr/>
          <p:nvPr/>
        </p:nvSpPr>
        <p:spPr>
          <a:xfrm>
            <a:off x="685800" y="536752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教科書・参考書は指定しない。講義資料と演習で完結する。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ポートフォリオに何を書くか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毎回、次の2点を書いて Moodle に出す。演習問題の解答と一緒に提出する。</a:t>
            </a:r>
            <a:endParaRPr lang="en-US" sz="1500" dirty="0"/>
          </a:p>
        </p:txBody>
      </p:sp>
      <p:sp>
        <p:nvSpPr>
          <p:cNvPr id="6" name="Shape 4"/>
          <p:cNvSpPr/>
          <p:nvPr/>
        </p:nvSpPr>
        <p:spPr>
          <a:xfrm>
            <a:off x="685800" y="1883664"/>
            <a:ext cx="5280660" cy="1737360"/>
          </a:xfrm>
          <a:prstGeom prst="roundRect">
            <a:avLst>
              <a:gd name="adj" fmla="val 3158"/>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今回の問いに、自分の言葉で答える</a:t>
            </a:r>
            <a:endParaRPr lang="en-US" sz="1400" dirty="0"/>
          </a:p>
        </p:txBody>
      </p:sp>
      <p:sp>
        <p:nvSpPr>
          <p:cNvPr id="8" name="Text 6"/>
          <p:cNvSpPr/>
          <p:nvPr/>
        </p:nvSpPr>
        <p:spPr>
          <a:xfrm>
            <a:off x="86868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各回の冒頭に「今回の問い」が1つ示される。第1回なら「「計算できる」とはどういうことか」。講義の言い回しをなぞるのではなく、自分の言葉に置き換えて書く</a:t>
            </a:r>
            <a:endParaRPr lang="en-US" sz="1200" dirty="0"/>
          </a:p>
        </p:txBody>
      </p:sp>
      <p:sp>
        <p:nvSpPr>
          <p:cNvPr id="9" name="Shape 7"/>
          <p:cNvSpPr/>
          <p:nvPr/>
        </p:nvSpPr>
        <p:spPr>
          <a:xfrm>
            <a:off x="6195060" y="1883664"/>
            <a:ext cx="5280660" cy="1737360"/>
          </a:xfrm>
          <a:prstGeom prst="roundRect">
            <a:avLst>
              <a:gd name="adj" fmla="val 3158"/>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2. 分からなかったこと</a:t>
            </a:r>
            <a:endParaRPr lang="en-US" sz="1400" dirty="0"/>
          </a:p>
        </p:txBody>
      </p:sp>
      <p:sp>
        <p:nvSpPr>
          <p:cNvPr id="11" name="Text 9"/>
          <p:cNvSpPr/>
          <p:nvPr/>
        </p:nvSpPr>
        <p:spPr>
          <a:xfrm>
            <a:off x="637794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「分からなかった」と書いて減点することはない。どこで詰まったかが分かるほうが、次の回の組み立てに活きる</a:t>
            </a:r>
            <a:endParaRPr lang="en-US" sz="1200" dirty="0"/>
          </a:p>
        </p:txBody>
      </p:sp>
      <p:sp>
        <p:nvSpPr>
          <p:cNvPr id="12" name="Shape 10"/>
          <p:cNvSpPr/>
          <p:nvPr/>
        </p:nvSpPr>
        <p:spPr>
          <a:xfrm>
            <a:off x="685800" y="391363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404164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13回ぶんが、そのまま自分の学びの記録になる</a:t>
            </a:r>
            <a:endParaRPr lang="en-US" sz="1500" dirty="0"/>
          </a:p>
        </p:txBody>
      </p:sp>
      <p:sp>
        <p:nvSpPr>
          <p:cNvPr id="14" name="Text 12"/>
          <p:cNvSpPr/>
          <p:nvPr/>
        </p:nvSpPr>
        <p:spPr>
          <a:xfrm>
            <a:off x="914400" y="435254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この講義は各回が「今回の問い」で貫かれている。13回の答えを並べると、計算の定義から生成AIまでが一本の線でつながる。最終回に、それを見返してもらう。</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分量は200文字以上。</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「計算できる」とは</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どういうことか。</a:t>
            </a:r>
            <a:endParaRPr lang="en-US" sz="3600" dirty="0"/>
          </a:p>
        </p:txBody>
      </p:sp>
      <p:sp>
        <p:nvSpPr>
          <p:cNvPr id="4" name="Text 2"/>
          <p:cNvSpPr/>
          <p:nvPr/>
        </p:nvSpPr>
        <p:spPr>
          <a:xfrm>
            <a:off x="822960" y="4114800"/>
            <a:ext cx="10607040" cy="548640"/>
          </a:xfrm>
          <a:prstGeom prst="rect">
            <a:avLst/>
          </a:prstGeom>
          <a:noFill/>
          <a:ln/>
        </p:spPr>
        <p:txBody>
          <a:bodyPr wrap="square" lIns="0" tIns="0" rIns="0" bIns="0" rtlCol="0" anchor="ctr"/>
          <a:lstStyle/>
          <a:p>
            <a:pPr indent="0" marL="0">
              <a:buNone/>
            </a:pPr>
            <a:r>
              <a:rPr lang="en-US" sz="2000" dirty="0">
                <a:solidFill>
                  <a:srgbClr val="E8EBEF"/>
                </a:solidFill>
                <a:latin typeface="Yu Gothic" pitchFamily="34" charset="0"/>
                <a:ea typeface="Yu Gothic" pitchFamily="34" charset="-122"/>
                <a:cs typeface="Yu Gothic" pitchFamily="34" charset="-120"/>
              </a:rPr>
              <a:t>そして、計算できないことはあるか。</a:t>
            </a:r>
            <a:endParaRPr lang="en-US" sz="2000" dirty="0"/>
          </a:p>
        </p:txBody>
      </p:sp>
      <p:sp>
        <p:nvSpPr>
          <p:cNvPr id="5" name="Text 3"/>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6" name="Shape 4"/>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8" name="Shape 6"/>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2" name="Shape 10"/>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6" name="Shape 14"/>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20" name="Shape 18"/>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4" name="Shape 22"/>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8" name="Shape 26"/>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1" name="Shape 29"/>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アルゴリズム</a:t>
            </a:r>
            <a:pPr indent="0" marL="0">
              <a:buNone/>
            </a:pPr>
            <a:r>
              <a:rPr lang="en-US" sz="1300" dirty="0">
                <a:solidFill>
                  <a:srgbClr val="5F6672"/>
                </a:solidFill>
                <a:latin typeface="Yu Gothic" pitchFamily="34" charset="0"/>
                <a:ea typeface="Yu Gothic" pitchFamily="34" charset="-122"/>
                <a:cs typeface="Yu Gothic" pitchFamily="34" charset="-120"/>
              </a:rPr>
              <a:t>　が満たすべき条件を挙げられる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チューリングマシン</a:t>
            </a:r>
            <a:pPr indent="0" marL="0">
              <a:buNone/>
            </a:pPr>
            <a:r>
              <a:rPr lang="en-US" sz="1300" dirty="0">
                <a:solidFill>
                  <a:srgbClr val="5F6672"/>
                </a:solidFill>
                <a:latin typeface="Yu Gothic" pitchFamily="34" charset="0"/>
                <a:ea typeface="Yu Gothic" pitchFamily="34" charset="-122"/>
                <a:cs typeface="Yu Gothic" pitchFamily="34" charset="-120"/>
              </a:rPr>
              <a:t>　の動作を追跡し、簡単な機械を設計できる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チャーチ＝チューリングのテーゼ</a:t>
            </a:r>
            <a:pPr indent="0" marL="0">
              <a:buNone/>
            </a:pPr>
            <a:r>
              <a:rPr lang="en-US" sz="1300" dirty="0">
                <a:solidFill>
                  <a:srgbClr val="5F6672"/>
                </a:solidFill>
                <a:latin typeface="Yu Gothic" pitchFamily="34" charset="0"/>
                <a:ea typeface="Yu Gothic" pitchFamily="34" charset="-122"/>
                <a:cs typeface="Yu Gothic" pitchFamily="34" charset="-120"/>
              </a:rPr>
              <a:t>　が何を主張しているか説明できる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計算できない問題が存在する</a:t>
            </a:r>
            <a:pPr indent="0" marL="0">
              <a:buNone/>
            </a:pPr>
            <a:r>
              <a:rPr lang="en-US" sz="1300" dirty="0">
                <a:solidFill>
                  <a:srgbClr val="5F6672"/>
                </a:solidFill>
                <a:latin typeface="Yu Gothic" pitchFamily="34" charset="0"/>
                <a:ea typeface="Yu Gothic" pitchFamily="34" charset="-122"/>
                <a:cs typeface="Yu Gothic" pitchFamily="34" charset="-120"/>
              </a:rPr>
              <a:t>　ことの意味を説明できる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量子計算機は範囲を変えない</a:t>
            </a:r>
            <a:pPr indent="0" marL="0">
              <a:buNone/>
            </a:pPr>
            <a:r>
              <a:rPr lang="en-US" sz="1300" dirty="0">
                <a:solidFill>
                  <a:srgbClr val="5F6672"/>
                </a:solidFill>
                <a:latin typeface="Yu Gothic" pitchFamily="34" charset="0"/>
                <a:ea typeface="Yu Gothic" pitchFamily="34" charset="-122"/>
                <a:cs typeface="Yu Gothic" pitchFamily="34" charset="-120"/>
              </a:rPr>
              <a:t>　ことを、速さの話と区別して説明できる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決定不能性は生成AIにも及ぶ</a:t>
            </a:r>
            <a:pPr indent="0" marL="0">
              <a:buNone/>
            </a:pPr>
            <a:r>
              <a:rPr lang="en-US" sz="1300" dirty="0">
                <a:solidFill>
                  <a:srgbClr val="5F6672"/>
                </a:solidFill>
                <a:latin typeface="Yu Gothic" pitchFamily="34" charset="0"/>
                <a:ea typeface="Yu Gothic" pitchFamily="34" charset="-122"/>
                <a:cs typeface="Yu Gothic" pitchFamily="34" charset="-120"/>
              </a:rPr>
              <a:t>　ことを説明できる</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この講義の見取り図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この講義は、機器のカタログを読むための科目ではない。CPU の型番も通信規格の数字も、数年で入れ替わる。</a:t>
            </a:r>
            <a:endParaRPr lang="en-US" sz="1500" dirty="0"/>
          </a:p>
        </p:txBody>
      </p:sp>
      <p:sp>
        <p:nvSpPr>
          <p:cNvPr id="6" name="Shape 4"/>
          <p:cNvSpPr/>
          <p:nvPr/>
        </p:nvSpPr>
        <p:spPr>
          <a:xfrm>
            <a:off x="685800" y="1975104"/>
            <a:ext cx="1384663" cy="1188720"/>
          </a:xfrm>
          <a:prstGeom prst="roundRect">
            <a:avLst>
              <a:gd name="adj" fmla="val 4615"/>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計算の定義</a:t>
            </a:r>
            <a:endParaRPr lang="en-US" sz="1400" dirty="0"/>
          </a:p>
        </p:txBody>
      </p:sp>
      <p:sp>
        <p:nvSpPr>
          <p:cNvPr id="9" name="Text 7"/>
          <p:cNvSpPr/>
          <p:nvPr/>
        </p:nvSpPr>
        <p:spPr>
          <a:xfrm>
            <a:off x="832104"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第1〜2回</a:t>
            </a:r>
            <a:endParaRPr lang="en-US" sz="1200" dirty="0"/>
          </a:p>
        </p:txBody>
      </p:sp>
      <p:sp>
        <p:nvSpPr>
          <p:cNvPr id="10" name="Shape 8"/>
          <p:cNvSpPr/>
          <p:nvPr/>
        </p:nvSpPr>
        <p:spPr>
          <a:xfrm>
            <a:off x="2088751" y="2670048"/>
            <a:ext cx="146304" cy="146304"/>
          </a:xfrm>
          <a:prstGeom prst="rightArrow">
            <a:avLst/>
          </a:prstGeom>
          <a:solidFill>
            <a:srgbClr val="5F6672"/>
          </a:solidFill>
          <a:ln/>
        </p:spPr>
      </p:sp>
      <p:sp>
        <p:nvSpPr>
          <p:cNvPr id="11" name="Shape 9"/>
          <p:cNvSpPr/>
          <p:nvPr/>
        </p:nvSpPr>
        <p:spPr>
          <a:xfrm>
            <a:off x="2253343" y="1975104"/>
            <a:ext cx="1384663" cy="1188720"/>
          </a:xfrm>
          <a:prstGeom prst="roundRect">
            <a:avLst>
              <a:gd name="adj" fmla="val 4615"/>
            </a:avLst>
          </a:prstGeom>
          <a:solidFill>
            <a:srgbClr val="EEF1F5"/>
          </a:solidFill>
          <a:ln w="12700">
            <a:solidFill>
              <a:srgbClr val="DDE4EC"/>
            </a:solidFill>
            <a:prstDash val="solid"/>
          </a:ln>
        </p:spPr>
      </p:sp>
      <p:sp>
        <p:nvSpPr>
          <p:cNvPr id="12" name="Text 10"/>
          <p:cNvSpPr/>
          <p:nvPr/>
        </p:nvSpPr>
        <p:spPr>
          <a:xfrm>
            <a:off x="2399647"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2399647"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回路と言語</a:t>
            </a:r>
            <a:endParaRPr lang="en-US" sz="1400" dirty="0"/>
          </a:p>
        </p:txBody>
      </p:sp>
      <p:sp>
        <p:nvSpPr>
          <p:cNvPr id="14" name="Text 12"/>
          <p:cNvSpPr/>
          <p:nvPr/>
        </p:nvSpPr>
        <p:spPr>
          <a:xfrm>
            <a:off x="2399647"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第3〜4回</a:t>
            </a:r>
            <a:endParaRPr lang="en-US" sz="1200" dirty="0"/>
          </a:p>
        </p:txBody>
      </p:sp>
      <p:sp>
        <p:nvSpPr>
          <p:cNvPr id="15" name="Shape 13"/>
          <p:cNvSpPr/>
          <p:nvPr/>
        </p:nvSpPr>
        <p:spPr>
          <a:xfrm>
            <a:off x="3656294" y="2670048"/>
            <a:ext cx="146304" cy="146304"/>
          </a:xfrm>
          <a:prstGeom prst="rightArrow">
            <a:avLst/>
          </a:prstGeom>
          <a:solidFill>
            <a:srgbClr val="5F6672"/>
          </a:solidFill>
          <a:ln/>
        </p:spPr>
      </p:sp>
      <p:sp>
        <p:nvSpPr>
          <p:cNvPr id="16" name="Shape 14"/>
          <p:cNvSpPr/>
          <p:nvPr/>
        </p:nvSpPr>
        <p:spPr>
          <a:xfrm>
            <a:off x="3820886" y="1975104"/>
            <a:ext cx="1384663" cy="1188720"/>
          </a:xfrm>
          <a:prstGeom prst="roundRect">
            <a:avLst>
              <a:gd name="adj" fmla="val 4615"/>
            </a:avLst>
          </a:prstGeom>
          <a:solidFill>
            <a:srgbClr val="EEF1F5"/>
          </a:solidFill>
          <a:ln w="12700">
            <a:solidFill>
              <a:srgbClr val="DDE4EC"/>
            </a:solidFill>
            <a:prstDash val="solid"/>
          </a:ln>
        </p:spPr>
      </p:sp>
      <p:sp>
        <p:nvSpPr>
          <p:cNvPr id="17" name="Text 15"/>
          <p:cNvSpPr/>
          <p:nvPr/>
        </p:nvSpPr>
        <p:spPr>
          <a:xfrm>
            <a:off x="3967190"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3967190"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記憶の階層</a:t>
            </a:r>
            <a:endParaRPr lang="en-US" sz="1400" dirty="0"/>
          </a:p>
        </p:txBody>
      </p:sp>
      <p:sp>
        <p:nvSpPr>
          <p:cNvPr id="19" name="Text 17"/>
          <p:cNvSpPr/>
          <p:nvPr/>
        </p:nvSpPr>
        <p:spPr>
          <a:xfrm>
            <a:off x="3967190"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第5〜6回</a:t>
            </a:r>
            <a:endParaRPr lang="en-US" sz="1200" dirty="0"/>
          </a:p>
        </p:txBody>
      </p:sp>
      <p:sp>
        <p:nvSpPr>
          <p:cNvPr id="20" name="Shape 18"/>
          <p:cNvSpPr/>
          <p:nvPr/>
        </p:nvSpPr>
        <p:spPr>
          <a:xfrm>
            <a:off x="5223837" y="2670048"/>
            <a:ext cx="146304" cy="146304"/>
          </a:xfrm>
          <a:prstGeom prst="rightArrow">
            <a:avLst/>
          </a:prstGeom>
          <a:solidFill>
            <a:srgbClr val="5F6672"/>
          </a:solidFill>
          <a:ln/>
        </p:spPr>
      </p:sp>
      <p:sp>
        <p:nvSpPr>
          <p:cNvPr id="21" name="Shape 19"/>
          <p:cNvSpPr/>
          <p:nvPr/>
        </p:nvSpPr>
        <p:spPr>
          <a:xfrm>
            <a:off x="5388429" y="1975104"/>
            <a:ext cx="1384663" cy="1188720"/>
          </a:xfrm>
          <a:prstGeom prst="roundRect">
            <a:avLst>
              <a:gd name="adj" fmla="val 4615"/>
            </a:avLst>
          </a:prstGeom>
          <a:solidFill>
            <a:srgbClr val="EEF1F5"/>
          </a:solidFill>
          <a:ln w="12700">
            <a:solidFill>
              <a:srgbClr val="DDE4EC"/>
            </a:solidFill>
            <a:prstDash val="solid"/>
          </a:ln>
        </p:spPr>
      </p:sp>
      <p:sp>
        <p:nvSpPr>
          <p:cNvPr id="22" name="Text 20"/>
          <p:cNvSpPr/>
          <p:nvPr/>
        </p:nvSpPr>
        <p:spPr>
          <a:xfrm>
            <a:off x="5534733"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5534733"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資源の管理</a:t>
            </a:r>
            <a:endParaRPr lang="en-US" sz="1400" dirty="0"/>
          </a:p>
        </p:txBody>
      </p:sp>
      <p:sp>
        <p:nvSpPr>
          <p:cNvPr id="24" name="Text 22"/>
          <p:cNvSpPr/>
          <p:nvPr/>
        </p:nvSpPr>
        <p:spPr>
          <a:xfrm>
            <a:off x="5534733"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第7〜8回</a:t>
            </a:r>
            <a:endParaRPr lang="en-US" sz="1200" dirty="0"/>
          </a:p>
        </p:txBody>
      </p:sp>
      <p:sp>
        <p:nvSpPr>
          <p:cNvPr id="25" name="Shape 23"/>
          <p:cNvSpPr/>
          <p:nvPr/>
        </p:nvSpPr>
        <p:spPr>
          <a:xfrm>
            <a:off x="6791379" y="2670048"/>
            <a:ext cx="146304" cy="146304"/>
          </a:xfrm>
          <a:prstGeom prst="rightArrow">
            <a:avLst/>
          </a:prstGeom>
          <a:solidFill>
            <a:srgbClr val="5F6672"/>
          </a:solidFill>
          <a:ln/>
        </p:spPr>
      </p:sp>
      <p:sp>
        <p:nvSpPr>
          <p:cNvPr id="26" name="Shape 24"/>
          <p:cNvSpPr/>
          <p:nvPr/>
        </p:nvSpPr>
        <p:spPr>
          <a:xfrm>
            <a:off x="6955971" y="1975104"/>
            <a:ext cx="1384663" cy="1188720"/>
          </a:xfrm>
          <a:prstGeom prst="roundRect">
            <a:avLst>
              <a:gd name="adj" fmla="val 4615"/>
            </a:avLst>
          </a:prstGeom>
          <a:solidFill>
            <a:srgbClr val="EEF1F5"/>
          </a:solidFill>
          <a:ln w="12700">
            <a:solidFill>
              <a:srgbClr val="DDE4EC"/>
            </a:solidFill>
            <a:prstDash val="solid"/>
          </a:ln>
        </p:spPr>
      </p:sp>
      <p:sp>
        <p:nvSpPr>
          <p:cNvPr id="27" name="Text 25"/>
          <p:cNvSpPr/>
          <p:nvPr/>
        </p:nvSpPr>
        <p:spPr>
          <a:xfrm>
            <a:off x="7102275"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7102275"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つなぐ</a:t>
            </a:r>
            <a:endParaRPr lang="en-US" sz="1400" dirty="0"/>
          </a:p>
        </p:txBody>
      </p:sp>
      <p:sp>
        <p:nvSpPr>
          <p:cNvPr id="29" name="Text 27"/>
          <p:cNvSpPr/>
          <p:nvPr/>
        </p:nvSpPr>
        <p:spPr>
          <a:xfrm>
            <a:off x="7102275"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第9〜10回</a:t>
            </a:r>
            <a:endParaRPr lang="en-US" sz="1200" dirty="0"/>
          </a:p>
        </p:txBody>
      </p:sp>
      <p:sp>
        <p:nvSpPr>
          <p:cNvPr id="30" name="Shape 28"/>
          <p:cNvSpPr/>
          <p:nvPr/>
        </p:nvSpPr>
        <p:spPr>
          <a:xfrm>
            <a:off x="8358922" y="2670048"/>
            <a:ext cx="146304" cy="146304"/>
          </a:xfrm>
          <a:prstGeom prst="rightArrow">
            <a:avLst/>
          </a:prstGeom>
          <a:solidFill>
            <a:srgbClr val="5F6672"/>
          </a:solidFill>
          <a:ln/>
        </p:spPr>
      </p:sp>
      <p:sp>
        <p:nvSpPr>
          <p:cNvPr id="31" name="Shape 29"/>
          <p:cNvSpPr/>
          <p:nvPr/>
        </p:nvSpPr>
        <p:spPr>
          <a:xfrm>
            <a:off x="8523514" y="1975104"/>
            <a:ext cx="1384663" cy="1188720"/>
          </a:xfrm>
          <a:prstGeom prst="roundRect">
            <a:avLst>
              <a:gd name="adj" fmla="val 4615"/>
            </a:avLst>
          </a:prstGeom>
          <a:solidFill>
            <a:srgbClr val="EEF1F5"/>
          </a:solidFill>
          <a:ln w="12700">
            <a:solidFill>
              <a:srgbClr val="DDE4EC"/>
            </a:solidFill>
            <a:prstDash val="solid"/>
          </a:ln>
        </p:spPr>
      </p:sp>
      <p:sp>
        <p:nvSpPr>
          <p:cNvPr id="32" name="Text 30"/>
          <p:cNvSpPr/>
          <p:nvPr/>
        </p:nvSpPr>
        <p:spPr>
          <a:xfrm>
            <a:off x="8669818"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6</a:t>
            </a:r>
            <a:endParaRPr lang="en-US" sz="1200" dirty="0"/>
          </a:p>
        </p:txBody>
      </p:sp>
      <p:sp>
        <p:nvSpPr>
          <p:cNvPr id="33" name="Text 31"/>
          <p:cNvSpPr/>
          <p:nvPr/>
        </p:nvSpPr>
        <p:spPr>
          <a:xfrm>
            <a:off x="8669818"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溜めて守る</a:t>
            </a:r>
            <a:endParaRPr lang="en-US" sz="1400" dirty="0"/>
          </a:p>
        </p:txBody>
      </p:sp>
      <p:sp>
        <p:nvSpPr>
          <p:cNvPr id="34" name="Text 32"/>
          <p:cNvSpPr/>
          <p:nvPr/>
        </p:nvSpPr>
        <p:spPr>
          <a:xfrm>
            <a:off x="8669818"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第11〜12回</a:t>
            </a:r>
            <a:endParaRPr lang="en-US" sz="1200" dirty="0"/>
          </a:p>
        </p:txBody>
      </p:sp>
      <p:sp>
        <p:nvSpPr>
          <p:cNvPr id="35" name="Shape 33"/>
          <p:cNvSpPr/>
          <p:nvPr/>
        </p:nvSpPr>
        <p:spPr>
          <a:xfrm>
            <a:off x="9926465" y="2670048"/>
            <a:ext cx="146304" cy="146304"/>
          </a:xfrm>
          <a:prstGeom prst="rightArrow">
            <a:avLst/>
          </a:prstGeom>
          <a:solidFill>
            <a:srgbClr val="5F6672"/>
          </a:solidFill>
          <a:ln/>
        </p:spPr>
      </p:sp>
      <p:sp>
        <p:nvSpPr>
          <p:cNvPr id="36" name="Shape 34"/>
          <p:cNvSpPr/>
          <p:nvPr/>
        </p:nvSpPr>
        <p:spPr>
          <a:xfrm>
            <a:off x="10091057" y="1975104"/>
            <a:ext cx="1384663" cy="1188720"/>
          </a:xfrm>
          <a:prstGeom prst="roundRect">
            <a:avLst>
              <a:gd name="adj" fmla="val 4615"/>
            </a:avLst>
          </a:prstGeom>
          <a:solidFill>
            <a:srgbClr val="EEF1F5"/>
          </a:solidFill>
          <a:ln w="12700">
            <a:solidFill>
              <a:srgbClr val="DDE4EC"/>
            </a:solidFill>
            <a:prstDash val="solid"/>
          </a:ln>
        </p:spPr>
      </p:sp>
      <p:sp>
        <p:nvSpPr>
          <p:cNvPr id="37" name="Text 35"/>
          <p:cNvSpPr/>
          <p:nvPr/>
        </p:nvSpPr>
        <p:spPr>
          <a:xfrm>
            <a:off x="10237361"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7</a:t>
            </a:r>
            <a:endParaRPr lang="en-US" sz="1200" dirty="0"/>
          </a:p>
        </p:txBody>
      </p:sp>
      <p:sp>
        <p:nvSpPr>
          <p:cNvPr id="38" name="Text 36"/>
          <p:cNvSpPr/>
          <p:nvPr/>
        </p:nvSpPr>
        <p:spPr>
          <a:xfrm>
            <a:off x="10237361"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学習する機械</a:t>
            </a:r>
            <a:endParaRPr lang="en-US" sz="1400" dirty="0"/>
          </a:p>
        </p:txBody>
      </p:sp>
      <p:sp>
        <p:nvSpPr>
          <p:cNvPr id="39" name="Text 37"/>
          <p:cNvSpPr/>
          <p:nvPr/>
        </p:nvSpPr>
        <p:spPr>
          <a:xfrm>
            <a:off x="10237361"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第13回</a:t>
            </a:r>
            <a:endParaRPr lang="en-US" sz="1200" dirty="0"/>
          </a:p>
        </p:txBody>
      </p:sp>
      <p:sp>
        <p:nvSpPr>
          <p:cNvPr id="40" name="Text 38"/>
          <p:cNvSpPr/>
          <p:nvPr/>
        </p:nvSpPr>
        <p:spPr>
          <a:xfrm>
            <a:off x="685800" y="34381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ENIAC(1946) は毎秒およそ5千回の加算をした。いまのノートPCは毎秒数兆回の浮動小数点演算をする。約10億倍である。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しかし「何をする機械か」という定義は、1936年にアラン・チューリングが書いた論文からほとんど変わっていない。</a:t>
            </a:r>
            <a:endParaRPr lang="en-US" sz="1300" dirty="0"/>
          </a:p>
        </p:txBody>
      </p:sp>
      <p:sp>
        <p:nvSpPr>
          <p:cNvPr id="41" name="Text 39"/>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生成AIも、その定義の内側にある。だから第1回は1936年から始める。</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なぜ、AI がコードを書く時代に原理を学ぶのか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「コードは生成AIが書いてくれる。原理を学ぶ意味はあるのか」—— 書いてくれる。しかし書かれたものを評価するのは人間である。</a:t>
            </a:r>
            <a:endParaRPr lang="en-US" sz="1500" dirty="0"/>
          </a:p>
        </p:txBody>
      </p:sp>
      <p:sp>
        <p:nvSpPr>
          <p:cNvPr id="6" name="Shape 4"/>
          <p:cNvSpPr/>
          <p:nvPr/>
        </p:nvSpPr>
        <p:spPr>
          <a:xfrm>
            <a:off x="685800" y="2084832"/>
            <a:ext cx="3444240" cy="1188720"/>
          </a:xfrm>
          <a:prstGeom prst="roundRect">
            <a:avLst>
              <a:gd name="adj" fmla="val 4615"/>
            </a:avLst>
          </a:prstGeom>
          <a:solidFill>
            <a:srgbClr val="D9E6F4"/>
          </a:solidFill>
          <a:ln w="12700">
            <a:solidFill>
              <a:srgbClr val="0B5CAD"/>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そのコードは正しいか</a:t>
            </a:r>
            <a:endParaRPr lang="en-US" sz="1400" dirty="0"/>
          </a:p>
        </p:txBody>
      </p:sp>
      <p:sp>
        <p:nvSpPr>
          <p:cNvPr id="8" name="Text 6"/>
          <p:cNvSpPr/>
          <p:nvPr/>
        </p:nvSpPr>
        <p:spPr>
          <a:xfrm>
            <a:off x="86868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AIが書いたコードを読めない人は、AIが間違えたことに気づけない</a:t>
            </a:r>
            <a:endParaRPr lang="en-US" sz="1200" dirty="0"/>
          </a:p>
        </p:txBody>
      </p:sp>
      <p:sp>
        <p:nvSpPr>
          <p:cNvPr id="9" name="Shape 7"/>
          <p:cNvSpPr/>
          <p:nvPr/>
        </p:nvSpPr>
        <p:spPr>
          <a:xfrm>
            <a:off x="4358640" y="2084832"/>
            <a:ext cx="344424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なぜ遅いのか</a:t>
            </a:r>
            <a:endParaRPr lang="en-US" sz="1400" dirty="0"/>
          </a:p>
        </p:txBody>
      </p:sp>
      <p:sp>
        <p:nvSpPr>
          <p:cNvPr id="11" name="Text 9"/>
          <p:cNvSpPr/>
          <p:nvPr/>
        </p:nvSpPr>
        <p:spPr>
          <a:xfrm>
            <a:off x="454152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どこを直せば速くなるのか。どの階層で詰まっているのか</a:t>
            </a:r>
            <a:endParaRPr lang="en-US" sz="1200" dirty="0"/>
          </a:p>
        </p:txBody>
      </p:sp>
      <p:sp>
        <p:nvSpPr>
          <p:cNvPr id="12" name="Shape 10"/>
          <p:cNvSpPr/>
          <p:nvPr/>
        </p:nvSpPr>
        <p:spPr>
          <a:xfrm>
            <a:off x="8031480" y="2084832"/>
            <a:ext cx="344424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なぜ壊れたのか</a:t>
            </a:r>
            <a:endParaRPr lang="en-US" sz="1400" dirty="0"/>
          </a:p>
        </p:txBody>
      </p:sp>
      <p:sp>
        <p:nvSpPr>
          <p:cNvPr id="14" name="Text 12"/>
          <p:cNvSpPr/>
          <p:nvPr/>
        </p:nvSpPr>
        <p:spPr>
          <a:xfrm>
            <a:off x="821436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それはどの層で起きたことなのか</a:t>
            </a:r>
            <a:endParaRPr lang="en-US" sz="1200" dirty="0"/>
          </a:p>
        </p:txBody>
      </p:sp>
      <p:sp>
        <p:nvSpPr>
          <p:cNvPr id="15" name="Shape 13"/>
          <p:cNvSpPr/>
          <p:nvPr/>
        </p:nvSpPr>
        <p:spPr>
          <a:xfrm>
            <a:off x="685800" y="356616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9417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しかも、機械には原理的にできないことがある</a:t>
            </a:r>
            <a:endParaRPr lang="en-US" sz="1500" dirty="0"/>
          </a:p>
        </p:txBody>
      </p:sp>
      <p:sp>
        <p:nvSpPr>
          <p:cNvPr id="17" name="Text 15"/>
          <p:cNvSpPr/>
          <p:nvPr/>
        </p:nvSpPr>
        <p:spPr>
          <a:xfrm>
            <a:off x="914400" y="400507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「このプログラムは正しいか」を機械が完全に判定することは、今日の後半で見るとおり原理的に不可能である。だから最後は人間が判断するしかない。技術の進歩で解消される問題ではない。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この講義が作るのは、AIと張り合う技能ではなく、AIの出力を評価できる目である。</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アルゴリズム</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手順を、曖昧さなく書き下すとはどういうことか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アルゴリズムの定義</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Shape 3"/>
          <p:cNvSpPr/>
          <p:nvPr/>
        </p:nvSpPr>
        <p:spPr>
          <a:xfrm>
            <a:off x="685800" y="1481328"/>
            <a:ext cx="3444240" cy="1051560"/>
          </a:xfrm>
          <a:prstGeom prst="roundRect">
            <a:avLst>
              <a:gd name="adj" fmla="val 5217"/>
            </a:avLst>
          </a:prstGeom>
          <a:solidFill>
            <a:srgbClr val="D9E6F4"/>
          </a:solidFill>
          <a:ln w="12700">
            <a:solidFill>
              <a:srgbClr val="0B5CAD"/>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有限性</a:t>
            </a:r>
            <a:endParaRPr lang="en-US" sz="1400" dirty="0"/>
          </a:p>
        </p:txBody>
      </p:sp>
      <p:sp>
        <p:nvSpPr>
          <p:cNvPr id="7" name="Text 5"/>
          <p:cNvSpPr/>
          <p:nvPr/>
        </p:nvSpPr>
        <p:spPr>
          <a:xfrm>
            <a:off x="86868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有限の手数で必ず終わる</a:t>
            </a:r>
            <a:endParaRPr lang="en-US" sz="1200" dirty="0"/>
          </a:p>
        </p:txBody>
      </p:sp>
      <p:sp>
        <p:nvSpPr>
          <p:cNvPr id="8" name="Shape 6"/>
          <p:cNvSpPr/>
          <p:nvPr/>
        </p:nvSpPr>
        <p:spPr>
          <a:xfrm>
            <a:off x="4358640" y="1481328"/>
            <a:ext cx="3444240" cy="1051560"/>
          </a:xfrm>
          <a:prstGeom prst="roundRect">
            <a:avLst>
              <a:gd name="adj" fmla="val 5217"/>
            </a:avLst>
          </a:prstGeom>
          <a:solidFill>
            <a:srgbClr val="D9E6F4"/>
          </a:solidFill>
          <a:ln w="12700">
            <a:solidFill>
              <a:srgbClr val="0B5CAD"/>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2. 明確性</a:t>
            </a:r>
            <a:endParaRPr lang="en-US" sz="1400" dirty="0"/>
          </a:p>
        </p:txBody>
      </p:sp>
      <p:sp>
        <p:nvSpPr>
          <p:cNvPr id="10" name="Text 8"/>
          <p:cNvSpPr/>
          <p:nvPr/>
        </p:nvSpPr>
        <p:spPr>
          <a:xfrm>
            <a:off x="454152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各ステップが曖昧さなく定まっている</a:t>
            </a:r>
            <a:endParaRPr lang="en-US" sz="1200" dirty="0"/>
          </a:p>
        </p:txBody>
      </p:sp>
      <p:sp>
        <p:nvSpPr>
          <p:cNvPr id="11" name="Shape 9"/>
          <p:cNvSpPr/>
          <p:nvPr/>
        </p:nvSpPr>
        <p:spPr>
          <a:xfrm>
            <a:off x="8031480" y="1481328"/>
            <a:ext cx="3444240" cy="1051560"/>
          </a:xfrm>
          <a:prstGeom prst="roundRect">
            <a:avLst>
              <a:gd name="adj" fmla="val 5217"/>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3. 入力</a:t>
            </a:r>
            <a:endParaRPr lang="en-US" sz="1400" dirty="0"/>
          </a:p>
        </p:txBody>
      </p:sp>
      <p:sp>
        <p:nvSpPr>
          <p:cNvPr id="13" name="Text 11"/>
          <p:cNvSpPr/>
          <p:nvPr/>
        </p:nvSpPr>
        <p:spPr>
          <a:xfrm>
            <a:off x="821436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0個以上の入力を受け取る</a:t>
            </a:r>
            <a:endParaRPr lang="en-US" sz="1200" dirty="0"/>
          </a:p>
        </p:txBody>
      </p:sp>
      <p:sp>
        <p:nvSpPr>
          <p:cNvPr id="14" name="Shape 12"/>
          <p:cNvSpPr/>
          <p:nvPr/>
        </p:nvSpPr>
        <p:spPr>
          <a:xfrm>
            <a:off x="685800" y="2734056"/>
            <a:ext cx="3444240" cy="1051560"/>
          </a:xfrm>
          <a:prstGeom prst="roundRect">
            <a:avLst>
              <a:gd name="adj" fmla="val 5217"/>
            </a:avLst>
          </a:prstGeom>
          <a:solidFill>
            <a:srgbClr val="EEF1F5"/>
          </a:solidFill>
          <a:ln w="12700">
            <a:solidFill>
              <a:srgbClr val="DDE4EC"/>
            </a:solidFill>
            <a:prstDash val="solid"/>
          </a:ln>
        </p:spPr>
      </p:sp>
      <p:sp>
        <p:nvSpPr>
          <p:cNvPr id="15" name="Text 13"/>
          <p:cNvSpPr/>
          <p:nvPr/>
        </p:nvSpPr>
        <p:spPr>
          <a:xfrm>
            <a:off x="86868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4. 出力</a:t>
            </a:r>
            <a:endParaRPr lang="en-US" sz="1400" dirty="0"/>
          </a:p>
        </p:txBody>
      </p:sp>
      <p:sp>
        <p:nvSpPr>
          <p:cNvPr id="16" name="Text 14"/>
          <p:cNvSpPr/>
          <p:nvPr/>
        </p:nvSpPr>
        <p:spPr>
          <a:xfrm>
            <a:off x="86868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1個以上の出力を返す</a:t>
            </a:r>
            <a:endParaRPr lang="en-US" sz="1200" dirty="0"/>
          </a:p>
        </p:txBody>
      </p:sp>
      <p:sp>
        <p:nvSpPr>
          <p:cNvPr id="17" name="Shape 15"/>
          <p:cNvSpPr/>
          <p:nvPr/>
        </p:nvSpPr>
        <p:spPr>
          <a:xfrm>
            <a:off x="4358640" y="2734056"/>
            <a:ext cx="3444240" cy="1051560"/>
          </a:xfrm>
          <a:prstGeom prst="roundRect">
            <a:avLst>
              <a:gd name="adj" fmla="val 5217"/>
            </a:avLst>
          </a:prstGeom>
          <a:solidFill>
            <a:srgbClr val="EEF1F5"/>
          </a:solidFill>
          <a:ln w="12700">
            <a:solidFill>
              <a:srgbClr val="DDE4EC"/>
            </a:solidFill>
            <a:prstDash val="solid"/>
          </a:ln>
        </p:spPr>
      </p:sp>
      <p:sp>
        <p:nvSpPr>
          <p:cNvPr id="18" name="Text 16"/>
          <p:cNvSpPr/>
          <p:nvPr/>
        </p:nvSpPr>
        <p:spPr>
          <a:xfrm>
            <a:off x="454152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5. 実行可能性</a:t>
            </a:r>
            <a:endParaRPr lang="en-US" sz="1400" dirty="0"/>
          </a:p>
        </p:txBody>
      </p:sp>
      <p:sp>
        <p:nvSpPr>
          <p:cNvPr id="19" name="Text 17"/>
          <p:cNvSpPr/>
          <p:nvPr/>
        </p:nvSpPr>
        <p:spPr>
          <a:xfrm>
            <a:off x="454152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各ステップが機械的に実行できる</a:t>
            </a:r>
            <a:endParaRPr lang="en-US" sz="1200" dirty="0"/>
          </a:p>
        </p:txBody>
      </p:sp>
      <p:sp>
        <p:nvSpPr>
          <p:cNvPr id="20" name="Shape 18"/>
          <p:cNvSpPr/>
          <p:nvPr/>
        </p:nvSpPr>
        <p:spPr>
          <a:xfrm>
            <a:off x="685800" y="4078224"/>
            <a:ext cx="10789920" cy="786384"/>
          </a:xfrm>
          <a:prstGeom prst="roundRect">
            <a:avLst>
              <a:gd name="adj" fmla="val 6977"/>
            </a:avLst>
          </a:prstGeom>
          <a:solidFill>
            <a:srgbClr val="FFFFFF"/>
          </a:solidFill>
          <a:ln w="19050">
            <a:solidFill>
              <a:srgbClr val="0B5CAD"/>
            </a:solidFill>
            <a:prstDash val="dash"/>
          </a:ln>
        </p:spPr>
      </p:sp>
      <p:sp>
        <p:nvSpPr>
          <p:cNvPr id="21" name="Text 19"/>
          <p:cNvSpPr/>
          <p:nvPr/>
        </p:nvSpPr>
        <p:spPr>
          <a:xfrm>
            <a:off x="914400" y="420624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「明確さ」の要求は、思っているより厳しい</a:t>
            </a:r>
            <a:endParaRPr lang="en-US" sz="1500" dirty="0"/>
          </a:p>
        </p:txBody>
      </p:sp>
      <p:sp>
        <p:nvSpPr>
          <p:cNvPr id="22" name="Text 20"/>
          <p:cNvSpPr/>
          <p:nvPr/>
        </p:nvSpPr>
        <p:spPr>
          <a:xfrm>
            <a:off x="914400" y="451713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料理のレシピにある「塩少々」は、アルゴリズムの条件を満たさない。実行する人の判断が入る余地があってはならない。</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例：ユークリッドの互除法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2つの自然数 a, b の最大公約数を求める。紀元前300年ごろの記述が残っている。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手順</a:t>
            </a:r>
            <a:endParaRPr lang="en-US" sz="1500" dirty="0"/>
          </a:p>
        </p:txBody>
      </p:sp>
      <p:sp>
        <p:nvSpPr>
          <p:cNvPr id="7" name="Shape 5"/>
          <p:cNvSpPr/>
          <p:nvPr/>
        </p:nvSpPr>
        <p:spPr>
          <a:xfrm>
            <a:off x="685800" y="2286000"/>
            <a:ext cx="5166360" cy="1828800"/>
          </a:xfrm>
          <a:prstGeom prst="roundRect">
            <a:avLst>
              <a:gd name="adj" fmla="val 2000"/>
            </a:avLst>
          </a:prstGeom>
          <a:solidFill>
            <a:srgbClr val="F5F7FA"/>
          </a:solidFill>
          <a:ln w="12700">
            <a:solidFill>
              <a:srgbClr val="DDE4EC"/>
            </a:solidFill>
            <a:prstDash val="solid"/>
          </a:ln>
        </p:spPr>
      </p:sp>
      <p:sp>
        <p:nvSpPr>
          <p:cNvPr id="8" name="Text 6"/>
          <p:cNvSpPr/>
          <p:nvPr/>
        </p:nvSpPr>
        <p:spPr>
          <a:xfrm>
            <a:off x="886968" y="2432304"/>
            <a:ext cx="4764024" cy="153619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a, b   (a &gt;= b &gt; 0)</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a を b で割った余りを r とする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r = 0 なら b を出力して終了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a &lt;- b,  b &lt;- r  として 1 に戻る</a:t>
            </a:r>
            <a:endParaRPr lang="en-US" sz="1200" dirty="0"/>
          </a:p>
        </p:txBody>
      </p:sp>
      <p:sp>
        <p:nvSpPr>
          <p:cNvPr id="9" name="Text 7"/>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a=1071, b=462 で追いかける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822960"/>
                <a:gridCol w="1463040"/>
                <a:gridCol w="1371600"/>
                <a:gridCol w="146304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回</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a</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b</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r</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1071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8"/>
          <p:cNvSpPr/>
          <p:nvPr/>
        </p:nvSpPr>
        <p:spPr>
          <a:xfrm>
            <a:off x="630936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答えは 21。3回で終わった。</a:t>
            </a:r>
            <a:endParaRPr lang="en-US" sz="1300" dirty="0"/>
          </a:p>
        </p:txBody>
      </p:sp>
      <p:sp>
        <p:nvSpPr>
          <p:cNvPr id="12" name="Text 9"/>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この手順のどこにも「計算機」は出てこない。アルゴリズムは紙と鉛筆で実行できる。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互除法を図で見る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pic>
        <p:nvPicPr>
          <p:cNvPr id="5" name="Image 0" descr="/Users/koide/Documents/Playground/CompOutline/slides/png/fig-01-01.png">    </p:cNvPr>
          <p:cNvPicPr>
            <a:picLocks noChangeAspect="1"/>
          </p:cNvPicPr>
          <p:nvPr/>
        </p:nvPicPr>
        <p:blipFill>
          <a:blip r:embed="rId1"/>
          <a:stretch>
            <a:fillRect/>
          </a:stretch>
        </p:blipFill>
        <p:spPr>
          <a:xfrm>
            <a:off x="1691640" y="1371600"/>
            <a:ext cx="8778240" cy="3887506"/>
          </a:xfrm>
          <a:prstGeom prst="rect">
            <a:avLst/>
          </a:prstGeom>
        </p:spPr>
      </p:pic>
      <p:sp>
        <p:nvSpPr>
          <p:cNvPr id="6" name="Text 3"/>
          <p:cNvSpPr/>
          <p:nvPr/>
        </p:nvSpPr>
        <p:spPr>
          <a:xfrm>
            <a:off x="685800" y="5460274"/>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長方形から正方形を切り取っていくと、最後に残る正方形の一辺が最大公約数になる。</a:t>
            </a:r>
            <a:endParaRPr lang="en-US" sz="1500" dirty="0"/>
          </a:p>
        </p:txBody>
      </p:sp>
      <p:sp>
        <p:nvSpPr>
          <p:cNvPr id="7" name="Text 4"/>
          <p:cNvSpPr/>
          <p:nvPr/>
        </p:nvSpPr>
        <p:spPr>
          <a:xfrm>
            <a:off x="685800" y="5844322"/>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余りが毎回真に小さくなり、0以上の整数は無限に減り続けられないので、必ず終わる。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「必ず終わる」は自明ではない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コラッツの手順</a:t>
            </a:r>
            <a:endParaRPr lang="en-US" sz="1500" dirty="0"/>
          </a:p>
        </p:txBody>
      </p:sp>
      <p:sp>
        <p:nvSpPr>
          <p:cNvPr id="6" name="Shape 4"/>
          <p:cNvSpPr/>
          <p:nvPr/>
        </p:nvSpPr>
        <p:spPr>
          <a:xfrm>
            <a:off x="685800" y="1883664"/>
            <a:ext cx="5166360" cy="2103120"/>
          </a:xfrm>
          <a:prstGeom prst="roundRect">
            <a:avLst>
              <a:gd name="adj" fmla="val 1739"/>
            </a:avLst>
          </a:prstGeom>
          <a:solidFill>
            <a:srgbClr val="F5F7FA"/>
          </a:solidFill>
          <a:ln w="12700">
            <a:solidFill>
              <a:srgbClr val="DDE4EC"/>
            </a:solidFill>
            <a:prstDash val="solid"/>
          </a:ln>
        </p:spPr>
      </p:sp>
      <p:sp>
        <p:nvSpPr>
          <p:cNvPr id="7" name="Text 5"/>
          <p:cNvSpPr/>
          <p:nvPr/>
        </p:nvSpPr>
        <p:spPr>
          <a:xfrm>
            <a:off x="886968" y="2029968"/>
            <a:ext cx="4764024" cy="181051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n</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n = 1 なら終了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n が偶数なら n &lt;- n/2</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奇数なら       n &lt;- 3n+1</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1 に戻る</a:t>
            </a:r>
            <a:endParaRPr lang="en-US" sz="12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n = 7 から始めると</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7 → 22 → 11 → 34 → 17 → 52 → 26 → 13 → 40 → 20 → 10 → 5 → 16 → 8 → 4 → 2 → 1</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16ステップで終わった。</a:t>
            </a:r>
            <a:endParaRPr lang="en-US" sz="1300" dirty="0"/>
          </a:p>
        </p:txBody>
      </p:sp>
      <p:sp>
        <p:nvSpPr>
          <p:cNvPr id="10" name="Text 8"/>
          <p:cNvSpPr/>
          <p:nvPr/>
        </p:nvSpPr>
        <p:spPr>
          <a:xfrm>
            <a:off x="630936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すべての n で終わるかは、未解決</a:t>
            </a:r>
            <a:endParaRPr lang="en-US" sz="1300" dirty="0"/>
          </a:p>
        </p:txBody>
      </p:sp>
      <p:sp>
        <p:nvSpPr>
          <p:cNvPr id="11" name="Text 9"/>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「終わるかどうか分からない手順」が、こうも簡単に書けてしまう。この感覚が 1.3 で効いてくる。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チューリングマシン</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紙と鉛筆で計算する人を、極限まで単純化する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なぜこんなものを考えるのか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8503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「計算できる」を「アルゴリズムがある」で定義すると、「機械的に実行できる」という曖昧な言葉が残る。堂々巡りである。しかも1928年にヒルベルトが提起した決定問題 ——「数学の命題が証明可能かを機械的に判定できるか」—— に答えるには、これを片づける必要があった。</a:t>
            </a:r>
            <a:endParaRPr lang="en-US" sz="1500" dirty="0"/>
          </a:p>
        </p:txBody>
      </p:sp>
      <p:sp>
        <p:nvSpPr>
          <p:cNvPr id="6" name="Shape 4"/>
          <p:cNvSpPr/>
          <p:nvPr/>
        </p:nvSpPr>
        <p:spPr>
          <a:xfrm>
            <a:off x="685800" y="2368296"/>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読む</a:t>
            </a:r>
            <a:endParaRPr lang="en-US" sz="1400" dirty="0"/>
          </a:p>
        </p:txBody>
      </p:sp>
      <p:sp>
        <p:nvSpPr>
          <p:cNvPr id="8" name="Text 6"/>
          <p:cNvSpPr/>
          <p:nvPr/>
        </p:nvSpPr>
        <p:spPr>
          <a:xfrm>
            <a:off x="86868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紙のどこか1箇所を見て、書いてある記号を読む</a:t>
            </a:r>
            <a:endParaRPr lang="en-US" sz="1200" dirty="0"/>
          </a:p>
        </p:txBody>
      </p:sp>
      <p:sp>
        <p:nvSpPr>
          <p:cNvPr id="9" name="Shape 7"/>
          <p:cNvSpPr/>
          <p:nvPr/>
        </p:nvSpPr>
        <p:spPr>
          <a:xfrm>
            <a:off x="3440430" y="2368296"/>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決める</a:t>
            </a:r>
            <a:endParaRPr lang="en-US" sz="1400" dirty="0"/>
          </a:p>
        </p:txBody>
      </p:sp>
      <p:sp>
        <p:nvSpPr>
          <p:cNvPr id="11" name="Text 9"/>
          <p:cNvSpPr/>
          <p:nvPr/>
        </p:nvSpPr>
        <p:spPr>
          <a:xfrm>
            <a:off x="362331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頭の中の「今どういうつもりか」と、読んだ記号から次にすることを決める</a:t>
            </a:r>
            <a:endParaRPr lang="en-US" sz="1200" dirty="0"/>
          </a:p>
        </p:txBody>
      </p:sp>
      <p:sp>
        <p:nvSpPr>
          <p:cNvPr id="12" name="Shape 10"/>
          <p:cNvSpPr/>
          <p:nvPr/>
        </p:nvSpPr>
        <p:spPr>
          <a:xfrm>
            <a:off x="6195060" y="2368296"/>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書く</a:t>
            </a:r>
            <a:endParaRPr lang="en-US" sz="1400" dirty="0"/>
          </a:p>
        </p:txBody>
      </p:sp>
      <p:sp>
        <p:nvSpPr>
          <p:cNvPr id="14" name="Text 12"/>
          <p:cNvSpPr/>
          <p:nvPr/>
        </p:nvSpPr>
        <p:spPr>
          <a:xfrm>
            <a:off x="637794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そこに記号を書く。消して書き直すこともある</a:t>
            </a:r>
            <a:endParaRPr lang="en-US" sz="1200" dirty="0"/>
          </a:p>
        </p:txBody>
      </p:sp>
      <p:sp>
        <p:nvSpPr>
          <p:cNvPr id="15" name="Shape 13"/>
          <p:cNvSpPr/>
          <p:nvPr/>
        </p:nvSpPr>
        <p:spPr>
          <a:xfrm>
            <a:off x="8949690" y="2368296"/>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動く</a:t>
            </a:r>
            <a:endParaRPr lang="en-US" sz="1400" dirty="0"/>
          </a:p>
        </p:txBody>
      </p:sp>
      <p:sp>
        <p:nvSpPr>
          <p:cNvPr id="17" name="Text 15"/>
          <p:cNvSpPr/>
          <p:nvPr/>
        </p:nvSpPr>
        <p:spPr>
          <a:xfrm>
            <a:off x="913257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視線を隣に移す</a:t>
            </a:r>
            <a:endParaRPr lang="en-US" sz="1200" dirty="0"/>
          </a:p>
        </p:txBody>
      </p:sp>
      <p:sp>
        <p:nvSpPr>
          <p:cNvPr id="18" name="Shape 16"/>
          <p:cNvSpPr/>
          <p:nvPr/>
        </p:nvSpPr>
        <p:spPr>
          <a:xfrm>
            <a:off x="685800" y="4123944"/>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425196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チューリングが1936年にとった方針</a:t>
            </a:r>
            <a:endParaRPr lang="en-US" sz="1500" dirty="0"/>
          </a:p>
        </p:txBody>
      </p:sp>
      <p:sp>
        <p:nvSpPr>
          <p:cNvPr id="20" name="Text 18"/>
          <p:cNvSpPr/>
          <p:nvPr/>
        </p:nvSpPr>
        <p:spPr>
          <a:xfrm>
            <a:off x="914400" y="456285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人間が紙と鉛筆で計算しているとき、その人は実際には何をしているのか。それを極限まで単純化した機械を作れば、その機械ができることが「計算」である。</a:t>
            </a:r>
            <a:endParaRPr lang="en-US" sz="1250" dirty="0"/>
          </a:p>
        </p:txBody>
      </p:sp>
      <p:sp>
        <p:nvSpPr>
          <p:cNvPr id="21" name="Text 19"/>
          <p:cNvSpPr/>
          <p:nvPr/>
        </p:nvSpPr>
        <p:spPr>
          <a:xfrm>
            <a:off x="685800" y="5084064"/>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これを機械にしたものがチューリングマシン。部品はテープ・ヘッド・有限個の状態しかない。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チューリングマシンの構成</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01-02.png">    </p:cNvPr>
          <p:cNvPicPr>
            <a:picLocks noChangeAspect="1"/>
          </p:cNvPicPr>
          <p:nvPr/>
        </p:nvPicPr>
        <p:blipFill>
          <a:blip r:embed="rId1"/>
          <a:stretch>
            <a:fillRect/>
          </a:stretch>
        </p:blipFill>
        <p:spPr>
          <a:xfrm>
            <a:off x="1716578" y="1371600"/>
            <a:ext cx="8728364"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遷移規則は (現在の状態, 読んだ記号) → (書く記号, 移動方向, 次の状態) の表で完全に決まる。</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例：1を足す機械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2進数が書かれたテープを受け取り、その数に1を足す。筆算と同じで、右端から見ていく。</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遷移規則</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5166360" cy="914400"/>
        </p:xfrm>
        <a:graphic>
          <a:graphicData uri="http://schemas.openxmlformats.org/drawingml/2006/table">
            <a:tbl>
              <a:tblPr/>
              <a:tblGrid>
                <a:gridCol w="1188720"/>
                <a:gridCol w="914400"/>
                <a:gridCol w="822960"/>
                <a:gridCol w="822960"/>
                <a:gridCol w="141732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読んだ</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書く</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移動</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次の状態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左</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状態は2つ、規則は3行しかない</a:t>
            </a:r>
            <a:endParaRPr lang="en-US" sz="1300" dirty="0"/>
          </a:p>
        </p:txBody>
      </p:sp>
      <p:sp>
        <p:nvSpPr>
          <p:cNvPr id="9"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1011 で追いかける（[ ] がヘッド位置）</a:t>
            </a:r>
            <a:endParaRPr lang="en-US" sz="15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1371600"/>
                <a:gridCol w="2286000"/>
                <a:gridCol w="150876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ステップ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テープ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[1]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7"/>
          <p:cNvSpPr/>
          <p:nvPr/>
        </p:nvSpPr>
        <p:spPr>
          <a:xfrm>
            <a:off x="6309360" y="4206240"/>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1100 = 12。正しい。</a:t>
            </a:r>
            <a:endParaRPr lang="en-US" sz="1300" dirty="0"/>
          </a:p>
        </p:txBody>
      </p:sp>
      <p:sp>
        <p:nvSpPr>
          <p:cNvPr id="12"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この機械は何桁の2進数でも動く。111 なら空白を読んで 1000 になる。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状態遷移図で見る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pic>
        <p:nvPicPr>
          <p:cNvPr id="5" name="Image 0" descr="/Users/koide/Documents/Playground/CompOutline/slides/png/fig-01-03.png">    </p:cNvPr>
          <p:cNvPicPr>
            <a:picLocks noChangeAspect="1"/>
          </p:cNvPicPr>
          <p:nvPr/>
        </p:nvPicPr>
        <p:blipFill>
          <a:blip r:embed="rId1"/>
          <a:stretch>
            <a:fillRect/>
          </a:stretch>
        </p:blipFill>
        <p:spPr>
          <a:xfrm>
            <a:off x="1691640" y="1371600"/>
            <a:ext cx="8778240" cy="3918857"/>
          </a:xfrm>
          <a:prstGeom prst="rect">
            <a:avLst/>
          </a:prstGeom>
        </p:spPr>
      </p:pic>
      <p:sp>
        <p:nvSpPr>
          <p:cNvPr id="6" name="Text 3"/>
          <p:cNvSpPr/>
          <p:nvPr/>
        </p:nvSpPr>
        <p:spPr>
          <a:xfrm>
            <a:off x="685800" y="5491625"/>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表と同じ内容を図にしただけ。制御部の正体は「有限個の状態と、それを結ぶ矢印」である。</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設計の手順：状態とは「覚えていられること」である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チューリングマシンには変数がない。記憶できる場所はテープと状態しかなく、しかも状態は有限個しかない。</a:t>
            </a:r>
            <a:endParaRPr lang="en-US" sz="1500" dirty="0"/>
          </a:p>
        </p:txBody>
      </p:sp>
      <p:sp>
        <p:nvSpPr>
          <p:cNvPr id="6" name="Shape 4"/>
          <p:cNvSpPr/>
          <p:nvPr/>
        </p:nvSpPr>
        <p:spPr>
          <a:xfrm>
            <a:off x="685800" y="1975104"/>
            <a:ext cx="3474720" cy="1371600"/>
          </a:xfrm>
          <a:prstGeom prst="roundRect">
            <a:avLst>
              <a:gd name="adj" fmla="val 4000"/>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何を覚えるか決める</a:t>
            </a:r>
            <a:endParaRPr lang="en-US" sz="1400" dirty="0"/>
          </a:p>
        </p:txBody>
      </p:sp>
      <p:sp>
        <p:nvSpPr>
          <p:cNvPr id="9" name="Text 7"/>
          <p:cNvSpPr/>
          <p:nvPr/>
        </p:nvSpPr>
        <p:spPr>
          <a:xfrm>
            <a:off x="8321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その種類の数が、そのまま状態の数になる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371600"/>
          </a:xfrm>
          <a:prstGeom prst="roundRect">
            <a:avLst>
              <a:gd name="adj" fmla="val 4000"/>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各状態の動作を書く</a:t>
            </a:r>
            <a:endParaRPr lang="en-US" sz="1400" dirty="0"/>
          </a:p>
        </p:txBody>
      </p:sp>
      <p:sp>
        <p:nvSpPr>
          <p:cNvPr id="14" name="Text 12"/>
          <p:cNvSpPr/>
          <p:nvPr/>
        </p:nvSpPr>
        <p:spPr>
          <a:xfrm>
            <a:off x="44897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記号を読んだときに、何を書き・どちらへ動き・次はどの状態か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371600"/>
          </a:xfrm>
          <a:prstGeom prst="roundRect">
            <a:avLst>
              <a:gd name="adj" fmla="val 4000"/>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いつ止まるかを決める</a:t>
            </a:r>
            <a:endParaRPr lang="en-US" sz="1400" dirty="0"/>
          </a:p>
        </p:txBody>
      </p:sp>
      <p:sp>
        <p:nvSpPr>
          <p:cNvPr id="19" name="Text 17"/>
          <p:cNvSpPr/>
          <p:nvPr/>
        </p:nvSpPr>
        <p:spPr>
          <a:xfrm>
            <a:off x="81473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停止状態に入る条件</a:t>
            </a:r>
            <a:endParaRPr lang="en-US" sz="1200" dirty="0"/>
          </a:p>
        </p:txBody>
      </p:sp>
      <p:sp>
        <p:nvSpPr>
          <p:cNvPr id="20" name="Text 18"/>
          <p:cNvSpPr/>
          <p:nvPr/>
        </p:nvSpPr>
        <p:spPr>
          <a:xfrm>
            <a:off x="685800" y="362102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覚えることが何もなければ状態は1つでよい（例：0 を全部 1 に書き換えて、空白で止まる機械）。</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 の個数が偶数か奇数か」を判定するには状態が2つ要る。個数そのものは覚えられないが、偶奇なら2つで足りる。</a:t>
            </a:r>
            <a:endParaRPr lang="en-US" sz="1300" dirty="0"/>
          </a:p>
        </p:txBody>
      </p:sp>
      <p:sp>
        <p:nvSpPr>
          <p:cNvPr id="21" name="Text 19"/>
          <p:cNvSpPr/>
          <p:nvPr/>
        </p:nvSpPr>
        <p:spPr>
          <a:xfrm>
            <a:off x="685800" y="55778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覚えることの数が、状態の数を決める。これが設計のほとんど唯一のコツである（演習1-2）。</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万能チューリングマシン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ここまでの機械は「1を足す」専用だった。ところがチューリングは、他のチューリングマシンの遷移規則表そのものをテープに書いて渡すと、それを解釈して真似する機械が作れることを示した。</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専用機を作り分けるのではなく、1台の機械に「何をするか」をデータとして与える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テープに書かれた規則表</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プログラム</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それを解釈して実行する万能機</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CPU</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同じテープに置かれる入力</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データ</a:t>
            </a:r>
            <a:endParaRPr lang="en-US" sz="160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プログラムとデータが同じ場所に同じ形式で置かれる —— 第3回のノイマン型の原型が、ここにある。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計算の限界</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計算できないことは、ある。しかも自然な問題で</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チャーチ＝チューリングのテーゼ</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発想はばらばらなのに、計算できる関数の集合はぴったり一致する。</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834640"/>
                <a:gridCol w="3108960"/>
                <a:gridCol w="4846320"/>
              </a:tblGrid>
              <a:tr h="347472">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モデル</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提案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発想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チューリングマシン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Turing,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紙と鉛筆の計算を機械化する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λ計算</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Church,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関数の適用だけで計算を表す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帰納的関数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Gödel, Kleene, 1930s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基本関数と再帰から組み立てる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レジスタマシン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Shepherdson–Sturgis, 1963</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無限個のレジスタを操作する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セルオートマトン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von Neumann, 1940s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単純な規則で更新される格子</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97096"/>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343400"/>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「直観的に計算可能」な関数は、チューリングマシンで計算可能な関数と一致する</a:t>
            </a:r>
            <a:endParaRPr lang="en-US" sz="1500" dirty="0"/>
          </a:p>
        </p:txBody>
      </p:sp>
      <p:sp>
        <p:nvSpPr>
          <p:cNvPr id="9" name="Text 6"/>
          <p:cNvSpPr/>
          <p:nvPr/>
        </p:nvSpPr>
        <p:spPr>
          <a:xfrm>
            <a:off x="685800" y="502005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使う言語やハードウェアを変えても、計算できる問題の範囲は広がらない。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Python でできて C でできないことはないし、GPU を1万個並べても同じである。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量子計算機は、この話を変えるか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量子チューリングマシンは、通常のチューリングマシンと同じ範囲の関数を計算することが示されている。チャーチ＝チューリングのテーゼは、いまのところ破られていない。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変わるのは「何が計算できるか」ではなく、「どれだけ速く計算できるか」である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計算できる範囲</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変わらない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計算の速さ</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変わりうる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停止問題</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解けないまま</a:t>
            </a:r>
            <a:endParaRPr lang="en-US" sz="1600" dirty="0"/>
          </a:p>
        </p:txBody>
      </p:sp>
      <p:sp>
        <p:nvSpPr>
          <p:cNvPr id="17" name="Text 15"/>
          <p:cNvSpPr/>
          <p:nvPr/>
        </p:nvSpPr>
        <p:spPr>
          <a:xfrm>
            <a:off x="685800" y="504748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Shor (1994) は素因数分解を多項式時間で解く。古典計算機では効率的な方法が知られていない。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(1996) はしらみつぶし探索を √n 回に減らす。速さをどう測るかは第2回で扱う。</a:t>
            </a:r>
            <a:endParaRPr lang="en-US" sz="1300" dirty="0"/>
          </a:p>
        </p:txBody>
      </p:sp>
      <p:sp>
        <p:nvSpPr>
          <p:cNvPr id="18" name="Text 16"/>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現在の公開鍵暗号は、素因数分解が効率的に解けないことに安全性を託している（第12回）。</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停止問題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プログラム P と入力 x が与えられたとき、「P に x を入力して実行すると、いつか停止するか」を判定せよ。これを判定する halts(P, x) は存在しない。</a:t>
            </a:r>
            <a:endParaRPr lang="en-US" sz="1500" dirty="0"/>
          </a:p>
        </p:txBody>
      </p:sp>
      <p:sp>
        <p:nvSpPr>
          <p:cNvPr id="6" name="Shape 4"/>
          <p:cNvSpPr/>
          <p:nvPr/>
        </p:nvSpPr>
        <p:spPr>
          <a:xfrm>
            <a:off x="685800" y="2084832"/>
            <a:ext cx="10789920" cy="1645920"/>
          </a:xfrm>
          <a:prstGeom prst="roundRect">
            <a:avLst>
              <a:gd name="adj" fmla="val 2222"/>
            </a:avLst>
          </a:prstGeom>
          <a:solidFill>
            <a:srgbClr val="F5F7FA"/>
          </a:solidFill>
          <a:ln w="12700">
            <a:solidFill>
              <a:srgbClr val="DDE4EC"/>
            </a:solidFill>
            <a:prstDash val="solid"/>
          </a:ln>
        </p:spPr>
      </p:sp>
      <p:sp>
        <p:nvSpPr>
          <p:cNvPr id="7" name="Text 5"/>
          <p:cNvSpPr/>
          <p:nvPr/>
        </p:nvSpPr>
        <p:spPr>
          <a:xfrm>
            <a:off x="886968" y="2231136"/>
            <a:ext cx="10387584" cy="1353312"/>
          </a:xfrm>
          <a:prstGeom prst="rect">
            <a:avLst/>
          </a:prstGeom>
          <a:noFill/>
          <a:ln/>
        </p:spPr>
        <p:txBody>
          <a:bodyPr wrap="square" lIns="0" tIns="0" rIns="0" bIns="0" rtlCol="0" anchor="t"/>
          <a:lstStyle/>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trouble(P):</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if halts(P, P):        # P に P 自身を入力すると停止するか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while True: pass   # 停止するなら、わざと無限ループする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else:</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return             # 停止しないなら、さっさと停止する</a:t>
            </a:r>
            <a:endParaRPr lang="en-US" sz="1300" dirty="0"/>
          </a:p>
        </p:txBody>
      </p:sp>
      <p:sp>
        <p:nvSpPr>
          <p:cNvPr id="8" name="Text 6"/>
          <p:cNvSpPr/>
          <p:nvPr/>
        </p:nvSpPr>
        <p:spPr>
          <a:xfrm>
            <a:off x="685800" y="4005072"/>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 とすると　halts は真を返す → trouble は無限ループに入る → 停止しない。矛盾</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停止しない とすると　halts は偽を返す → trouble はすぐ return する → 停止する。矛盾</a:t>
            </a:r>
            <a:endParaRPr lang="en-US" sz="1300" dirty="0"/>
          </a:p>
        </p:txBody>
      </p:sp>
      <p:sp>
        <p:nvSpPr>
          <p:cNvPr id="9" name="Text 7"/>
          <p:cNvSpPr/>
          <p:nvPr/>
        </p:nvSpPr>
        <p:spPr>
          <a:xfrm>
            <a:off x="685800" y="54864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どちらでも矛盾する。よって仮定が誤りで、halts は存在しない。</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対角線論法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pic>
        <p:nvPicPr>
          <p:cNvPr id="5" name="Image 0" descr="/Users/koide/Documents/Playground/CompOutline/slides/png/fig-01-04.png">    </p:cNvPr>
          <p:cNvPicPr>
            <a:picLocks noChangeAspect="1"/>
          </p:cNvPicPr>
          <p:nvPr/>
        </p:nvPicPr>
        <p:blipFill>
          <a:blip r:embed="rId1"/>
          <a:stretch>
            <a:fillRect/>
          </a:stretch>
        </p:blipFill>
        <p:spPr>
          <a:xfrm>
            <a:off x="2880360" y="1371600"/>
            <a:ext cx="6400800"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1.1 で見たコラッツの手順が、なぜ90年も未解決なのかが、これで少し見える。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停止するかどうかを機械的に判定する一般的な方法が、そもそも存在しない。</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決定不能な問題は、他にもある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ライスの定理：プログラムの入出力の振る舞いに関する自明でない性質は、すべて決定不能である。だからコンパイラの警告は見逃すし、テストはバグの不在を証明できない。</a:t>
            </a:r>
            <a:endParaRPr lang="en-US" sz="1500" dirty="0"/>
          </a:p>
        </p:txBody>
      </p:sp>
      <p:sp>
        <p:nvSpPr>
          <p:cNvPr id="6" name="Shape 4"/>
          <p:cNvSpPr/>
          <p:nvPr/>
        </p:nvSpPr>
        <p:spPr>
          <a:xfrm>
            <a:off x="685800" y="2084832"/>
            <a:ext cx="3444240" cy="1280160"/>
          </a:xfrm>
          <a:prstGeom prst="roundRect">
            <a:avLst>
              <a:gd name="adj" fmla="val 4286"/>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近似する</a:t>
            </a:r>
            <a:endParaRPr lang="en-US" sz="1400" dirty="0"/>
          </a:p>
        </p:txBody>
      </p:sp>
      <p:sp>
        <p:nvSpPr>
          <p:cNvPr id="8" name="Text 6"/>
          <p:cNvSpPr/>
          <p:nvPr/>
        </p:nvSpPr>
        <p:spPr>
          <a:xfrm>
            <a:off x="86868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「危ないかもしれない」を過剰に報告する（静的解析の偽陽性）</a:t>
            </a:r>
            <a:endParaRPr lang="en-US" sz="1200" dirty="0"/>
          </a:p>
        </p:txBody>
      </p:sp>
      <p:sp>
        <p:nvSpPr>
          <p:cNvPr id="9" name="Shape 7"/>
          <p:cNvSpPr/>
          <p:nvPr/>
        </p:nvSpPr>
        <p:spPr>
          <a:xfrm>
            <a:off x="4358640" y="2084832"/>
            <a:ext cx="3444240" cy="1280160"/>
          </a:xfrm>
          <a:prstGeom prst="roundRect">
            <a:avLst>
              <a:gd name="adj" fmla="val 4286"/>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対象を狭める</a:t>
            </a:r>
            <a:endParaRPr lang="en-US" sz="1400" dirty="0"/>
          </a:p>
        </p:txBody>
      </p:sp>
      <p:sp>
        <p:nvSpPr>
          <p:cNvPr id="11" name="Text 9"/>
          <p:cNvSpPr/>
          <p:nvPr/>
        </p:nvSpPr>
        <p:spPr>
          <a:xfrm>
            <a:off x="454152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決定可能な範囲に制限する（型システム、正規表現）</a:t>
            </a:r>
            <a:endParaRPr lang="en-US" sz="1200" dirty="0"/>
          </a:p>
        </p:txBody>
      </p:sp>
      <p:sp>
        <p:nvSpPr>
          <p:cNvPr id="12" name="Shape 10"/>
          <p:cNvSpPr/>
          <p:nvPr/>
        </p:nvSpPr>
        <p:spPr>
          <a:xfrm>
            <a:off x="8031480" y="2084832"/>
            <a:ext cx="3444240" cy="1280160"/>
          </a:xfrm>
          <a:prstGeom prst="roundRect">
            <a:avLst>
              <a:gd name="adj" fmla="val 4286"/>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人間を入れる</a:t>
            </a:r>
            <a:endParaRPr lang="en-US" sz="1400" dirty="0"/>
          </a:p>
        </p:txBody>
      </p:sp>
      <p:sp>
        <p:nvSpPr>
          <p:cNvPr id="14" name="Text 12"/>
          <p:cNvSpPr/>
          <p:nvPr/>
        </p:nvSpPr>
        <p:spPr>
          <a:xfrm>
            <a:off x="821436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判断を人に委ねる</a:t>
            </a:r>
            <a:endParaRPr lang="en-US" sz="1200" dirty="0"/>
          </a:p>
        </p:txBody>
      </p:sp>
      <p:sp>
        <p:nvSpPr>
          <p:cNvPr id="15" name="Text 13"/>
          <p:cNvSpPr/>
          <p:nvPr/>
        </p:nvSpPr>
        <p:spPr>
          <a:xfrm>
            <a:off x="685800" y="4480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技術が未熟だからではなく、原理的にそうである。現場ではこの限界を、こう迂回する。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では、生成AI は停止問題を解いているのか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「このプログラムは停止しますか」と生成AIに聞けば答えが返る。静的解析ツールも「ここでヌル参照が起きうる」と教えてくれる。これは停止問題を解いたことにならないのか。</a:t>
            </a:r>
            <a:endParaRPr lang="en-US" sz="1500" dirty="0"/>
          </a:p>
        </p:txBody>
      </p:sp>
      <p:sp>
        <p:nvSpPr>
          <p:cNvPr id="6" name="Shape 4"/>
          <p:cNvSpPr/>
          <p:nvPr/>
        </p:nvSpPr>
        <p:spPr>
          <a:xfrm>
            <a:off x="685800" y="2084832"/>
            <a:ext cx="528066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22199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答えは返ってくる</a:t>
            </a:r>
            <a:endParaRPr lang="en-US" sz="1400" dirty="0"/>
          </a:p>
        </p:txBody>
      </p:sp>
      <p:sp>
        <p:nvSpPr>
          <p:cNvPr id="8" name="Text 6"/>
          <p:cNvSpPr/>
          <p:nvPr/>
        </p:nvSpPr>
        <p:spPr>
          <a:xfrm>
            <a:off x="86868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学習した大量のコードから「この形のループはたいてい止まる」と見当をつけている。当たることは多い</a:t>
            </a:r>
            <a:endParaRPr lang="en-US" sz="1200" dirty="0"/>
          </a:p>
        </p:txBody>
      </p:sp>
      <p:sp>
        <p:nvSpPr>
          <p:cNvPr id="9" name="Shape 7"/>
          <p:cNvSpPr/>
          <p:nvPr/>
        </p:nvSpPr>
        <p:spPr>
          <a:xfrm>
            <a:off x="6195060" y="2084832"/>
            <a:ext cx="5280660" cy="1371600"/>
          </a:xfrm>
          <a:prstGeom prst="roundRect">
            <a:avLst>
              <a:gd name="adj" fmla="val 4000"/>
            </a:avLst>
          </a:prstGeom>
          <a:solidFill>
            <a:srgbClr val="D9E6F4"/>
          </a:solidFill>
          <a:ln w="12700">
            <a:solidFill>
              <a:srgbClr val="0B5CAD"/>
            </a:solidFill>
            <a:prstDash val="solid"/>
          </a:ln>
        </p:spPr>
      </p:sp>
      <p:sp>
        <p:nvSpPr>
          <p:cNvPr id="10" name="Text 8"/>
          <p:cNvSpPr/>
          <p:nvPr/>
        </p:nvSpPr>
        <p:spPr>
          <a:xfrm>
            <a:off x="6377940" y="2221992"/>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しかし保証がない</a:t>
            </a:r>
            <a:endParaRPr lang="en-US" sz="1400" dirty="0"/>
          </a:p>
        </p:txBody>
      </p:sp>
      <p:sp>
        <p:nvSpPr>
          <p:cNvPr id="11" name="Text 9"/>
          <p:cNvSpPr/>
          <p:nvPr/>
        </p:nvSpPr>
        <p:spPr>
          <a:xfrm>
            <a:off x="637794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間違っていても「分かりません」とは言わない（第13回）。どんな入力に対しても正しい、という保証がどこにもない</a:t>
            </a:r>
            <a:endParaRPr lang="en-US" sz="1200" dirty="0"/>
          </a:p>
        </p:txBody>
      </p:sp>
      <p:sp>
        <p:nvSpPr>
          <p:cNvPr id="12" name="Shape 10"/>
          <p:cNvSpPr/>
          <p:nvPr/>
        </p:nvSpPr>
        <p:spPr>
          <a:xfrm>
            <a:off x="685800" y="3749040"/>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7705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ライスの定理は、どんな方法をとってもその保証は得られないと述べている</a:t>
            </a:r>
            <a:endParaRPr lang="en-US" sz="1500" dirty="0"/>
          </a:p>
        </p:txBody>
      </p:sp>
      <p:sp>
        <p:nvSpPr>
          <p:cNvPr id="14" name="Text 12"/>
          <p:cNvSpPr/>
          <p:nvPr/>
        </p:nvSpPr>
        <p:spPr>
          <a:xfrm>
            <a:off x="914400" y="418795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学習データを増やしても、モデルを大きくしても、この壁は動かない。生成AIも静的解析も、迂回策の1つ目「近似する」をやっているにすぎない。</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機械が答えを出せることと、その答えを信用してよいことは、違う。第13回で同じ問いをもう一度扱う。</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30</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1-1</a:t>
            </a:r>
            <a:endParaRPr lang="en-US" sz="1300" dirty="0"/>
          </a:p>
        </p:txBody>
      </p:sp>
      <p:sp>
        <p:nvSpPr>
          <p:cNvPr id="7" name="Text 5"/>
          <p:cNvSpPr/>
          <p:nvPr/>
        </p:nvSpPr>
        <p:spPr>
          <a:xfrm>
            <a:off x="1783080" y="167335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互除法を a=252, b=105 で実行し、各ステップの (a, b, r) を書け。</a:t>
            </a:r>
            <a:endParaRPr lang="en-US" sz="1400" dirty="0"/>
          </a:p>
        </p:txBody>
      </p:sp>
      <p:sp>
        <p:nvSpPr>
          <p:cNvPr id="8" name="Shape 6"/>
          <p:cNvSpPr/>
          <p:nvPr/>
        </p:nvSpPr>
        <p:spPr>
          <a:xfrm>
            <a:off x="685800" y="2560320"/>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56032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a:t>
            </a:r>
            <a:endParaRPr lang="en-US" sz="1300" dirty="0"/>
          </a:p>
        </p:txBody>
      </p:sp>
      <p:sp>
        <p:nvSpPr>
          <p:cNvPr id="10" name="Text 8"/>
          <p:cNvSpPr/>
          <p:nvPr/>
        </p:nvSpPr>
        <p:spPr>
          <a:xfrm>
            <a:off x="1783080" y="254203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テープ上の文字列に含まれる 1 の個数が偶数なら Y、奇数なら N を、右端の次の空白のマスに書いて停止するチューリングマシンの遷移規則表を作れ。（ヒント：状態は2つで足りる）</a:t>
            </a:r>
            <a:endParaRPr lang="en-US" sz="1400" dirty="0"/>
          </a:p>
        </p:txBody>
      </p:sp>
      <p:sp>
        <p:nvSpPr>
          <p:cNvPr id="11" name="Shape 9"/>
          <p:cNvSpPr/>
          <p:nvPr/>
        </p:nvSpPr>
        <p:spPr>
          <a:xfrm>
            <a:off x="685800" y="3429000"/>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42900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1-3</a:t>
            </a:r>
            <a:endParaRPr lang="en-US" sz="1300" dirty="0"/>
          </a:p>
        </p:txBody>
      </p:sp>
      <p:sp>
        <p:nvSpPr>
          <p:cNvPr id="13" name="Text 11"/>
          <p:cNvSpPr/>
          <p:nvPr/>
        </p:nvSpPr>
        <p:spPr>
          <a:xfrm>
            <a:off x="1783080" y="341071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次の主張は正しいか。理由とともに答えよ。「量子コンピュータが実用化されれば、停止問題も解けるようになる。」</a:t>
            </a:r>
            <a:endParaRPr lang="en-US" sz="1400" dirty="0"/>
          </a:p>
        </p:txBody>
      </p:sp>
      <p:sp>
        <p:nvSpPr>
          <p:cNvPr id="14" name="Shape 12"/>
          <p:cNvSpPr/>
          <p:nvPr/>
        </p:nvSpPr>
        <p:spPr>
          <a:xfrm>
            <a:off x="685800" y="4297680"/>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29768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1-4</a:t>
            </a:r>
            <a:endParaRPr lang="en-US" sz="1300" dirty="0"/>
          </a:p>
        </p:txBody>
      </p:sp>
      <p:sp>
        <p:nvSpPr>
          <p:cNvPr id="16" name="Text 14"/>
          <p:cNvSpPr/>
          <p:nvPr/>
        </p:nvSpPr>
        <p:spPr>
          <a:xfrm>
            <a:off x="1783080" y="427939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普段使っているソフトウェアで「決定不能性を回避するために安全側に倒している」と思われる挙動を1つ挙げ、なぜそう考えるか説明せよ。</a:t>
            </a:r>
            <a:endParaRPr lang="en-US" sz="1400" dirty="0"/>
          </a:p>
        </p:txBody>
      </p:sp>
      <p:sp>
        <p:nvSpPr>
          <p:cNvPr id="17" name="Shape 15"/>
          <p:cNvSpPr/>
          <p:nvPr/>
        </p:nvSpPr>
        <p:spPr>
          <a:xfrm>
            <a:off x="685800" y="5166360"/>
            <a:ext cx="868680" cy="402336"/>
          </a:xfrm>
          <a:prstGeom prst="roundRect">
            <a:avLst>
              <a:gd name="adj" fmla="val 18182"/>
            </a:avLst>
          </a:prstGeom>
          <a:solidFill>
            <a:srgbClr val="D9E6F4"/>
          </a:solidFill>
          <a:ln w="12700">
            <a:solidFill>
              <a:srgbClr val="0B5CAD"/>
            </a:solidFill>
            <a:prstDash val="solid"/>
          </a:ln>
        </p:spPr>
      </p:sp>
      <p:sp>
        <p:nvSpPr>
          <p:cNvPr id="18" name="Text 16"/>
          <p:cNvSpPr/>
          <p:nvPr/>
        </p:nvSpPr>
        <p:spPr>
          <a:xfrm>
            <a:off x="685800" y="516636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1-5</a:t>
            </a:r>
            <a:endParaRPr lang="en-US" sz="1300" dirty="0"/>
          </a:p>
        </p:txBody>
      </p:sp>
      <p:sp>
        <p:nvSpPr>
          <p:cNvPr id="19" name="Text 17"/>
          <p:cNvSpPr/>
          <p:nvPr/>
        </p:nvSpPr>
        <p:spPr>
          <a:xfrm>
            <a:off x="1783080" y="514807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「このプログラムは停止しますか」と生成AIに尋ねると答えが返ってくる。これは停止問題が解けたことを意味するか。理由とともに答えよ。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アルゴリズム</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有限性・明確性・実行可能性を満たす手順。「終わること」を確かめるのは、しばしば難しい</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チューリングマシン</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紙と鉛筆の計算を極限まで単純化した機械。部品はテープ・ヘッド・有限個の状態しかない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万能チューリングマシン</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他の機械の規則表をデータとして受け取り実行する。プログラム内蔵方式の原型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チャーチ＝チューリングのテーゼ</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計算モデルを変えても、計算できる範囲は広がらない</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量子計算機</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範囲は変えない。変えるのは速さで、その帰結が第12回の公開鍵暗号に効く</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停止問題</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計算できない。プログラムの振る舞いに関する自明でない性質は、すべて計算できない</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生成AIとの関係</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AIも静的解析も、この限界を「近似」で迂回しているにすぎない</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計算できるとして、それは現実的な時間で終わるのか。そもそも情報を計算機で扱うには、どう表現すればよいのか。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計算とは何か</dc:title>
  <dc:subject>PptxGenJS Presentation</dc:subject>
  <dc:creator>九州大学 コンピュータシステム通論</dc:creator>
  <cp:lastModifiedBy>九州大学 コンピュータシステム通論</cp:lastModifiedBy>
  <cp:revision>1</cp:revision>
  <dcterms:created xsi:type="dcterms:W3CDTF">2026-09-22T02:24:23Z</dcterms:created>
  <dcterms:modified xsi:type="dcterms:W3CDTF">2026-09-22T02:24:23Z</dcterms:modified>
</cp:coreProperties>
</file>