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計算とは何か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「計算できる」とはどういうことか。計算できないことはあるか。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49377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49377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どういうことか。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そして、計算できないことはあるか。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この90分で、この1つの問いに答えを出す。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この講義の見取り図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17904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この講義は、機器のカタログを読むための科目ではない。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184708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の型番も、通信規格の数字も、数年で入れ替わる。追いかけても意味が薄い。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5895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計算の定義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3454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3454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0769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情報と計算量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第3–4回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回路と言語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3202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202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第5–6回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0517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記憶の階層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8076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第7–8回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5391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資源の管理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42950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2950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第9–10回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0265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77824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第11–12回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5139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溜めて守る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126980" y="2514600"/>
            <a:ext cx="1298448" cy="1371600"/>
          </a:xfrm>
          <a:prstGeom prst="roundRect">
            <a:avLst>
              <a:gd name="adj" fmla="val 422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26980" y="267004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200132" y="301752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学習する機械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42519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計算機は1940年代から性能で1兆倍近く変わった。しかし「何をする機械か」という定義は、1936年にアラン・チューリングが書いた論文からほとんど変わっていない。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85800" y="49377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生成AIも、その定義の内側にある。だから第1回は1936年から始める。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475488" cy="475488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188366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pPr indent="0" marL="0">
              <a:buNone/>
            </a:pPr>
            <a:r>
              <a:rPr lang="en-US" sz="15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が満たすべき条件を挙げられる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2898648"/>
            <a:ext cx="475488" cy="475488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898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93522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pPr indent="0" marL="0">
              <a:buNone/>
            </a:pPr>
            <a:r>
              <a:rPr lang="en-US" sz="15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の動作を追跡し、簡単な機械を設計できる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77240" y="3950208"/>
            <a:ext cx="475488" cy="475488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9502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98678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pPr indent="0" marL="0">
              <a:buNone/>
            </a:pPr>
            <a:r>
              <a:rPr lang="en-US" sz="15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が何を主張しているか説明できる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77240" y="5001768"/>
            <a:ext cx="475488" cy="475488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503834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計算できない問題が存在する</a:t>
            </a:r>
            <a:pPr indent="0" marL="0">
              <a:buNone/>
            </a:pPr>
            <a:r>
              <a:rPr lang="en-US" sz="15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ことの意味を説明できる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手順を、曖昧さなく書き下すとはどういうことか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アルゴリズムの定義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379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有限性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86968" y="21671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有限の手数で必ず終わる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916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8379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明確性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21671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各ステップが曖昧さなく定まっている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92440" y="16916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8379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入力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1671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0個以上の入力を受け取る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30632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32095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出力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6968" y="35387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1個以上の出力を返す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3063240"/>
            <a:ext cx="3474720" cy="1170432"/>
          </a:xfrm>
          <a:prstGeom prst="roundRect">
            <a:avLst>
              <a:gd name="adj" fmla="val 468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320954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実行可能性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0288" y="353872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各ステップが機械的に実行できる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89120" y="4434840"/>
            <a:ext cx="708660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617720" y="457200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「明確さ」の要求は、思っているより厳しい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617720" y="49560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料理のレシピにある「塩少々」は、アルゴリズムの条件を満たさない。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実行する人の判断が入る余地があってはならない。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例：ユークリッドの互除法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17904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2つの自然数 a, b の最大公約数を求める。紀元前300年ごろの記述が残っている。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512064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2084832"/>
            <a:ext cx="468172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a, b   (a &gt;= b &gt; 0)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 を b で割った余りを r とする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 = 0 なら b を出力して終了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 &lt;- b,  b &lt;- r  として 1 に戻る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920240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回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1071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172200" y="3703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 21。3回で終わった。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172200" y="40690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素因数分解して共通因数を探す方法だと、はるかに手間がかかる。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そして大きな数では現実的な時間で終わらない ——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この事実は第12回の公開鍵暗号で効いてくる。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この手順のどこにも「計算機」は出てこない。アルゴリズムは紙と鉛筆で実行できる。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互除法を図で見る</a:t>
            </a:r>
            <a:endParaRPr lang="en-US" sz="3000" dirty="0"/>
          </a:p>
        </p:txBody>
      </p:sp>
      <p:pic>
        <p:nvPicPr>
          <p:cNvPr id="4" name="Image 0" descr="/private/tmp/claude-501/-Users-koide-Documents-Playground-lune-v0-1/b97ef6c6-3431-43e3-9c6d-bf752bde035b/scratchpad/deck/png/fig-0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463040"/>
            <a:ext cx="7863840" cy="34838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166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長方形から正方形を切り取っていくと、最後に残る正方形の一辺が最大公約数になる。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余りが毎回真に小さくなり、0以上の整数は無限に減り続けられないので、必ず終わる。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「必ず終わる」は自明ではない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4754880" cy="2286000"/>
          </a:xfrm>
          <a:prstGeom prst="roundRect">
            <a:avLst>
              <a:gd name="adj" fmla="val 160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1947672"/>
            <a:ext cx="431596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n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n = 1 なら終了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 が偶数なら n &lt;- n/2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奇数なら       n &lt;- 3n+1</a:t>
            </a:r>
            <a:endParaRPr lang="en-US" sz="1250" dirty="0"/>
          </a:p>
          <a:p>
            <a:pPr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1 に戻る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コラッツの手順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52160" y="14630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7 から始めると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0" y="181051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→ 22 → 11 → 34 → 17 → 52 → 26 → 13 → 40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20 → 10 → 5 → 16 → 8 → 4 → 2 →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52160" y="2697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16ステップで終わった。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52160" y="3154680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53328" y="3291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 n について終わるかは、2026年現在も証明されていない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53328" y="36393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1937年に提起されて以来、未解決。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4572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「終わるかどうか分からない手順」が、こうも簡単に書けてしまう。この感覚が 1.3 で効いてくる。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紙と鉛筆で計算する人を、極限まで単純化する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なぜこんなものを考えるのか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3619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「計算できる」を「アルゴリズムがある」で定義すると、今度は「機械的に実行できる」という曖昧な言葉が残る。堂々巡りになる。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240280"/>
            <a:ext cx="10789920" cy="868680"/>
          </a:xfrm>
          <a:prstGeom prst="roundRect">
            <a:avLst>
              <a:gd name="adj" fmla="val 631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人間が紙と鉛筆で計算しているとき、その人は実際には何をしているのか。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それを極限まで単純化した機械を作れば、その機械ができることが「計算」である。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18211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アラン・チューリング（1912–1954）が1936年にとった方針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7033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3849624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6968" y="4178808"/>
            <a:ext cx="22037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紙のどこか1箇所を見て、書いてある記号を読む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56432" y="37033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3849624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4178808"/>
            <a:ext cx="22037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頭の中の「今どういうつもりか」と、読んだ記号から次にすることを決める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27064" y="37033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849624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8232" y="4178808"/>
            <a:ext cx="22037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そこに記号を書く。消して書き直すこともある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97696" y="370332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8864" y="3849624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98864" y="4178808"/>
            <a:ext cx="22037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視線を隣に移す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これを機械にしたものがチューリングマシン。部品はテープ・ヘッド・有限個の状態しかない。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チューリングマシンの構成</a:t>
            </a:r>
            <a:endParaRPr lang="en-US" sz="3000" dirty="0"/>
          </a:p>
        </p:txBody>
      </p:sp>
      <p:pic>
        <p:nvPicPr>
          <p:cNvPr id="4" name="Image 0" descr="/private/tmp/claude-501/-Users-koide-Documents-Playground-lune-v0-1/b97ef6c6-3431-43e3-9c6d-bf752bde035b/scratchpad/deck/png/fig-0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417320"/>
            <a:ext cx="8778240" cy="4142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遷移規則は (現在の状態, 読んだ記号) → (書く記号, 移動方向, 次の状態) の表で完全に決まる。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例：1を足す機械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4447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2進数が書かれたテープを受け取り、その数に1を足す。筆算と同じで、右端から見ていく。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96596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読んだ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書く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移動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次の状態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左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␣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703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状態は2つ、規則は3行しかない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172200" y="1847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1011 で追いかける（下線がヘッド位置）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19456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ステップ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テープ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1 [1]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[1] 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[0] 0 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[1] 0 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172200" y="42245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1100 = 12。正しい。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85800" y="4663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この機械は何桁の2進数でも動く。111 なら空白を読んで 1000 になる。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状態遷移図で見る</a:t>
            </a:r>
            <a:endParaRPr lang="en-US" sz="3000" dirty="0"/>
          </a:p>
        </p:txBody>
      </p:sp>
      <p:pic>
        <p:nvPicPr>
          <p:cNvPr id="4" name="Image 0" descr="/private/tmp/claude-501/-Users-koide-Documents-Playground-lune-v0-1/b97ef6c6-3431-43e3-9c6d-bf752bde035b/scratchpad/deck/png/fig-0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554480"/>
            <a:ext cx="6400800" cy="2862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8006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表と同じ内容を図にしただけ。制御部の正体は「有限個の状態と、それを結ぶ矢印」である。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3619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ここまでの機械は「1を足す」専用だった。ところがチューリングは、他のチューリングマシンの遷移規則表そのものをテープに書いて渡すと、それを解釈して真似する機械が作れることを示した。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10789920" cy="640080"/>
          </a:xfrm>
          <a:prstGeom prst="roundRect">
            <a:avLst>
              <a:gd name="adj" fmla="val 8571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14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専用機を作り分けるのではなく、1台の機械に「何をするか」をデータとして与える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テープに書かれた規則表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89320" y="34655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3337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3995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それを解釈して実行する万能機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89320" y="412394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812280" y="3995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80160" y="4654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同じテープに置かれる入力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89320" y="4782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812280" y="46542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プログラムとデータが同じ場所に同じ形式で置かれる —— 現在の計算機の基本設計（第3回のノイマン型）の原型が、ここにある。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589788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1936年、まだ電子計算機が1台も存在しない時点での話である。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計算の限界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計算できないことは、ある。しかも自然な問題で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17904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発想はばらばらなのに、計算できる関数の集合はぴったり一致する。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920240"/>
          <a:ext cx="10789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108960"/>
                <a:gridCol w="4846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モデル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チューリングマシン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Turing,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紙と鉛筆の計算を機械化する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λ計算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Church,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関数の適用だけで計算を表す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帰納的関数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Gödel, Kleene, 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基本関数と再帰から組み立てる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レジスタマシン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Shepherdson–Sturgis, 1963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無限個のレジスタを操作する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セルオートマトン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von Neumann, 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単純な規則で更新される格子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4434840"/>
            <a:ext cx="10789920" cy="731520"/>
          </a:xfrm>
          <a:prstGeom prst="roundRect">
            <a:avLst>
              <a:gd name="adj" fmla="val 75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59028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「直観的に計算可能」な関数は、チューリングマシンで計算可能な関数と一致する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5349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使う言語やハードウェアを変えても、計算できる問題の範囲は広がらない。GPU を1万個並べても同じ。量子計算機も範囲は同じで、一部を速く解けるだけである。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17904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 P と入力 x が与えられたとき、「P に x を入力して実行すると、いつか停止するか」を判定せよ。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これを判定する halts(P, x) は存在しない。証明は短い。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789920" cy="1691640"/>
          </a:xfrm>
          <a:prstGeom prst="roundRect">
            <a:avLst>
              <a:gd name="adj" fmla="val 216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5256" y="2450592"/>
            <a:ext cx="1035100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trouble(P):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halts(P, P):        # P に P 自身を入力すると停止するか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True: pass   # 停止するなら、わざと無限ループする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            # 停止しないなら、さっさと停止する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1605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trouble(trouble) を考える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4526280"/>
            <a:ext cx="5257800" cy="960120"/>
          </a:xfrm>
          <a:prstGeom prst="roundRect">
            <a:avLst>
              <a:gd name="adj" fmla="val 5714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4672584"/>
            <a:ext cx="4855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 とすると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86968" y="5001768"/>
            <a:ext cx="4855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halts は真を返す → trouble は無限ループに入る → 停止しない。矛盾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4526280"/>
            <a:ext cx="5257800" cy="960120"/>
          </a:xfrm>
          <a:prstGeom prst="roundRect">
            <a:avLst>
              <a:gd name="adj" fmla="val 5714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4672584"/>
            <a:ext cx="4855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停止しない とすると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19088" y="5001768"/>
            <a:ext cx="4855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halts は偽を返す → trouble はすぐ return する → 停止する。矛盾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どちらでも矛盾する。よって仮定が誤りで、halts は存在しない。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対角線論法</a:t>
            </a:r>
            <a:endParaRPr lang="en-US" sz="3000" dirty="0"/>
          </a:p>
        </p:txBody>
      </p:sp>
      <p:pic>
        <p:nvPicPr>
          <p:cNvPr id="4" name="Image 0" descr="/private/tmp/claude-501/-Users-koide-Documents-Playground-lune-v0-1/b97ef6c6-3431-43e3-9c6d-bf752bde035b/scratchpad/deck/png/fig-01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371600"/>
            <a:ext cx="4754880" cy="30540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663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対角線をすべて反転させたものが trouble の振る舞い。どの行とも1マス以上食い違うため、表のどこにも存在しえない。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" y="5120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 で見たコラッツの手順が、なぜ90年も未解決なのかが、これで少し見える。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停止するかどうかを機械的に判定する一般的な方法が、そもそも存在しない。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決定不能な問題は、他にもある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2つのプログラムが同じ関数を計算するか（プログラムの同値性）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あるプログラムが特定のバグ（ゼロ除算、メモリ破壊）を起こしうるか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あるプログラムがウイルスとして振る舞うか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28803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ライスの定理：プログラムの入出力の振る舞いに関する自明でない性質は、すべて決定不能である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246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だからコンパイラの警告は見逃すし、ウイルス対策ソフトは完璧にならないし、テストはバグの不在を証明できない。技術が未熟だからではなく、原理的にそうである。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977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現場ではこの限界を、こう迂回する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4343400"/>
            <a:ext cx="347472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448970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6968" y="4818888"/>
            <a:ext cx="30723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「危ないかもしれない」を過剰に報告する（静的解析の偽陽性）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4343400"/>
            <a:ext cx="347472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448970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対象を狭める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4818888"/>
            <a:ext cx="30723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決定可能な範囲に制限する（型システム、正規表現）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4343400"/>
            <a:ext cx="347472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4489704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人間を入れる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93608" y="4818888"/>
            <a:ext cx="30723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判断を人に委ねる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868680" cy="411480"/>
          </a:xfrm>
          <a:prstGeom prst="roundRect">
            <a:avLst>
              <a:gd name="adj" fmla="val 1777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916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783080" y="1673352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 a=252, b=105 で実行し、各ステップの (a, b, r) を書け。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770632"/>
            <a:ext cx="868680" cy="411480"/>
          </a:xfrm>
          <a:prstGeom prst="roundRect">
            <a:avLst>
              <a:gd name="adj" fmla="val 1777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7063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83080" y="2752344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テープ上の文字列に含まれる 1 の個数が偶数なら Y、奇数なら N を書いて停止するチューリングマシンの遷移規則表を作れ。（ヒント：状態は2つで足りる）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849624"/>
            <a:ext cx="868680" cy="411480"/>
          </a:xfrm>
          <a:prstGeom prst="roundRect">
            <a:avLst>
              <a:gd name="adj" fmla="val 1777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849624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83080" y="3831336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次の主張は正しいか。理由とともに答えよ。「量子コンピュータが実用化されれば、停止問題も解けるようになる。」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928616"/>
            <a:ext cx="868680" cy="411480"/>
          </a:xfrm>
          <a:prstGeom prst="roundRect">
            <a:avLst>
              <a:gd name="adj" fmla="val 1777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928616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83080" y="4910328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普段使っているソフトウェアで「決定不能性を回避するために安全側に倒している」と思われる挙動を1つ挙げ、なぜそう考えるか説明せよ。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06240" y="142646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有限性・明確性・実行可能性を満たす手順。「終わること」を確かめるのは、しばしば難しい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06240" y="229514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紙と鉛筆の計算を極限まで単純化した機械。部品はテープ・ヘッド・有限個の状態しかない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06240" y="316382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他の機械の規則表をデータとして受け取り実行する。プログラム内蔵方式の原型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06240" y="403250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計算モデルを変えても、計算できる範囲は広がらない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937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4901184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計算できない。プログラムの振る舞いに関する自明でない性質は、すべて計算できない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43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計算できるとして、それは現実的な時間で終わるのか。そもそも情報を計算機で扱うには、どう表現すればよいのか。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第1回 計算とは何か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2026-08-09T12:32:43Z</dcterms:created>
  <dcterms:modified xsi:type="dcterms:W3CDTF">2026-08-09T12:32:43Z</dcterms:modified>
</cp:coreProperties>
</file>