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　計算とは何か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「計算できる」とはどういうことか。計算できないことはあるか。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担当教員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小出 洋（こいで ひろし）　情報基盤研究開発センター　情報システムセキュリティ研究部門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737360"/>
          </a:xfrm>
          <a:prstGeom prst="roundRect">
            <a:avLst>
              <a:gd name="adj" fmla="val 3158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サイバーセキュリティ。攻撃を受けたときに被害を小さくする仕組みと、攻撃そのものを見つける仕組み。Moving Target Defense、攻撃検知と防御、IoT 機器の安全性、脅威追跡（Threat Trace）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737360"/>
          </a:xfrm>
          <a:prstGeom prst="roundRect">
            <a:avLst>
              <a:gd name="adj" fmla="val 3158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実務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福岡県警察 サイバー犯罪対策テクニカルアドバイザー　［要確認：現況］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737360"/>
          </a:xfrm>
          <a:prstGeom prst="roundRect">
            <a:avLst>
              <a:gd name="adj" fmla="val 3158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CTF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SECCON（セキュリティ技術を競う競技会）　［要確認：現況］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91363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914400" y="40416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「作って試す」——研究室のやり方であり、この講義の組み方でもある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435254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難しい理論だけでなく、実際に作って動かすことで理解を深める。この講義で毎回「手を動かして数値を出す問題」を1問入れているのも、同じ考えによる。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13回のうち重きを置いているのは第12回（情報セキュリティ）と第13回（機械学習からエージェントAIへ）。他の回も、そこにつながるように並べてある。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この講義の進め方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90分 × 全13回。各回はこの型で進む。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冒頭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前回の復習と、今回の問い —— この90分で答えを出す1つの問い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3ブロック。各ブロックに図と、手を動かす例を置く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終わり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まとめと次回予告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41071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914400" y="353872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演習には、手を動かして数値を出す問題を必ず1問入れてある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384962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計算機科学は「桁の感覚」が身につかないと理解が定着しない。答えを覚えるのではなく、桁を見積もれるようになってほしい。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演習の解答は、ポートフォリオと一緒に Moodle で提出してもらう。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提出物・成績評価・出席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提出はすべて Moodle で行う。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0467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毎回の提出物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ポートフォリオ と 演習問題の解答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提出先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Moodle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締切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［要記入］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成績評価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毎回の提出物で付ける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出席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提出をもって出席とする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連絡・質問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Moodle で受け付ける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54456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69087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毎回出すこと。それが成績であり、出席でもある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3675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［要記入：教科書・参考書］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ポートフォリオに何を書くか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毎回、次の2点を書いて Moodle に出す。演習問題の解答と一緒に提出する。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280660" cy="1737360"/>
          </a:xfrm>
          <a:prstGeom prst="roundRect">
            <a:avLst>
              <a:gd name="adj" fmla="val 3158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今回の問いに、自分の言葉で答える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49149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各回の冒頭に「今回の問い」が1つ示される。第1回なら「「計算できる」とはどういうことか」。講義の言い回しをなぞるのではなく、自分の言葉に置き換えて書く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1883664"/>
            <a:ext cx="5280660" cy="1737360"/>
          </a:xfrm>
          <a:prstGeom prst="roundRect">
            <a:avLst>
              <a:gd name="adj" fmla="val 3158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分からなかったこと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368296"/>
            <a:ext cx="49149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「分からなかった」と書いて減点することはない。どこで詰まったかが分かるほうが、次の回の組み立てに活きる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91363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914400" y="40416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13回ぶんが、そのまま自分の学びの記録になる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435254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この講義は各回が「今回の問い」で貫かれている。13回の答えを並べると、計算の定義から生成AIまでが一本の線でつながる。最終回に、それを見返してもらう。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［要記入：分量］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「計算できる」とは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どういうことか。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そして、計算できないことはあるか。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が満たすべき条件を挙げられる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の動作を追跡し、簡単な機械を設計できる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チャーチ＝チューリングのテーゼ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が何を主張しているか説明できる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計算できない問題が存在する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ことの意味を説明できる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量子計算機は範囲を変えない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ことを、速さの話と区別して説明できる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決定不能性は生成AIにも及ぶ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ことを説明できる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1.0　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この講義の見取り図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この講義は、機器のカタログを読むための科目ではない。CPU の型番も通信規格の数字も、数年で入れ替わる。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計算の定義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第1〜2回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088751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2253343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99647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99647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回路と言語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399647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第3〜4回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6294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3820886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67190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67190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記憶の階層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67190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第5〜6回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223837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429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4733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34733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資源の管理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34733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第7〜8回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791379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26" name="Shape 24"/>
          <p:cNvSpPr/>
          <p:nvPr/>
        </p:nvSpPr>
        <p:spPr>
          <a:xfrm>
            <a:off x="6955971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02275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102275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つなぐ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102275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第9〜10回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358922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31" name="Shape 29"/>
          <p:cNvSpPr/>
          <p:nvPr/>
        </p:nvSpPr>
        <p:spPr>
          <a:xfrm>
            <a:off x="8523514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69818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669818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溜めて守る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669818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第11〜12回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926465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36" name="Shape 34"/>
          <p:cNvSpPr/>
          <p:nvPr/>
        </p:nvSpPr>
        <p:spPr>
          <a:xfrm>
            <a:off x="10091057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237361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237361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学習する機械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0237361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85800" y="343814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ENIAC(1946) は毎秒およそ5千回の加算をした。いまのノートPCは毎秒数兆回の浮動小数点演算をする。約10億倍である。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しかし「何をする機械か」という定義は、1936年にアラン・チューリングが書いた論文からほとんど変わっていない。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生成AIも、その定義の内側にある。だから第1回は1936年から始める。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1.0　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なぜ、AI がコードを書く時代に原理を学ぶのか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「コードは生成AIが書いてくれる。原理を学ぶ意味はあるのか」—— 書いてくれる。しかし書かれたものを評価するのは人間である。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3444240" cy="1188720"/>
          </a:xfrm>
          <a:prstGeom prst="roundRect">
            <a:avLst>
              <a:gd name="adj" fmla="val 4615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そのコードは正しいか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569464"/>
            <a:ext cx="307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AIが書いたコードを読めない人は、AIが間違えたことに気づけない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2084832"/>
            <a:ext cx="344424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なぜ遅いのか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569464"/>
            <a:ext cx="307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どこを直せば速くなるのか。どの階層で詰まっているのか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2084832"/>
            <a:ext cx="344424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なぜ壊れたのか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569464"/>
            <a:ext cx="307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それはどの層で起きたことなのか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566160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914400" y="369417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しかも、機械には原理的にできないことがある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400507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「このプログラムは正しいか」を機械が完全に判定することは、今日の後半で見るとおり原理的に不可能である。だから最後は人間が判断するしかない。技術の進歩で解消される問題ではない。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この講義が作るのは、AIと張り合う技能ではなく、AIの出力を評価できる目である。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手順を、曖昧さなく書き下すとはどういうことか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アルゴリズムの定義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051560"/>
          </a:xfrm>
          <a:prstGeom prst="roundRect">
            <a:avLst>
              <a:gd name="adj" fmla="val 5217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有限性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有限の手数で必ず終わる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051560"/>
          </a:xfrm>
          <a:prstGeom prst="roundRect">
            <a:avLst>
              <a:gd name="adj" fmla="val 5217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明確性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各ステップが曖昧さなく定まっている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051560"/>
          </a:xfrm>
          <a:prstGeom prst="roundRect">
            <a:avLst>
              <a:gd name="adj" fmla="val 521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入力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0個以上の入力を受け取る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734056"/>
            <a:ext cx="3444240" cy="1051560"/>
          </a:xfrm>
          <a:prstGeom prst="roundRect">
            <a:avLst>
              <a:gd name="adj" fmla="val 521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287121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 出力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218688"/>
            <a:ext cx="307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1個以上の出力を返す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734056"/>
            <a:ext cx="3444240" cy="1051560"/>
          </a:xfrm>
          <a:prstGeom prst="roundRect">
            <a:avLst>
              <a:gd name="adj" fmla="val 521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287121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 実行可能性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218688"/>
            <a:ext cx="307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各ステップが機械的に実行できる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4078224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914400" y="420624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「明確さ」の要求は、思っているより厳しい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4400" y="451713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料理のレシピにある「塩少々」は、アルゴリズムの条件を満たさない。実行する人の判断が入る余地があってはならない。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例：ユークリッドの互除法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2つの自然数 a, b の最大公約数を求める。紀元前300年ごろの記述が残っている。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手順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828800"/>
          </a:xfrm>
          <a:prstGeom prst="roundRect">
            <a:avLst>
              <a:gd name="adj" fmla="val 2000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入力: 自然数 a, b   (a &gt;= b &gt; 0)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a を b で割った余りを r とする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r = 0 なら b を出力して終了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a &lt;- b,  b &lt;- r  として 1 に戻る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a=1071, b=462 で追いかける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463040"/>
                <a:gridCol w="137160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回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1071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462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147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462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147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147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309360" y="387705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答えは 21。3回で終わった。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この手順のどこにも「計算機」は出てこない。アルゴリズムは紙と鉛筆で実行できる。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互除法を図で見る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1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371600"/>
            <a:ext cx="8778240" cy="388750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46027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長方形から正方形を切り取っていくと、最後に残る正方形の一辺が最大公約数になる。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584432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余りが毎回真に小さくなり、0以上の整数は無限に減り続けられないので、必ず終わる。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「必ず終わる」は自明ではない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コラッツの手順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2103120"/>
          </a:xfrm>
          <a:prstGeom prst="roundRect">
            <a:avLst>
              <a:gd name="adj" fmla="val 1739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入力: 自然数 n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n = 1 なら終了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n が偶数なら n &lt;- n/2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奇数なら       n &lt;- 3n+1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1 に戻る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= 7 から始めると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→ 22 → 11 → 34 → 17 → 52 → 26 → 13 → 40 → 20 → 10 → 5 → 16 → 8 → 4 → 2 → 1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16ステップで終わった。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351129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すべての n で終わるかは、未解決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「終わるかどうか分からない手順」が、こうも簡単に書けてしまう。この感覚が 1.3 で効いてくる。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紙と鉛筆で計算する人を、極限まで単純化する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なぜこんなものを考えるのか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「計算できる」を「アルゴリズムがある」で定義すると、「機械的に実行できる」という曖昧な言葉が残る。堂々巡りである。しかも1928年にヒルベルトが提起した決定問題 ——「数学の命題が証明可能かを機械的に判定できるか」—— に答えるには、これを片づける必要があった。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368296"/>
            <a:ext cx="252603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5054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852928"/>
            <a:ext cx="21602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紙のどこか1箇所を見て、書いてある記号を読む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0430" y="2368296"/>
            <a:ext cx="252603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3310" y="25054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23310" y="2852928"/>
            <a:ext cx="21602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頭の中の「今どういうつもりか」と、読んだ記号から次にすることを決める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5060" y="2368296"/>
            <a:ext cx="252603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7940" y="25054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書く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7940" y="2852928"/>
            <a:ext cx="21602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そこに記号を書く。消して書き直すこともある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49690" y="2368296"/>
            <a:ext cx="252603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32570" y="25054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32570" y="2852928"/>
            <a:ext cx="21602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視線を隣に移す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123944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425196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チューリングが1936年にとった方針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5628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人間が紙と鉛筆で計算しているとき、その人は実際には何をしているのか。それを極限まで単純化した機械を作れば、その機械ができることが「計算」である。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084064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これを機械にしたものがチューリングマシン。部品はテープ・ヘッド・有限個の状態しかない。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チューリングマシンの構成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1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6578" y="1371600"/>
            <a:ext cx="8728364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遷移規則は (現在の状態, 読んだ記号) → (書く記号, 移動方向, 次の状態) の表で完全に決まる。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例：1を足す機械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2進数が書かれたテープを受け取り、その数に1を足す。筆算と同じで、右端から見ていく。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遷移規則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822960"/>
                <a:gridCol w="822960"/>
                <a:gridCol w="14173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状態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読んだ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書く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移動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次の状態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左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halt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␣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halt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387705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状態は2つ、規則は3行しかない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1011 で追いかける（[ ] がヘッド位置）</a:t>
            </a:r>
            <a:endParaRPr lang="en-US" sz="1500" dirty="0"/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15087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ステップ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テープ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状態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0 1 [1]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0 [1] 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[0] 0 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[1] 0 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halt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6309360" y="420624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1100 = 12。正しい。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この機械は何桁の2進数でも動く。111 なら空白を読んで 1000 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状態遷移図で見る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1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371600"/>
            <a:ext cx="8778240" cy="39188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491625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表と同じ内容を図にしただけ。制御部の正体は「有限個の状態と、それを結ぶ矢印」である。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設計の手順：状態とは「覚えていられること」である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チューリングマシンには変数がない。記憶できる場所はテープと状態しかなく、しかも状態は有限個しかない。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3474720" cy="1371600"/>
          </a:xfrm>
          <a:prstGeom prst="roundRect">
            <a:avLst>
              <a:gd name="adj" fmla="val 4000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何を覚えるか決める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その種類の数が、そのまま状態の数になる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788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975104"/>
            <a:ext cx="347472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97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97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各状態の動作を書く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9704" y="274320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記号を読んだときに、何を書き・どちらへ動き・次はどの状態か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364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01000" y="1975104"/>
            <a:ext cx="347472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473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473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いつ止まるかを決める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47304" y="274320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停止状態に入る条件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3621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覚えることが何もなければ状態は1つでよい（例：0 を全部 1 に書き換えて、空白で止まる機械）。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 の個数が偶数か奇数か」を判定するには状態が2つ要る。個数そのものは覚えられないが、偶奇なら2つで足りる。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5778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覚えることの数が、状態の数を決める。これが設計のほとんど唯一のコツである（演習1-2）。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万能チューリングマシン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ここまでの機械は「1を足す」専用だった。ところがチューリングは、他のチューリングマシンの遷移規則表そのものをテープに書いて渡すと、それを解釈して真似する機械が作れることを示した。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専用機を作り分けるのではなく、1台の機械に「何をするか」をデータとして与える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テープに書かれた規則表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それを解釈して実行する万能機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同じテープに置かれる入力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623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プログラムとデータが同じ場所に同じ形式で置かれる —— 第3回のノイマン型の原型が、ここにある。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計算の限界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計算できないことは、ある。しかも自然な問題で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チャーチ＝チューリングのテーゼ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発想はばらばらなのに、計算できる関数の集合はぴったり一致する。</a:t>
            </a:r>
            <a:endParaRPr lang="en-US" sz="15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108960"/>
                <a:gridCol w="48463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モデル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提案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チューリングマシン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Turing, 1936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紙と鉛筆の計算を機械化する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λ計算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Church, 1936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関数の適用だけで計算を表す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帰納的関数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Gödel, Kleene, 1930s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基本関数と再帰から組み立てる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レジスタマシン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Shepherdson–Sturgis, 1963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無限個のレジスタを操作する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セルオートマトン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von Neumann, 1940s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単純な規則で更新される格子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197096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3434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「直観的に計算可能」な関数は、チューリングマシンで計算可能な関数と一致する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02005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使う言語やハードウェアを変えても、計算できる問題の範囲は広がらない。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Python でできて C でできないことはないし、GPU を1万個並べても同じである。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量子計算機は、この話を変えるか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量子チューリングマシンは、通常のチューリングマシンと同じ範囲の関数を計算することが示されている。チャーチ＝チューリングのテーゼは、いまのところ破られていない。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変わるのは「何が計算できるか」ではなく、「どれだけ速く計算できるか」である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計算できる範囲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変わらない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計算の速さ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変わりうる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解けないまま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Shor (1994) は素因数分解を多項式時間で解く。古典計算機では効率的な方法が知られていない。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Grover (1996) はしらみつぶし探索を √n 回に減らす。速さをどう測るかは第2回で扱う。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現在の公開鍵暗号は、素因数分解が効率的に解けないことに安全性を託している（第12回）。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 P と入力 x が与えられたとき、「P に x を入力して実行すると、いつか停止するか」を判定せよ。これを判定する halts(P, x) は存在しない。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10789920" cy="1645920"/>
          </a:xfrm>
          <a:prstGeom prst="roundRect">
            <a:avLst>
              <a:gd name="adj" fmla="val 2222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231136"/>
            <a:ext cx="1038758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trouble(P):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halts(P, P):        # P に P 自身を入力すると停止するか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True: pass   # 停止するなら、わざと無限ループする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            # 停止しないなら、さっさと停止する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40050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停止する とすると　halts は真を返す → trouble は無限ループに入る → 停止しない。矛盾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停止しない とすると　halts は偽を返す → trouble はすぐ return する → 停止する。矛盾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4864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どちらでも矛盾する。よって仮定が誤りで、halts は存在しない。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対角線論法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1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0" y="1371600"/>
            <a:ext cx="64008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対角線をすべて反転させたものが trouble の振る舞い。どの行とも1マス以上食い違う。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 で見たコラッツの手順が、なぜ90年も未解決なのかが、これで少し見える。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停止するかどうかを機械的に判定する一般的な方法が、そもそも存在しない。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決定不能な問題は、他にもある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ライスの定理：プログラムの入出力の振る舞いに関する自明でない性質は、すべて決定不能である。だからコンパイラの警告は見逃すし、テストはバグの不在を証明できない。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344424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近似する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569464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「危ないかもしれない」を過剰に報告する（静的解析の偽陽性）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2084832"/>
            <a:ext cx="344424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対象を狭める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569464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決定可能な範囲に制限する（型システム、正規表現）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2084832"/>
            <a:ext cx="344424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人間を入れる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569464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判断を人に委ねる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480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技術が未熟だからではなく、原理的にそうである。現場ではこの限界を、こう迂回する。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では、生成AI は停止問題を解いているのか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「このプログラムは停止しますか」と生成AIに聞けば答えが返る。静的解析ツールも「ここでヌル参照が起きうる」と教えてくれる。これは停止問題を解いたことにならないのか。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219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答えは返ってくる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569464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学習した大量のコードから「この形のループはたいてい止まる」と見当をつけている。当たることは多い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2084832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2219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しかし保証がない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569464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間違っていても「分かりません」とは言わない（第13回）。どんな入力に対しても正しい、という保証がどこにもない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749040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914400" y="38770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ライスの定理は、どんな方法をとってもその保証は得られないと述べている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418795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学習データを増やしても、モデルを大きくしても、この壁は動かない。生成AIも静的解析も、迂回策の1つ目「近似する」をやっているにすぎない。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機械が答えを出せることと、その答えを信用してよいことは、違う。第13回で同じ問いをもう一度扱う。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互除法を a=252, b=105 で実行し、各ステップの (a, b, r) を書け。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6032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54203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テープ上の文字列に含まれる 1 の個数が偶数なら Y、奇数なら N を書いて停止するチューリングマシンの遷移規則表を作れ。（ヒント：状態は2つで足りる）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2900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4290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41071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次の主張は正しいか。理由とともに答えよ。「量子コンピュータが実用化されれば、停止問題も解けるようになる。」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27939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普段使っているソフトウェアで「決定不能性を回避するために安全側に倒している」と思われる挙動を1つ挙げ、なぜそう考えるか説明せよ。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16636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66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14807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「このプログラムは停止しますか」と生成AIに尋ねると答えが返ってくる。これは停止問題が解けたことを意味するか。理由とともに答えよ。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有限性・明確性・実行可能性を満たす手順。「終わること」を確かめるのは、しばしば難しい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039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紙と鉛筆の計算を極限まで単純化した機械。部品はテープ・ヘッド・有限個の状態しかない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340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万能チューリングマシン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697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他の機械の規則表をデータとして受け取り実行する。プログラム内蔵方式の原型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3924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チャーチ＝チューリングのテーゼ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355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計算モデルを変えても、計算できる範囲は広がらない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0507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1421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範囲は変えない。変えるのは速さで、その帰結が第12回の公開鍵暗号に効く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467258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計算できない。プログラムの振る舞いに関する自明でない性質は、すべて計算できない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3675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生成AIとの関係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533095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AIも静的解析も、この限界を「近似」で迂回しているにすぎない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計算できるとして、それは現実的な時間で終わるのか。そもそも情報を計算機で扱うには、どう表現すればよいのか。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第1回 計算とは何か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2026-09-21T09:03:31Z</dcterms:created>
  <dcterms:modified xsi:type="dcterms:W3CDTF">2026-09-21T09:03:31Z</dcterms:modified>
</cp:coreProperties>
</file>