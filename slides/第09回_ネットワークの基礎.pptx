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ネットワークの基礎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世界中の計算機が、なぜ1つの網としてつながるのか。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世界中の計算機が、なぜ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1つの網としてつながるのか。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回線交換とパケット交換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の違いと、それぞれの利点を説明できる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249631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496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51460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階層モデル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の意義と、カプセル化の仕組みを説明できる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77240" y="322783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227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24612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インターネットの構造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を、AS と IX の観点から説明できる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395935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959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397764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Ethernet とスイッチ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の転送と学習の動作を説明できる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77240" y="469087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690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47091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MAC アドレスと IP アドレス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の役割の違いを説明できる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77240" y="54223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422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17320" y="54406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IP アドレスとサブネット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の構造を説明し、経路表の引き方を説明できる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データの届け方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回線を占有するか、小分けにして混ぜるか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9.1　パケット交換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回線交換とパケット交換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9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07624" y="1371600"/>
            <a:ext cx="6546273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計算機の通信はバースト的である。読んでいる間ずっと回線を占有するのは、極端に効率が悪い。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パケット交換にはもう1つ、耐障害性という設計思想上の利点がある。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インターネットの原型 ARPANET（1969年）では「網の一部が失われても通信が続くこと」が設計目標の1つだった。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9.1　パケット交換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ベストエフォート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パケット交換の帰結として、インターネットは「届けるために最善を尽くすが、保証はしない」サービスを提供する。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252603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失われる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2160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混雑時、回線の障害でパケットが消える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40430" y="1883664"/>
            <a:ext cx="252603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2331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順番が入れ替わる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23310" y="2368296"/>
            <a:ext cx="2160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別々の経路を通るため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5060" y="1883664"/>
            <a:ext cx="252603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794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遅延が変動する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77940" y="2368296"/>
            <a:ext cx="2160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経路上の混雑状況による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949690" y="1883664"/>
            <a:ext cx="252603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3257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重複して届く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32570" y="2368296"/>
            <a:ext cx="2160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同じデータが2度届くことがある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3456432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914400" y="35844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では、なぜファイル転送や決済ができるのか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3895344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答えは階層である。下の層が保証しないことを、上の層（第10回の TCP）が補う。この分業が次節の主題である。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階層モデル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問題を層に分け、各層を独立に改良する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9.2　階層モデル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TCP/IP 階層モデル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理論的には OSI 参照モデル（7層）が知られているが、実際のインターネットはこちらで動いている。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926080"/>
                <a:gridCol w="3108960"/>
                <a:gridCol w="20116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役割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主なプロトコル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データの呼び名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アプリケーション層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アプリ固有のやりとり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HTTP, DNS, SMTP, SSH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メッセージ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トランスポート層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端点間の通信の品質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TCP, UDP, QUIC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セグメント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インターネット層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網をまたぐ中継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IP, ICMP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パケット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データリンク層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隣の機器への配送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Ethernet, Wi-Fi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フレーム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物理層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ビットを信号に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各種ケーブル、電波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ビット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85800" y="435254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利点は3つ。各層を独立に設計・改良できる／下の層が変わっても上は影響を受けない／上の層が増えても下は影響を受けない。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光ファイバに替えても Web ブラウザを書き直さなくてよい。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第3回のゲート→CPU、第4回の機械語→高級言語、第8回のドライバと同じ構図である。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9.2　階層モデル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カプセル化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上の層のデータは、下の層のデータの中身として運ばれる。各層は自分のヘッダを付け加える。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9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2061" y="1883664"/>
            <a:ext cx="7417398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封筒の比喩：手紙を書き、封筒に何通目かを書き、宛先住所を書き、配送業者の伝票を貼る。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9.2　階層モデル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階層を降りて、上がる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9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90813" y="1371600"/>
            <a:ext cx="7579895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配送業者は手紙の中身を読まないし、手紙の書き手は伝票番号を知らない。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この独立性が階層の価値である。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インターネットの構造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中央の管理者がいない「網の網」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9.3　構造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インターネットは「網の網」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インターネットは単一の巨大なネットワークではない。独立に運営される多数のネットワーク（AS）が相互接続したものである。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9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47737" y="2084832"/>
            <a:ext cx="6266046" cy="34015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中央の管理者がいない。誰も全体像を把握していない。それでも「どこからでもどこへでも」届く。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9.3　構造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接続の形と IX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トランジット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下位の事業者が上位に費用を払い、インターネット全体への到達性を買う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ピアリング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対等な事業者どうしが、互いの顧客宛の通信を無料で交換する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IX（相互接続点）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多数の事業者が物理的に集まり相互接続する拠点。日本では JPIX、JPNAP など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3236976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914400" y="336499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IX の意義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367588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 個の事業者が互いに接続するには n(n−1)/2 本の線が要る。IX に集まれば n 本で済む。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85800" y="56235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1990年代には国内どうしの通信が米国を往復していた。IX の整備は、通信の効率と主権の両面で意味を持つ。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9.3　構造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スケールフリーネットワーク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インターネットの接続構造は、少数の非常に多く接続されたノードと、多数の少ししか接続されていないノードからなる。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ランダムな故障に強い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28600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でたらめにノードが壊れても、大半は末端のノードなので、全体の連結性は保たれる。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狙った攻撃に弱い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309360" y="228600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ハブとなるノードを狙って落とすと、網が急速に分断される。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475488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「六次の隔たり」も、少数のハブが遠い領域どうしを橋渡しすることで説明される。インターネットの経路長も、規模の割に驚くほど短い。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物理層とデータリンク層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ビットを信号にし、隣の機器へ届ける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9.4　物理層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ツイストペアが撚ってある理由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媒体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95528" y="1883664"/>
            <a:ext cx="5056632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ツイストペアケーブル — 安価。100m 程度まで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光ファイバ — 長距離・大容量・電磁ノイズに強い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電波 — 配線不要。共有媒体なので干渉と盗聴の問題がある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撚る効果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30936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2本の線を撚ると、外部からのノイズが両方の線にほぼ同じだけ乗る。受信側で2本の差を取れば、共通に乗ったノイズが打ち消される。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また、自分自身が発する電磁波も互いに打ち消し合う。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57607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単純な工夫で、雑音に強い伝送路を安く作っている。第2回の「2値なら多少ばらついても識別できる」と合わせて、デジタル通信の頑健さの源になっている。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9.4　データリンク層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MAC アドレスと IP アドレス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データリンク層は「同じネットワーク内で直接つながっている機器」へデータを届ける。単位はフレームである。</a:t>
            </a:r>
            <a:endParaRPr lang="en-US" sz="15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023360"/>
                <a:gridCol w="475488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MAC アドレス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IP アドレス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データリンク層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インターネット層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範囲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同じネットワーク内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インターネット全体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割り当て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製造時に固定（48ビット）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ネットワークへの接続時に決まる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構造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場所の情報を持たない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階層的で、場所を表す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比喩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個人の指紋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現在の住所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4197096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3434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なぜ2つ要るのか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502005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世界中の全機器の位置を各機器が覚えるのは不可能である。IP アドレスは階層的なので「この方向へ送れ」という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粗い判断ができ、最後の1ホップだけ MAC アドレスで特定する、という分業が成立する。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9.4　データリンク層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Ethernet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有線 LAN の事実上の標準。1970年代に開発され、速度を上げながら50年間使われ続けている。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速度の世代</a:t>
            </a:r>
            <a:endParaRPr lang="en-US" sz="15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86000"/>
          <a:ext cx="5166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554480"/>
                <a:gridCol w="17830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規格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速度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主な用途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1000BASE-T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 Gbps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一般的な有線 LAN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10GBASE-T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 Gbps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サーバ、拠点間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100/400GbE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100/400 Gbps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データセンタ、基幹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フレームの構造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309360" y="2286000"/>
            <a:ext cx="5166360" cy="118872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10528" y="2432304"/>
            <a:ext cx="47640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宛先MAC (6) | 送信元MAC (6) |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型 (2) | データ (46-1500) |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FCS (4) |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309360" y="370332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FCS は誤り検出用。計算が合わなければフレームを捨てるが、訂正はしない。再送は上の層（TCP）に任せる。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初期の CSMA/CD は、1本の同軸ケーブルを全機器で共有していた時代の仕組み。現在のスイッチ構成では衝突は起きない。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9.4　データリンク層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スイッチは自分で学習する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9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80360" y="1371600"/>
            <a:ext cx="64008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中央の管理者なしに、局所的な観察だけで効率的な転送を実現している。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9.4　無線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Wi-Fi：共有媒体ゆえの問題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無線 LAN（IEEE 802.11 系）は電波という共有媒体を使うため、有線とは異なる問題を抱える。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衝突を検出できない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送信中は自分の電波で相手の電波が聞こえない。送る前に一定時間待つ方式（CSMA/CA）を使う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95060" y="1883664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77940" y="2020824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隠れ端末問題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77940" y="2368296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 と C が互いの電波は届かないが、両方とも B に届く場合、互いの送信に気づかず衝突する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3364992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502152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帯域を分け合う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3849624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同じアクセスポイントの利用者が増えると、帯域が分割される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95060" y="3364992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77940" y="3502152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傍受されうる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77940" y="3849624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電波は誰にでも届く。暗号化が必須（WPA3 を使う。WEP と WPA は破られている）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" y="512064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現在は通信そのものが TLS で暗号化されているため（第10回）、公衆 Wi-Fi の危険性は昔より小さくなっている。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9.5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インターネット層：IP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網をまたいで、最終的な宛先まで中継する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9.5　IP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IPv4 アドレスは2つの部分に分かれる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IPv4 アドレスは32ビット、全部で約43億個。境界を示すのがサブネットマスクである。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192.0.2.130/24 の内訳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286000"/>
            <a:ext cx="5166360" cy="1920240"/>
          </a:xfrm>
          <a:prstGeom prst="roundRect">
            <a:avLst>
              <a:gd name="adj" fmla="val 1905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2432304"/>
            <a:ext cx="4764024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アドレス  192.0.2.130</a:t>
            </a:r>
            <a:endParaRPr lang="en-US" sz="105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11000000 00000000 00000010 10000010</a:t>
            </a:r>
            <a:endParaRPr lang="en-US" sz="105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マスク /24</a:t>
            </a:r>
            <a:endParaRPr lang="en-US" sz="105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11111111 11111111 11111111 00000000</a:t>
            </a:r>
            <a:endParaRPr lang="en-US" sz="105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ネットワーク  192.0.2.0</a:t>
            </a:r>
            <a:endParaRPr lang="en-US" sz="105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ホスト部      .130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なぜ階層構造にするのか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309360" y="228600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経路表を小さくするため。世界中の43億個を1つずつ覚えることはできないが、「192.0.2.0/24 宛はあちらへ」とまとめれば1行で256個分を表せる。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309360" y="3913632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割り当てられるのは 254 個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53949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先頭（ネットワーク自体）と末尾（ブロードキャスト）は使えない。9.4 の「IP は住所」とはこの階層性のことである。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9.5　IP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ルーティング：最長一致で選ぶ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ルータは複数のネットワークにまたがって接続され、経路表を引いて次のルータへ渡す。</a:t>
            </a:r>
            <a:endParaRPr lang="en-US" sz="15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474720"/>
                <a:gridCol w="329184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宛先ネットワーク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次の転送先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出ていくインタフェース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192.0.2.0/24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直接接続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eth0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198.51.100.0/24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203.0.113.1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eth1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0.0.0.0/0（デフォルト）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203.0.113.254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eth1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372160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386791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複数の行に当てはまる場合、もっとも細かく指定している行を選ぶ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454456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デフォルトルートはどのアドレスにも当てはまるがプレフィクスが最短なので、他に該当がないときだけ使われる。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TTL はルータを通るたびに1減り、0 で破棄される。経路が輪になっていても永遠に回り続けない。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9.5　IP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パケットの中継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9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1371600"/>
            <a:ext cx="86868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9.5　IP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アドレスの枯渇と NAT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43億個は世界人口を下回る。IPv4 アドレスの新規割り当ては2011年以降、順次枯渇している。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9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78100" y="1883664"/>
            <a:ext cx="7005320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根本的な解決は IPv6（128ビット、約 3.4×10³⁸ 個）。地球の全表面 1cm² あたりに 10²² 個以上を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割り当ててもまだ余る。IPv4 と IPv6 は直接相互運用できないため、当面はデュアルスタック運用が続く。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回線交換とパケット交換について、(a) 帯域の使われ方 (b) 遅延の安定性 (c) 障害への強さ で比較せよ。計算機の通信でパケット交換が選ばれた理由を述べよ。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56032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56032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9-3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54203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 メッセージが Ethernet フレームとして送出されるまでに、どのヘッダがどの順に付加されるか示せ。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42900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42900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9-4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41071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MAC アドレスと IP アドレスの役割の違いを (a) 有効範囲 (b) 割り当て方 (c) 階層構造の有無 で説明し、両方が必要な理由を述べよ。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29768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29768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9-7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27939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有線 Ethernet では衝突が起きなくなったのに、Wi-Fi では今も媒体アクセス制御が必要なのはなぜか。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85800" y="516636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516636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9-8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783080" y="514807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198.51.100.130/26 について (a) ネットワークアドレス (b) ブロードキャストアドレス (c) 機器に割り当てられる個数 を求めよ。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85800" y="60350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60350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9-10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783080" y="601675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パケットがルータを通過するとき、IP ヘッダのアドレスは変化しないが Ethernet ヘッダの MAC アドレスは書き換えられる。この違いが何を意味するか説明せよ。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パケット交換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回線を占有せず経路の障害に強いが、遅延も到達も保証しない（ベストエフォート）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075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階層モデル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03911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問題を分割し、各層を独立に改良できる。データは層を降りるごとにヘッダで包まれる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73405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インターネット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6974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独立した多数の AS が相互接続した「網の網」。中央の管理者はいない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39242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スケールフリー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35584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ランダム故障に強く、ハブへの攻撃に弱い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05079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2種類のアドレス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014216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MAC は「隣の機器」、IP は「世界のどこか」を指す。役割が違うので両方要る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47091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スイッチ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467258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送信元 MAC を観察するだけで、転送表を自律的に学習する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3675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IP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297680" y="533095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アドレスは階層構造を持つので経路表を小さく保てる。ルータは最長一致で選ぶ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届ける道はついた。では、その道の上で、名前しか知らない相手とどうやって確実に、そして安全にやりとりするのか。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第9回 ネットワークの基礎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2026-09-22T02:13:01Z</dcterms:created>
  <dcterms:modified xsi:type="dcterms:W3CDTF">2026-09-22T02:13:01Z</dcterms:modified>
</cp:coreProperties>
</file>