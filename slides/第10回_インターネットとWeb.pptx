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200" kern="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コンピュータシステム通論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インターネットとWeb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37033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名前しか知らない相手と、失われるかもしれない経路の上で、どうやって確実に、そして安全にやりとりするのか。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5852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九州大学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今回の問い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1920240"/>
            <a:ext cx="10607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名前しか知らない相手と、</a:t>
            </a:r>
            <a:endParaRPr lang="en-US" sz="36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どうやって確実に、</a:t>
            </a:r>
            <a:endParaRPr lang="en-US" sz="36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そして安全にやりとりするのか。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22960" y="41148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経路は失われうる。相手が本物かも分からない。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22960" y="4937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この90分で、この問いに答えを出す。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到達目標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77240" y="176479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64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417320" y="178308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TCP と UDP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の違いを、保証と用途の観点から説明できる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77240" y="2624328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417320" y="2642616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TCP の信頼性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がベストエフォートの上にどう作られるか説明できる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77240" y="3483864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4838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17320" y="3502152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ソケット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の呼び出し順序を説明し、accept が何を返すか述べられる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77240" y="4343400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4343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417320" y="4361688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DNS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の名前解決の流れを説明できる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777240" y="5202936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5202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417320" y="5221224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HTTP と TLS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の版ごとの改良と、TLS が保証するものを説明できる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10.1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トランスポート層：TCP と UDP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ベストエフォートの上に、信頼性を作る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10.1　ポート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ポート番号と5つ組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16ビットの番号（0〜65535）で、ホスト内のアプリケーションを識別する。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188366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通信の端点は5つ組で一意に定まる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286000"/>
            <a:ext cx="5166360" cy="1188720"/>
          </a:xfrm>
          <a:prstGeom prst="roundRect">
            <a:avLst>
              <a:gd name="adj" fmla="val 3077"/>
            </a:avLst>
          </a:prstGeom>
          <a:solidFill>
            <a:srgbClr val="F5F7FA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86968" y="2432304"/>
            <a:ext cx="47640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(プロトコル,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送信元IP, 送信元ポート,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宛先IP,   宛先ポート)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85800" y="3703320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これにより、1台のサーバが同時に多数のクライアントと通信できる。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309360" y="188366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よく使われるポート番号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2286000"/>
          <a:ext cx="51663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70332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番号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サービス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22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SSH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25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SMTP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53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DNS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80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HTTP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443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HTTPS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0〜1023 はウェルノウンポートで、多くの OS では特権が必要である（偽のサービスを立てられないように）。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10.1　ソケット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プログラムから見た通信：ソケット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ソケットは通信の端点を表す抽象で、アプリケーションからはファイル記述子として扱える（第7回）。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10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97871" y="1883664"/>
            <a:ext cx="5365777" cy="360273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10.1　TCP と UDP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保証しないことが利点になる場面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UDP —— IP に薄く被せただけ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95528" y="1883664"/>
            <a:ext cx="5056632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コネクションを張らない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再送しない、順序も到着も保証しない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ヘッダは8バイトと小さい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送りたいときに送るので遅延が小さい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85800" y="3648456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音声・映像のリアルタイム通信では、遅れて届いたパケットはもう再生時刻を過ぎている。再送は無駄である。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30936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TCP —— 信頼性を端点が作る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19088" y="1883664"/>
            <a:ext cx="5056632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到達：確認応答 (ACK) と再送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順序：シーケンス番号で並べ直す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溢れさせない：ウィンドウ制御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網を詰まらせない：輻輳制御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309360" y="3648456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信頼性は下の層が提供するのではなく、端点どうしが作る。これがエンド・ツー・エンド原理である。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網の中身は単純に保ち、賢さは端点に置く。だから網は速く、新しいアプリケーションを網の改修なしに導入できる。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10.1　TCP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3ウェイハンドシェイク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10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47703" y="1371600"/>
            <a:ext cx="6466114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双方が「自分の開始番号を伝える」と「相手の番号を受け取った」を確認する最小の回数が3回。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代償：データを送り始める前に1往復（RTT）が必要。東京とヨーロッパの間なら約 250ms。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この待ち時間が、後述する QUIC の動機になる。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10.1　TCP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輻輳制御が、インターネット全体を守っている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フロー制御は受信側が処理しきれない量を送らないようにする。輻輳制御はより難しい —— 網の混雑具合は直接観測できないためである。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2130552"/>
            <a:ext cx="10789920" cy="713232"/>
          </a:xfrm>
          <a:prstGeom prst="roundRect">
            <a:avLst>
              <a:gd name="adj" fmla="val 7692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286000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TCP は「パケットが失われた＝網が混んでいる」と解釈し、送信量を調整する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188720" y="309067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少量から始める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943600" y="3218688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0" y="309067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うまく届くたびに増やす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88720" y="371246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損失を検知したら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943600" y="3840480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3" name="Text 11"/>
          <p:cNvSpPr/>
          <p:nvPr/>
        </p:nvSpPr>
        <p:spPr>
          <a:xfrm>
            <a:off x="6766560" y="371246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送信量を大きく減らす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88720" y="433425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しばらくして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943600" y="4462272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6" name="Text 14"/>
          <p:cNvSpPr/>
          <p:nvPr/>
        </p:nvSpPr>
        <p:spPr>
          <a:xfrm>
            <a:off x="6766560" y="433425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また徐々に増やす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85800" y="504748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各端点が自主的に遠慮するだけで、中央の管理なしに公平な帯域配分が成立する。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1986年に実際に発生した輻輳崩壊（再送がさらに混雑を呼び、実効スループットが1/1000に落ちた）の教訓から作られた。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10.2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名前解決：DNS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名前とアドレスを分離する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10.2　DNS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反復問い合わせによる名前解決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人間は 203.0.113.42 を覚えられない。さらに重要なのは、名前とアドレスを分離できることである。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10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78480" y="1883664"/>
            <a:ext cx="6004560" cy="36027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ルートは TLD の管理者を知り、TLD は各ドメインの管理者を知る。管理も階層的に委譲されている。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10.2　DNS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DNS の重要性と脆さ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481328"/>
            <a:ext cx="3444240" cy="1645920"/>
          </a:xfrm>
          <a:prstGeom prst="roundRect">
            <a:avLst>
              <a:gd name="adj" fmla="val 3333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止まると誰も来られない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1965960"/>
            <a:ext cx="3078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サーバが正常でも、名前が引けなければたどり着けない。大規模障害の原因が DNS であることは珍しくない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58640" y="1481328"/>
            <a:ext cx="3444240" cy="1645920"/>
          </a:xfrm>
          <a:prstGeom prst="roundRect">
            <a:avLst>
              <a:gd name="adj" fmla="val 3333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4152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傍受と偽装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41520" y="1965960"/>
            <a:ext cx="3078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元来、通信内容が暗号化されておらず、誰がどこを見ているか分かる。偽の応答で偽サイトへ誘導する攻撃も実際にある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31480" y="1481328"/>
            <a:ext cx="3444240" cy="1645920"/>
          </a:xfrm>
          <a:prstGeom prst="roundRect">
            <a:avLst>
              <a:gd name="adj" fmla="val 3333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1436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対策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14360" y="1965960"/>
            <a:ext cx="3078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DNSSEC（応答に署名して改竄を検知）、DoH / DoT（問い合わせ自体を暗号化）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85800" y="466344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サーバを別のデータセンタに移しても、DNS の記録を書き換えれば利用者は同じ名前でアクセスできる。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10.3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HTTP と TLS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ステートレスだから、分散できる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10.3　HTTP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HTTP：要求と応答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要求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883664"/>
            <a:ext cx="5166360" cy="1371600"/>
          </a:xfrm>
          <a:prstGeom prst="roundRect">
            <a:avLst>
              <a:gd name="adj" fmla="val 2667"/>
            </a:avLst>
          </a:prstGeom>
          <a:solidFill>
            <a:srgbClr val="F5F7FA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86968" y="2029968"/>
            <a:ext cx="476402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/index.html HTTP/1.1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Host: www.example.com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User-Agent: ...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Accept: text/html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85800" y="3483864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メソッド：GET（取得。副作用を持たせてはならない）／POST（送信）／PUT（置換）／DELETE（削除）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30936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応答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309360" y="1883664"/>
            <a:ext cx="5166360" cy="1371600"/>
          </a:xfrm>
          <a:prstGeom prst="roundRect">
            <a:avLst>
              <a:gd name="adj" fmla="val 2667"/>
            </a:avLst>
          </a:prstGeom>
          <a:solidFill>
            <a:srgbClr val="F5F7FA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10528" y="2029968"/>
            <a:ext cx="476402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HTTP/1.1 200 OK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Content-Type: text/html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Content-Length: 1234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&lt;!DOCTYPE html&gt;...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309360" y="3483864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主なコード：200 成功／301,302 移動／400 不正／401,403 認証・権限／404 なし／500 サーバ内部／503 一時的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ステートレス — サーバは要求と要求の間の状態を覚えていない。だからサーバを増やして負荷分散できる。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10.3　HTTP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HTTP の版ごとの改良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</a:t>
            </a:r>
            <a:endParaRPr lang="en-US" sz="10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481328"/>
          <a:ext cx="107899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097280"/>
                <a:gridCol w="4937760"/>
                <a:gridCol w="292608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版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年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主な改良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下位のプロトコル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HTTP/1.1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1997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1つの接続を使い回す（Keep-Alive）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TCP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HTTP/2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2015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多重化、ヘッダ圧縮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TCP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HTTP/3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2022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QUIC 上で動く、接続確立の高速化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UDP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85800" y="3319272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14400" y="3465576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「TCP の代わりを UDP の上に作る」という一見奇妙な選択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85800" y="414223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HTTP/2 は多重化したが、下が TCP なのでパケットが1つ失われると全ストリームが待たされた。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QUIC はストリームごとに独立して再送し、暗号化と接続確立を同時に行い、IP が変わっても接続を維持できる。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TCP がカーネルと機器に深く根を張っていて改良できない、という現実への対処でもある。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10.3　TLS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TLS が保証する3つのこと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527048"/>
            <a:ext cx="10789920" cy="713232"/>
          </a:xfrm>
          <a:prstGeom prst="roundRect">
            <a:avLst>
              <a:gd name="adj" fmla="val 7692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682496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真正性がなければ、機密性も完全性も無意味になる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188720" y="248716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機密性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943600" y="2615184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9" name="Text 7"/>
          <p:cNvSpPr/>
          <p:nvPr/>
        </p:nvSpPr>
        <p:spPr>
          <a:xfrm>
            <a:off x="6766560" y="248716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第三者に内容を読まれない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88720" y="3108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完全性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943600" y="3236976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2" name="Text 10"/>
          <p:cNvSpPr/>
          <p:nvPr/>
        </p:nvSpPr>
        <p:spPr>
          <a:xfrm>
            <a:off x="6766560" y="31089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書き換えられたら検知できる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188720" y="373075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真正性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943600" y="3858768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5" name="Text 13"/>
          <p:cNvSpPr/>
          <p:nvPr/>
        </p:nvSpPr>
        <p:spPr>
          <a:xfrm>
            <a:off x="6766560" y="373075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相手が名乗ったとおりの相手である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85800" y="444398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暗号化しても、暗号化した相手が偽サイトなら意味がない。サーバ証明書によって「このサーバは確かに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example.com である」ことを確認する仕組みが要る。その中身は第12回で扱う。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2026年時点では TLS 1.3 が標準。TLS 1.0/1.1 は廃止、1.2 も設定によっては安全でない。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10.4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Web アプリケーションと分散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ステートレスの上に組み立てる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10.4　Web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Web アプリケーションの三層構成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18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10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90813" y="1371600"/>
            <a:ext cx="7579895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各層を独立に増やせる。アクセスが増えたらアプリサーバを、データが増えたら DB を強化する。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API の形式は REST（資源を URL で表し HTTP メソッドで操作）、GraphQL（必要なデータの形を指定）、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WebSocket（双方向の持続的な接続）。データ形式は JSON が主流である。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10.4　分散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クライアントサーバと P2P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クライアントサーバ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1883664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役割が固定。管理は中央集権的で容易だが、単一障害点がある。拡張にはサーバの増強が必要。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例：Web、メール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30936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P2P（ピアツーピア）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309360" y="1883664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各ノードが両方を担う。単一障害点がなく、参加者が増えると資源も増える。ただし管理が難しい。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例：BitTorrent、ブロックチェーン、WebRTC、IPFS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548640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実際には純粋な P2P は少ない。最初に相手を見つける段階は中央サーバを使い、大量データ転送だけを P2P にする混成型が多い（NAT の影響もある）。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10.4　分散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CDN：距離そのものを縮める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第2回の遅延表を思い出す。東京と米国西海岸の往復は 100ms。光の速度は変えられない。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929384"/>
            <a:ext cx="10789920" cy="713232"/>
          </a:xfrm>
          <a:prstGeom prst="roundRect">
            <a:avLst>
              <a:gd name="adj" fmla="val 7692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084832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コンテンツの複製を世界各地に置き、物理的に近い場所から配信する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188720" y="288950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遅延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943600" y="3017520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0" y="288950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近くから返す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88720" y="351129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元サーバの負荷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943600" y="3639312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3" name="Text 11"/>
          <p:cNvSpPr/>
          <p:nvPr/>
        </p:nvSpPr>
        <p:spPr>
          <a:xfrm>
            <a:off x="6766560" y="351129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肩代わりする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88720" y="413308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突発的な負荷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943600" y="4261104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6" name="Text 14"/>
          <p:cNvSpPr/>
          <p:nvPr/>
        </p:nvSpPr>
        <p:spPr>
          <a:xfrm>
            <a:off x="6766560" y="413308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吸収する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188720" y="47548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大量アクセスによる攻撃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943600" y="4882896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9" name="Text 17"/>
          <p:cNvSpPr/>
          <p:nvPr/>
        </p:nvSpPr>
        <p:spPr>
          <a:xfrm>
            <a:off x="6766560" y="475488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緩和する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69164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69164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10-1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783080" y="1673352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ビデオ通話に TCP ではなく UDP が使われることが多い理由を、再送の意味に触れて説明せよ。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5800" y="2770632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770632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10-2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783080" y="2752344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TCP サーバが呼ぶシステムコールを順に並べ、それぞれが何をするか述べよ。また accept が新しいソケットを返す設計の理由を説明せよ。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85800" y="3849624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3849624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10-3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783080" y="3831336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HTTP/3 が TCP ではなく UDP の上に作られた理由を2つ挙げよ。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85800" y="4928616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4928616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10-4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783080" y="4910328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TLS が保証する3つのうち「真正性がなければ他の2つは無意味になる」のはなぜか説明せよ。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まとめ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4173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TCP と UDP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297680" y="1380744"/>
            <a:ext cx="71323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UDP は薄く速い。TCP はベストエフォートの上に信頼性を作る。信頼性は網ではなく端点が担う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822960" y="22860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ソケット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297680" y="2249424"/>
            <a:ext cx="71323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プログラムから見れば通信はファイル記述子。接続すれば read / write で扱える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822960" y="31546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DNS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297680" y="3118104"/>
            <a:ext cx="71323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名前とアドレスを分離し、階層的な委譲によって非中央集権に動く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822960" y="40233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HTTP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297680" y="3986784"/>
            <a:ext cx="71323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ステートレスだからサーバを増やして分散できる。HTTP/3 は UDP 上の QUIC へ移った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22960" y="48920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TLS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297680" y="4855464"/>
            <a:ext cx="71323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機密性・完全性・真正性。真正性が土台である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822960" y="598932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　通信でデータをやりとりできるようになった。では、そのデータを矛盾なく溜めておくにはどうするか。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第10回 インターネットとWeb</dc:title>
  <dc:subject>PptxGenJS Presentation</dc:subject>
  <dc:creator>九州大学 コンピュータシステム通論</dc:creator>
  <cp:lastModifiedBy>九州大学 コンピュータシステム通論</cp:lastModifiedBy>
  <cp:revision>1</cp:revision>
  <dcterms:created xsi:type="dcterms:W3CDTF">2026-09-22T01:24:06Z</dcterms:created>
  <dcterms:modified xsi:type="dcterms:W3CDTF">2026-09-22T01:24:06Z</dcterms:modified>
</cp:coreProperties>
</file>