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200" kern="0" dirty="0">
                <a:solidFill>
                  <a:srgbClr val="9AA3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コンピュータシステム通論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822960" y="237744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第11回　データベースとデータ処理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7033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6AB0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壊れずに、矛盾なくデータを溜めるにはどうするか。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2144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53896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55648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57400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59152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60904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62656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64408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66160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67912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69664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71416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73168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74920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76672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78424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80176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81928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0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85432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87184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88936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90688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92440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5852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九州大学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B0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今回の問い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920240"/>
            <a:ext cx="10607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壊れずに、矛盾なく</a:t>
            </a:r>
            <a:endParaRPr lang="en-US" sz="36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データを溜めるにはどうするか。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4937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3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この90分で、この問いに答えを出す。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214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5389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5564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5740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5915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6090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6265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6440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6616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6791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6966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7141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7316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7492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7667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7842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8017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8192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8543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8718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8893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9068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9244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第11回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到達目標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77240" y="1764792"/>
            <a:ext cx="457200" cy="457200"/>
          </a:xfrm>
          <a:prstGeom prst="ellipse">
            <a:avLst/>
          </a:prstGeom>
          <a:solidFill>
            <a:srgbClr val="D9E6F4"/>
          </a:solidFill>
          <a:ln w="15240">
            <a:solidFill>
              <a:srgbClr val="0B5CA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ファイルによる管理</a:t>
            </a:r>
            <a:pPr indent="0" marL="0"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と比べたデータベースの利点を説明できる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2496312"/>
            <a:ext cx="457200" cy="457200"/>
          </a:xfrm>
          <a:prstGeom prst="ellipse">
            <a:avLst/>
          </a:prstGeom>
          <a:solidFill>
            <a:srgbClr val="D9E6F4"/>
          </a:solidFill>
          <a:ln w="15240">
            <a:solidFill>
              <a:srgbClr val="0B5CA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496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17320" y="2514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リレーショナルモデル</a:t>
            </a:r>
            <a:pPr indent="0" marL="0"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の用語を使い、正規化の必要性を説明できる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77240" y="3227832"/>
            <a:ext cx="457200" cy="457200"/>
          </a:xfrm>
          <a:prstGeom prst="ellipse">
            <a:avLst/>
          </a:prstGeom>
          <a:solidFill>
            <a:srgbClr val="D9E6F4"/>
          </a:solidFill>
          <a:ln w="15240">
            <a:solidFill>
              <a:srgbClr val="0B5CA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227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17320" y="324612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SQL</a:t>
            </a:r>
            <a:pPr indent="0" marL="0"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の基本的な問い合わせを読み書きできる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77240" y="3959352"/>
            <a:ext cx="457200" cy="457200"/>
          </a:xfrm>
          <a:prstGeom prst="ellipse">
            <a:avLst/>
          </a:prstGeom>
          <a:solidFill>
            <a:srgbClr val="D9E6F4"/>
          </a:solidFill>
          <a:ln w="15240">
            <a:solidFill>
              <a:srgbClr val="0B5CA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959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17320" y="397764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ACID 特性</a:t>
            </a:r>
            <a:pPr indent="0" marL="0"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を説明し、それぞれが何を防ぐか述べられる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77240" y="4690872"/>
            <a:ext cx="457200" cy="457200"/>
          </a:xfrm>
          <a:prstGeom prst="ellipse">
            <a:avLst/>
          </a:prstGeom>
          <a:solidFill>
            <a:srgbClr val="D9E6F4"/>
          </a:solidFill>
          <a:ln w="15240">
            <a:solidFill>
              <a:srgbClr val="0B5CA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690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17320" y="47091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NoSQL と CAP 定理</a:t>
            </a:r>
            <a:pPr indent="0" marL="0"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の意味を説明できる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77240" y="5422392"/>
            <a:ext cx="457200" cy="457200"/>
          </a:xfrm>
          <a:prstGeom prst="ellipse">
            <a:avLst/>
          </a:prstGeom>
          <a:solidFill>
            <a:srgbClr val="D9E6F4"/>
          </a:solidFill>
          <a:ln w="15240">
            <a:solidFill>
              <a:srgbClr val="0B5CA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422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17320" y="544068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ベクトル検索</a:t>
            </a:r>
            <a:pPr indent="0" marL="0"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が何を検索しているか説明し、RAG との関係を述べられる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2E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11.1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822960" y="30632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なぜデータベースが要るのか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39776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AA3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CSV ファイルで管理すると、どこで行き詰まるか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214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5389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5564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5740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5915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6090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6265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6440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6616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6791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6966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7141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7316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7492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7667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7842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8017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8192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8543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8718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8893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9068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9244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11.1　動機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ファイルで管理すると、こうなる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学生名簿を CSV ファイルで管理してみる。規模が大きくなると、次の問題が現れる。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1883664"/>
            <a:ext cx="3444240" cy="1234440"/>
          </a:xfrm>
          <a:prstGeom prst="roundRect">
            <a:avLst>
              <a:gd name="adj" fmla="val 4444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20824"/>
            <a:ext cx="307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冗長性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368296"/>
            <a:ext cx="307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「山田／工学部」が何度も繰り返される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58640" y="1883664"/>
            <a:ext cx="3444240" cy="1234440"/>
          </a:xfrm>
          <a:prstGeom prst="roundRect">
            <a:avLst>
              <a:gd name="adj" fmla="val 4444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41520" y="2020824"/>
            <a:ext cx="307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更新の異常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41520" y="2368296"/>
            <a:ext cx="307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学部が変わったとき、全行を漏れなく直せるか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31480" y="1883664"/>
            <a:ext cx="3444240" cy="1234440"/>
          </a:xfrm>
          <a:prstGeom prst="roundRect">
            <a:avLst>
              <a:gd name="adj" fmla="val 4444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14360" y="2020824"/>
            <a:ext cx="307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検索の遅さ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14360" y="2368296"/>
            <a:ext cx="307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「情報基礎の受講者」を探すのに全行を読む（第2回の O(n)）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3319272"/>
            <a:ext cx="3444240" cy="1234440"/>
          </a:xfrm>
          <a:prstGeom prst="roundRect">
            <a:avLst>
              <a:gd name="adj" fmla="val 4444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456432"/>
            <a:ext cx="307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同時アクセス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3803904"/>
            <a:ext cx="307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2人が同時に書くと壊れる（第7回の競合状態）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58640" y="3319272"/>
            <a:ext cx="3444240" cy="1234440"/>
          </a:xfrm>
          <a:prstGeom prst="roundRect">
            <a:avLst>
              <a:gd name="adj" fmla="val 4444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41520" y="3456432"/>
            <a:ext cx="307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一貫性の破れ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41520" y="3803904"/>
            <a:ext cx="307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書き込み途中で電源が落ちたら中途半端な状態が残る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031480" y="3319272"/>
            <a:ext cx="3444240" cy="1234440"/>
          </a:xfrm>
          <a:prstGeom prst="roundRect">
            <a:avLst>
              <a:gd name="adj" fmla="val 4444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14360" y="3456432"/>
            <a:ext cx="307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権限の管理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14360" y="3803904"/>
            <a:ext cx="307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ファイル単位でしか制御できない。「成績列だけ隠す」ができない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5800" y="4937760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DBMS はこれらをまとめて解決する。とくに「どう探すか」を書かなくてよいことが大きい。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11.1　動機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「どう探すか」を書かなくてよい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1527048"/>
            <a:ext cx="10789920" cy="713232"/>
          </a:xfrm>
          <a:prstGeom prst="roundRect">
            <a:avLst>
              <a:gd name="adj" fmla="val 7692"/>
            </a:avLst>
          </a:prstGeom>
          <a:solidFill>
            <a:srgbClr val="D9E6F4"/>
          </a:solidFill>
          <a:ln w="19050">
            <a:solidFill>
              <a:srgbClr val="0B5CA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82496"/>
            <a:ext cx="10332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SQL には「何が欲しいか」だけを書き、取り方は DBMS が決める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88720" y="24871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インデックスを使うか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0" y="2615184"/>
            <a:ext cx="640080" cy="201168"/>
          </a:xfrm>
          <a:prstGeom prst="rightArrow">
            <a:avLst/>
          </a:prstGeom>
          <a:solidFill>
            <a:srgbClr val="0B5CAD"/>
          </a:solidFill>
          <a:ln/>
        </p:spPr>
      </p:sp>
      <p:sp>
        <p:nvSpPr>
          <p:cNvPr id="9" name="Text 7"/>
          <p:cNvSpPr/>
          <p:nvPr/>
        </p:nvSpPr>
        <p:spPr>
          <a:xfrm>
            <a:off x="6766560" y="248716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DBMS が判断する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3108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全走査するか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943600" y="3236976"/>
            <a:ext cx="640080" cy="201168"/>
          </a:xfrm>
          <a:prstGeom prst="rightArrow">
            <a:avLst/>
          </a:prstGeom>
          <a:solidFill>
            <a:srgbClr val="0B5CAD"/>
          </a:solidFill>
          <a:ln/>
        </p:spPr>
      </p:sp>
      <p:sp>
        <p:nvSpPr>
          <p:cNvPr id="12" name="Text 10"/>
          <p:cNvSpPr/>
          <p:nvPr/>
        </p:nvSpPr>
        <p:spPr>
          <a:xfrm>
            <a:off x="6766560" y="31089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DBMS が判断する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373075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データ量が変わっても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943600" y="3858768"/>
            <a:ext cx="640080" cy="201168"/>
          </a:xfrm>
          <a:prstGeom prst="rightArrow">
            <a:avLst/>
          </a:prstGeom>
          <a:solidFill>
            <a:srgbClr val="0B5CAD"/>
          </a:solidFill>
          <a:ln/>
        </p:spPr>
      </p:sp>
      <p:sp>
        <p:nvSpPr>
          <p:cNvPr id="15" name="Text 13"/>
          <p:cNvSpPr/>
          <p:nvPr/>
        </p:nvSpPr>
        <p:spPr>
          <a:xfrm>
            <a:off x="6766560" y="373075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プログラムを書き直さなくてよい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" y="4443984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これも本講義に繰り返し現れる抽象化である。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どんな複雑なアプリケーションも、突き詰めれば CRUD（Create / Read / Update / Delete）の組み合わせにすぎない。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2E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11.2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822960" y="30632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リレーショナルモデルと正規化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39776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AA3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1つの事実は、1箇所にだけ書く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214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5389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5564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5740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5915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6090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6265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6440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6616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6791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6966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7141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7316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7492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7667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7842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8017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8192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8543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8718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8893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9068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9244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11.2　モデル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用語とキー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1970年に E.F. Codd が提案したリレーショナルモデルは、データを表の集まりとして表す。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883664"/>
          <a:ext cx="1078992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560320"/>
                <a:gridCol w="512064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用語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別名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意味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関係（リレーション）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表、テーブル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1つのまとまり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組（タプル）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行、レコード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1件のデータ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属性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列、カラム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1つの項目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主キー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—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行を一意に識別する。重複と空値を許さない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外部キー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—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他の表の主キーを参照する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85800" y="4306824"/>
            <a:ext cx="10789920" cy="658368"/>
          </a:xfrm>
          <a:prstGeom prst="roundRect">
            <a:avLst>
              <a:gd name="adj" fmla="val 8333"/>
            </a:avLst>
          </a:prstGeom>
          <a:solidFill>
            <a:srgbClr val="D9E6F4"/>
          </a:solidFill>
          <a:ln w="19050">
            <a:solidFill>
              <a:srgbClr val="0B5CA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445312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外部キーがあれば、存在しない学生の成績を登録しようとしても DBMS が拒否する（参照整合性）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85800" y="5129784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氏名は同姓同名がありうるので主キーに使えない。学籍番号のような、一意性が保証される属性を選ぶ。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11.2　正規化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正規化の前と後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1000" dirty="0"/>
          </a:p>
        </p:txBody>
      </p:sp>
      <p:pic>
        <p:nvPicPr>
          <p:cNvPr id="5" name="Image 0" descr="/Users/koide/Documents/Playground/CompOutline/slides/png/fig-11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74422" y="1371600"/>
            <a:ext cx="6412675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11.2　正規化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正規化しないと起きる3つの異常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1481328"/>
            <a:ext cx="3444240" cy="1463040"/>
          </a:xfrm>
          <a:prstGeom prst="roundRect">
            <a:avLst>
              <a:gd name="adj" fmla="val 3750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18488"/>
            <a:ext cx="307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更新異常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965960"/>
            <a:ext cx="307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山田の学部を変えるとき、複数行を漏れなく直さないと矛盾する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58640" y="1481328"/>
            <a:ext cx="3444240" cy="1463040"/>
          </a:xfrm>
          <a:prstGeom prst="roundRect">
            <a:avLst>
              <a:gd name="adj" fmla="val 3750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41520" y="1618488"/>
            <a:ext cx="307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挿入異常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41520" y="1965960"/>
            <a:ext cx="307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まだ誰も履修していない科目を登録できない（学生の行がないと入れられない）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31480" y="1481328"/>
            <a:ext cx="3444240" cy="1463040"/>
          </a:xfrm>
          <a:prstGeom prst="roundRect">
            <a:avLst>
              <a:gd name="adj" fmla="val 3750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14360" y="1618488"/>
            <a:ext cx="307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削除異常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14360" y="1965960"/>
            <a:ext cx="307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田中の履修を全部消すと、「情報基礎の担当は佐藤」という情報まで消える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3236976"/>
            <a:ext cx="1078992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9050">
            <a:solidFill>
              <a:srgbClr val="0B5CAD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914400" y="3364992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あえて正規化を崩すこともある（非正規化）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3675888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正規化すると表が増え、問い合わせのたびに結合が必要になって遅くなる。読み出しが圧倒的に多い用途では意図的に冗長を持たせる。ただし整合性の責任がアプリケーション側に移る。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85800" y="5623560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実務では第3正規形まで行うのが標準である。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2E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11.3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822960" y="30632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SQL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39776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AA3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宣言的に書く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214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5389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5564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5740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5915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6090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6265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6440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6616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6791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6966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7141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7316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7492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7667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7842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8017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8192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8543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8718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8893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9068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9244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11.3　SQL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射影・選択・結合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射影（列を絞る）と選択（行を絞る）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1883664"/>
            <a:ext cx="5166360" cy="1188720"/>
          </a:xfrm>
          <a:prstGeom prst="roundRect">
            <a:avLst>
              <a:gd name="adj" fmla="val 3077"/>
            </a:avLst>
          </a:prstGeom>
          <a:solidFill>
            <a:srgbClr val="F5F7FA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2029968"/>
            <a:ext cx="476402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1619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学籍番号, 氏名   -- 射影</a:t>
            </a:r>
            <a:endParaRPr lang="en-US" sz="11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1619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  学生</a:t>
            </a:r>
            <a:endParaRPr lang="en-US" sz="11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1619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 学部 = '工学部';  -- 選択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3300984"/>
            <a:ext cx="5166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正規化して分けた表を、再びつなげるのが結合（JOIN）である。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09360" y="1481328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結合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309360" y="1883664"/>
            <a:ext cx="5166360" cy="2011680"/>
          </a:xfrm>
          <a:prstGeom prst="roundRect">
            <a:avLst>
              <a:gd name="adj" fmla="val 1818"/>
            </a:avLst>
          </a:prstGeom>
          <a:solidFill>
            <a:srgbClr val="F5F7FA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0528" y="2029968"/>
            <a:ext cx="4764024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1619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学生.氏名, 科目.科目名,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1619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履修.成績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1619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  履修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1619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JOIN 学生 ON 履修.学籍番号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1619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= 学生.学籍番号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1619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JOIN 科目 ON 履修.科目コード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1619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= 科目.科目コード;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5852160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内部結合は両方に一致する行だけ。左外部結合は左の表を全部残し、相手がなければ NULL。交差結合は全組み合わせ。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11.3　SQL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内部結合の仕組み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</a:t>
            </a:r>
            <a:endParaRPr lang="en-US" sz="1000" dirty="0"/>
          </a:p>
        </p:txBody>
      </p:sp>
      <p:pic>
        <p:nvPicPr>
          <p:cNvPr id="5" name="Image 0" descr="/Users/koide/Documents/Playground/CompOutline/slides/png/fig-11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80310" y="1371600"/>
            <a:ext cx="72009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11.3　SQL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集計と、WHERE / HAVING の違い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集計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1883664"/>
            <a:ext cx="5166360" cy="2103120"/>
          </a:xfrm>
          <a:prstGeom prst="roundRect">
            <a:avLst>
              <a:gd name="adj" fmla="val 1739"/>
            </a:avLst>
          </a:prstGeom>
          <a:solidFill>
            <a:srgbClr val="F5F7FA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2029968"/>
            <a:ext cx="476402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1619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  科目コード,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1619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COUNT(*)  AS 受講者数,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1619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AVG(成績) AS 平均点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1619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    履修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1619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科目コード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1619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HAVING   COUNT(*) &gt;= 3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1619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平均点 DESC;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09360" y="1481328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試験でよく問われる違い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309360" y="1883664"/>
            <a:ext cx="5166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WHERE は個々の行を、HAVING は集計結果を絞る。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「成績が60点以上の履修だけを対象に、科目ごとの平均を出し、そのうち平均が70点以上の科目」なら、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WHERE 成績 &gt;= 60 と HAVING AVG(成績) &gt;= 70 の両方を書く。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5852160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集約関数は COUNT / SUM / AVG / MAX / MIN。GROUP BY で指定した列の値が同じ行をまとめる。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11.3　SQL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インデックスは万能ではない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第2回の二分探索を思い出す。ソートされていれば O(log n) で探せる。インデックスはその構造を列に作っておく仕組みである。</a:t>
            </a:r>
            <a:endParaRPr lang="en-US" sz="15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084832"/>
          <a:ext cx="1078992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840480"/>
                <a:gridCol w="384048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インデックスなし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インデックスあり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検索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O(n) 全走査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O(log n)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挿入・更新・削除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速い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インデックスの更新分だけ遅い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記憶領域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不要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追加で必要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85800" y="3995928"/>
            <a:ext cx="10789920" cy="658368"/>
          </a:xfrm>
          <a:prstGeom prst="roundRect">
            <a:avLst>
              <a:gd name="adj" fmla="val 8333"/>
            </a:avLst>
          </a:prstGeom>
          <a:solidFill>
            <a:srgbClr val="D9E6F4"/>
          </a:solidFill>
          <a:ln w="19050">
            <a:solidFill>
              <a:srgbClr val="0B5CA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414223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読み出しを速くする代わりに、書き込みを遅くし領域を消費する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85800" y="481888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検索条件によく使う列にだけ作るのが基本である。実装は多くの場合 B木、あるいはハッシュ。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2E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11.4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822960" y="30632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トランザクション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39776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AA3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全部やるか、全部やらないか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214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5389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5564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5740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5915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6090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6265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6440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6616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6791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6966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7141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7316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7492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7667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7842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8017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8192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8543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8718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8893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9068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9244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11.4　トランザクション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なぜ必要か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銀行の振込を考える。1の直後に障害が起きたら、10,000 円が消滅する。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1883664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まとめて1つの単位にする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286000"/>
            <a:ext cx="5166360" cy="1920240"/>
          </a:xfrm>
          <a:prstGeom prst="roundRect">
            <a:avLst>
              <a:gd name="adj" fmla="val 1905"/>
            </a:avLst>
          </a:prstGeom>
          <a:solidFill>
            <a:srgbClr val="F5F7FA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2432304"/>
            <a:ext cx="4764024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1619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BEGIN;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1619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UPDATE 口座 SET 残高 = 残高 - 10000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1619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WHERE 口座番号 = 'A';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1619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UPDATE 口座 SET 残高 = 残高 + 10000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1619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WHERE 口座番号 = 'B';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1619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COMMIT;   -- ここで初めて確定する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09360" y="1883664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2つの操作は不可分でなければならない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09360" y="2286000"/>
            <a:ext cx="5166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「両方実行される」か「両方実行されない」かのどちらか。途中で止まって金が消えることがあってはならない。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問題があれば ROLLBACK で取り消す。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5394960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トランザクションとは、まとめて1つの単位として扱われる一連の操作である。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11.4　トランザクション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ACID 特性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18</a:t>
            </a:r>
            <a:endParaRPr lang="en-US" sz="1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481328"/>
          <a:ext cx="107899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937760"/>
                <a:gridCol w="365760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性質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内容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防ぐ事態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 原子性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全部実行されるか、全く実行されないか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途中で止まって金が消える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 一貫性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実行の前後で制約が保たれる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残高が負になる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 独立性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同時実行でも、順番に実行したのと同じ結果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第7回の競合状態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D 永続性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完了したら、障害が起きても失われない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「完了」の後で消える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85800" y="3721608"/>
            <a:ext cx="10789920" cy="658368"/>
          </a:xfrm>
          <a:prstGeom prst="roundRect">
            <a:avLst>
              <a:gd name="adj" fmla="val 8333"/>
            </a:avLst>
          </a:prstGeom>
          <a:solidFill>
            <a:srgbClr val="D9E6F4"/>
          </a:solidFill>
          <a:ln w="19050">
            <a:solidFill>
              <a:srgbClr val="0B5CA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386791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独立性は、第7回のスレッドの競合状態とまったく同じ問題である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85800" y="454456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永続性は WAL（Write-Ahead Logging）で実現する。変更を実際のデータファイルに書く前に、ログに先に書く。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第6回のファイルシステムのジャーナリングと同じ考え方である。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11.4　トランザクション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独立性のレベルは選べる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完全な独立性は高価である（並行性が下がる）。そこで段階を選べるようになっている。</a:t>
            </a:r>
            <a:endParaRPr lang="en-US" sz="15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883664"/>
          <a:ext cx="1078992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676656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レベル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許される異常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READ UNCOMMITTED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未確定の値が読める（ダーティリード）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READ COMMITTED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同じ問い合わせを2回して結果が変わる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REPEATABLE READ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集合の要素が増える（ファントムリード）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SERIALIZABLE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なし（順番に実行したのと完全に同じ）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85800" y="4215384"/>
            <a:ext cx="10789920" cy="658368"/>
          </a:xfrm>
          <a:prstGeom prst="roundRect">
            <a:avLst>
              <a:gd name="adj" fmla="val 8333"/>
            </a:avLst>
          </a:prstGeom>
          <a:solidFill>
            <a:srgbClr val="D9E6F4"/>
          </a:solidFill>
          <a:ln w="19050">
            <a:solidFill>
              <a:srgbClr val="0B5CA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436168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下に行くほど安全だが遅い。用途に応じて選ぶ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85800" y="5038344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残高の計算には SERIALIZABLE、閲覧数の集計には READ COMMITTED、といった判断をする。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2E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11.5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822960" y="30632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大規模化とNoSQL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39776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AA3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1台に収まらなくなったとき、何を諦めるか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214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5389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5564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5740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5915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6090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6265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6440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6616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6791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6966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7141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7316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7492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7667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7842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8017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8192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8543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8718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8893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9068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9244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11.5　分散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レプリケーションとシャーディング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スケールアップ（1台を強力に）には限界と急激な費用増がある。しかし ACID を複数台にまたがって保証するのは高価である。</a:t>
            </a:r>
            <a:endParaRPr lang="en-US" sz="1500" dirty="0"/>
          </a:p>
        </p:txBody>
      </p:sp>
      <p:pic>
        <p:nvPicPr>
          <p:cNvPr id="6" name="Image 0" descr="/Users/koide/Documents/Playground/CompOutline/slides/png/fig-11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4388" y="2084832"/>
            <a:ext cx="5952744" cy="34015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568756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読み出しを分散するか、書き込みも分散するか。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11.5　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CAP 定理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分散システムでは、一貫性 (C)・可用性 (A)・分断耐性 (P) の3つを同時にすべては満たせない。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1929384"/>
            <a:ext cx="10789920" cy="713232"/>
          </a:xfrm>
          <a:prstGeom prst="roundRect">
            <a:avLst>
              <a:gd name="adj" fmla="val 7692"/>
            </a:avLst>
          </a:prstGeom>
          <a:solidFill>
            <a:srgbClr val="D9E6F4"/>
          </a:solidFill>
          <a:ln w="19050">
            <a:solidFill>
              <a:srgbClr val="0B5CA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084832"/>
            <a:ext cx="10332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ネットワークの分断は必ず起きる。だから選択は C と A のどちらを取るか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88720" y="288950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 を取る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43600" y="3017520"/>
            <a:ext cx="640080" cy="201168"/>
          </a:xfrm>
          <a:prstGeom prst="rightArrow">
            <a:avLst/>
          </a:prstGeom>
          <a:solidFill>
            <a:srgbClr val="0B5CAD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0" y="288950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分断中は応答を拒否する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351129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 を取る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943600" y="3639312"/>
            <a:ext cx="640080" cy="201168"/>
          </a:xfrm>
          <a:prstGeom prst="rightArrow">
            <a:avLst/>
          </a:prstGeom>
          <a:solidFill>
            <a:srgbClr val="0B5CAD"/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0" y="351129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古い値でも応答する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413308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結果整合性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943600" y="4261104"/>
            <a:ext cx="640080" cy="201168"/>
          </a:xfrm>
          <a:prstGeom prst="rightArrow">
            <a:avLst/>
          </a:prstGeom>
          <a:solidFill>
            <a:srgbClr val="0B5CAD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0" y="413308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しばらくすれば一致する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5800" y="48463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銀行の残高は誤った値を返してはならないので C。SNS のタイムラインは多少古くても止まるより良いので A。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第9回で見たとおり、インターネットは障害を前提としている。P は諦められない。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11.5　NoSQL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NoSQL は選択肢であって、優劣ではない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23</a:t>
            </a:r>
            <a:endParaRPr lang="en-US" sz="10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481328"/>
          <a:ext cx="107899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023360"/>
                <a:gridCol w="402336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種類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データの形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向く用途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キーバリュー型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キー → 値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キャッシュ、セッション管理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文書型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JSON のような入れ子構造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構造が一定しないデータ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列指向型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列ごとに格納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大量データの集計・分析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グラフ型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ノードと辺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人間関係、経路、推薦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85800" y="3721608"/>
            <a:ext cx="10789920" cy="658368"/>
          </a:xfrm>
          <a:prstGeom prst="roundRect">
            <a:avLst>
              <a:gd name="adj" fmla="val 8333"/>
            </a:avLst>
          </a:prstGeom>
          <a:solidFill>
            <a:srgbClr val="D9E6F4"/>
          </a:solidFill>
          <a:ln w="19050">
            <a:solidFill>
              <a:srgbClr val="0B5CA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386791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列指向が集計に強いのは、第5回の参照の局所性がストレージのレイアウトとして現れているから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85800" y="454456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「全社員の給与の合計」を計算するとき、行ごとの格納では全社員の全項目を読むことになる。列ごとなら給与の列だけでよい。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近年はリレーショナル DB が JSON 型を持ち、NoSQL が SQL 風の問い合わせと ACID を持つようになり、境界は曖昧になっている。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11.5　ベクトル検索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「意味が近いか」で探す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ここまでの検索は「値が一致するか」だった。しかし「この文書と似た内容の文書を探せ」は WHERE でも LIKE でも書けない。言い回しが違えば文字は一致しない。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2130552"/>
            <a:ext cx="10789920" cy="713232"/>
          </a:xfrm>
          <a:prstGeom prst="roundRect">
            <a:avLst>
              <a:gd name="adj" fmla="val 7692"/>
            </a:avLst>
          </a:prstGeom>
          <a:solidFill>
            <a:srgbClr val="D9E6F4"/>
          </a:solidFill>
          <a:ln w="19050">
            <a:solidFill>
              <a:srgbClr val="0B5CA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286000"/>
            <a:ext cx="10332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文章や画像を高次元のベクトルに変換し、もっとも近いベクトルを探す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88720" y="309067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従来の検索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43600" y="3218688"/>
            <a:ext cx="640080" cy="201168"/>
          </a:xfrm>
          <a:prstGeom prst="rightArrow">
            <a:avLst/>
          </a:prstGeom>
          <a:solidFill>
            <a:srgbClr val="0B5CAD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0" y="309067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値が一致するか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371246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ベクトル検索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943600" y="3840480"/>
            <a:ext cx="640080" cy="201168"/>
          </a:xfrm>
          <a:prstGeom prst="rightArrow">
            <a:avLst/>
          </a:prstGeom>
          <a:solidFill>
            <a:srgbClr val="0B5CAD"/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0" y="371246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意味が近いか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5800" y="4425696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学習済みモデルが「意味の近いものが近い位置に来る」ようにベクトル（埋め込み）を作る。検索は最近傍探索になる。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B木は「大小の順序」で絞る構造だったが、ベクトルには自然な全順序がないので別の索引（HNSW などのグラフ）が要る。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5852160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高次元では厳密な最近傍は全件走査に近づくので、近似最近傍探索を使う。第2回の「厳密解を諦めて近似に向かう」がここでも現れている。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11.5　ベクトル検索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RAG は、この上に立っている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第13回で扱う RAG（検索拡張生成）は、ベクトル検索とLLMの組み合わせである。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1975104"/>
            <a:ext cx="3474720" cy="1463040"/>
          </a:xfrm>
          <a:prstGeom prst="roundRect">
            <a:avLst>
              <a:gd name="adj" fmla="val 3750"/>
            </a:avLst>
          </a:prstGeom>
          <a:solidFill>
            <a:srgbClr val="D9E6F4"/>
          </a:solidFill>
          <a:ln w="19050">
            <a:solidFill>
              <a:srgbClr val="0B5CA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2104" y="21031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32104" y="2395728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溜める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32104" y="2743200"/>
            <a:ext cx="3182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社内文書などを、あらかじめ全部ベクトルにして保存しておく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78808" y="2670048"/>
            <a:ext cx="146304" cy="146304"/>
          </a:xfrm>
          <a:prstGeom prst="rightArrow">
            <a:avLst/>
          </a:prstGeom>
          <a:solidFill>
            <a:srgbClr val="5F6672"/>
          </a:solidFill>
          <a:ln/>
        </p:spPr>
      </p:sp>
      <p:sp>
        <p:nvSpPr>
          <p:cNvPr id="11" name="Shape 9"/>
          <p:cNvSpPr/>
          <p:nvPr/>
        </p:nvSpPr>
        <p:spPr>
          <a:xfrm>
            <a:off x="4343400" y="1975104"/>
            <a:ext cx="3474720" cy="1463040"/>
          </a:xfrm>
          <a:prstGeom prst="roundRect">
            <a:avLst>
              <a:gd name="adj" fmla="val 3750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9704" y="21031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89704" y="2395728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探す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89704" y="2743200"/>
            <a:ext cx="3182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質問もベクトルにして、近いベクトルの文書を取り出す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836408" y="2670048"/>
            <a:ext cx="146304" cy="146304"/>
          </a:xfrm>
          <a:prstGeom prst="rightArrow">
            <a:avLst/>
          </a:prstGeom>
          <a:solidFill>
            <a:srgbClr val="5F6672"/>
          </a:solidFill>
          <a:ln/>
        </p:spPr>
      </p:sp>
      <p:sp>
        <p:nvSpPr>
          <p:cNvPr id="16" name="Shape 14"/>
          <p:cNvSpPr/>
          <p:nvPr/>
        </p:nvSpPr>
        <p:spPr>
          <a:xfrm>
            <a:off x="8001000" y="1975104"/>
            <a:ext cx="3474720" cy="1463040"/>
          </a:xfrm>
          <a:prstGeom prst="roundRect">
            <a:avLst>
              <a:gd name="adj" fmla="val 3750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47304" y="21031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47304" y="2395728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答えさせる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147304" y="2743200"/>
            <a:ext cx="3182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その文書を文脈に入れて、LLM に答えさせる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" y="3712464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モデルを学習し直さずに、最新のデータや社内の文書に基づいた回答をさせられる。これが実務で RAG が重視される理由である。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5800" y="5760720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「データベースの話」が「生成AIの話」に直結する場所である。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11.5　大規模処理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MapReduce の形が、この形である理由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1572768"/>
            <a:ext cx="3474720" cy="1828800"/>
          </a:xfrm>
          <a:prstGeom prst="roundRect">
            <a:avLst>
              <a:gd name="adj" fmla="val 3000"/>
            </a:avLst>
          </a:prstGeom>
          <a:solidFill>
            <a:srgbClr val="D9E6F4"/>
          </a:solidFill>
          <a:ln w="19050">
            <a:solidFill>
              <a:srgbClr val="0B5CA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" y="170078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32104" y="1993392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32104" y="2340864"/>
            <a:ext cx="31821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データを分割し、各断片に同じ処理を並列に適用する。完全に独立なので台数に比例して速くなる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78808" y="2267712"/>
            <a:ext cx="146304" cy="146304"/>
          </a:xfrm>
          <a:prstGeom prst="rightArrow">
            <a:avLst/>
          </a:prstGeom>
          <a:solidFill>
            <a:srgbClr val="5F6672"/>
          </a:solidFill>
          <a:ln/>
        </p:spPr>
      </p:sp>
      <p:sp>
        <p:nvSpPr>
          <p:cNvPr id="10" name="Shape 8"/>
          <p:cNvSpPr/>
          <p:nvPr/>
        </p:nvSpPr>
        <p:spPr>
          <a:xfrm>
            <a:off x="4343400" y="1572768"/>
            <a:ext cx="3474720" cy="1828800"/>
          </a:xfrm>
          <a:prstGeom prst="roundRect">
            <a:avLst>
              <a:gd name="adj" fmla="val 3000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9704" y="170078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489704" y="1993392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Shuffle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89704" y="2340864"/>
            <a:ext cx="31821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結果をキーごとにまとめ直す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836408" y="2267712"/>
            <a:ext cx="146304" cy="146304"/>
          </a:xfrm>
          <a:prstGeom prst="rightArrow">
            <a:avLst/>
          </a:prstGeom>
          <a:solidFill>
            <a:srgbClr val="5F6672"/>
          </a:solidFill>
          <a:ln/>
        </p:spPr>
      </p:sp>
      <p:sp>
        <p:nvSpPr>
          <p:cNvPr id="15" name="Shape 13"/>
          <p:cNvSpPr/>
          <p:nvPr/>
        </p:nvSpPr>
        <p:spPr>
          <a:xfrm>
            <a:off x="8001000" y="1572768"/>
            <a:ext cx="3474720" cy="1828800"/>
          </a:xfrm>
          <a:prstGeom prst="roundRect">
            <a:avLst>
              <a:gd name="adj" fmla="val 3000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47304" y="170078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147304" y="1993392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Reduce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147304" y="2340864"/>
            <a:ext cx="31821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キーごとに集約する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367588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第5回のアムダールの法則を思い出す。並列化できる割合が上限を決める。Map の段階は完全に独立なので効率がよい。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また、どこか1台が壊れてもその断片だけやり直せばよい（耐障害性）。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5800" y="5852160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現在は中間結果を主記憶に保持する Apache Spark のような枠組みが主流。第13回の機械学習は、この蓄積の上に成り立っている。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第11回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演習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1691640"/>
            <a:ext cx="868680" cy="402336"/>
          </a:xfrm>
          <a:prstGeom prst="roundRect">
            <a:avLst>
              <a:gd name="adj" fmla="val 18182"/>
            </a:avLst>
          </a:prstGeom>
          <a:solidFill>
            <a:srgbClr val="D9E6F4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91640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5C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11-1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783080" y="1673352"/>
            <a:ext cx="96926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CSV ファイルで学生名簿を管理する場合の問題を4つ挙げ、それぞれ DBMS のどの機能が解決するか対応づけよ。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2560320"/>
            <a:ext cx="868680" cy="402336"/>
          </a:xfrm>
          <a:prstGeom prst="roundRect">
            <a:avLst>
              <a:gd name="adj" fmla="val 18182"/>
            </a:avLst>
          </a:prstGeom>
          <a:solidFill>
            <a:srgbClr val="D9E6F4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560320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5C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11-2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783080" y="2542032"/>
            <a:ext cx="96926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注文の表（主キーは 注文番号＋商品名。データは講義ノート参照）について、更新異常・挿入異常・削除異常の例を1つずつ挙げよ。また第3正規形に分割し、各表の主キーと外部キーを示せ。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" y="3429000"/>
            <a:ext cx="868680" cy="402336"/>
          </a:xfrm>
          <a:prstGeom prst="roundRect">
            <a:avLst>
              <a:gd name="adj" fmla="val 18182"/>
            </a:avLst>
          </a:prstGeom>
          <a:solidFill>
            <a:srgbClr val="D9E6F4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429000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5C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11-4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783080" y="3410712"/>
            <a:ext cx="96926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WHERE と HAVING の違いを説明し、両方を使う SQL の例を1つ書け。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5800" y="4297680"/>
            <a:ext cx="868680" cy="402336"/>
          </a:xfrm>
          <a:prstGeom prst="roundRect">
            <a:avLst>
              <a:gd name="adj" fmla="val 18182"/>
            </a:avLst>
          </a:prstGeom>
          <a:solidFill>
            <a:srgbClr val="D9E6F4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297680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5C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11-7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783080" y="4279392"/>
            <a:ext cx="96926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「この文書と似た内容の文書を探せ」が WHERE や LIKE では書けないのはなぜか。ベクトル検索がそれをどう解くか説明せよ。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85800" y="5166360"/>
            <a:ext cx="868680" cy="402336"/>
          </a:xfrm>
          <a:prstGeom prst="roundRect">
            <a:avLst>
              <a:gd name="adj" fmla="val 18182"/>
            </a:avLst>
          </a:prstGeom>
          <a:solidFill>
            <a:srgbClr val="D9E6F4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5166360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5C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11-8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783080" y="5148072"/>
            <a:ext cx="96926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CAP 定理において分断耐性を諦められないのはなぜか。また (a) 銀行の残高照会 (b) SNS の「いいね」の数 (c) 航空券の座席予約 は C と A のどちらを優先すべきか。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まとめ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417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B0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DBMS が要る理由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297680" y="1380744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8EBE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ファイル管理は冗長性・更新異常・同時アクセス・障害回復で行き詰まる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22960" y="207568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B0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正規化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297680" y="2039112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8EBE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1つの事実は1箇所にだけ書く。これが更新異常を防ぐ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73405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B0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SQL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297680" y="26974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8EBE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宣言的。「何が欲しいか」を書けば、取り方は DBMS が決める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339242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B0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インデックス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97680" y="3355848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8EBE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検索を速くする代わりに、書き込みを遅くし領域を消費する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40507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B0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ACID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297680" y="4014216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8EBE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独立性は第7回の競合状態と同じ問題。永続性は WAL で実現する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2960" y="47091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B0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分散と CAP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297680" y="4672584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8EBE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分断は必ず起きるので、C と A のどちらを選ぶかになる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53675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B0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ベクトル検索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297680" y="5330952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8EBE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値の一致ではなく意味の近さで探す。第13回の RAG はこの上に立つ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22960" y="59893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次回　データを溜められるようになった。では、それを守るには —— そして顔の見えない相手をどう信用するか。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第11回 データベースとデータ処理</dc:title>
  <dc:subject>PptxGenJS Presentation</dc:subject>
  <dc:creator>九州大学 コンピュータシステム通論</dc:creator>
  <cp:lastModifiedBy>九州大学 コンピュータシステム通論</cp:lastModifiedBy>
  <cp:revision>1</cp:revision>
  <dcterms:created xsi:type="dcterms:W3CDTF">2026-09-22T02:13:01Z</dcterms:created>
  <dcterms:modified xsi:type="dcterms:W3CDTF">2026-09-22T02:13:01Z</dcterms:modified>
</cp:coreProperties>
</file>