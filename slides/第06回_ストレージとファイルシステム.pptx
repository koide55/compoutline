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2880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spc="200" kern="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コンピュータシステム通論</a:t>
            </a:r>
            <a:endParaRPr lang="en-US" sz="17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ストレージとファイルシステム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37033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電源を切っても消えないデータは、どう置かれているのか。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02920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02920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296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九州大学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371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今回の問い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822960" y="1920240"/>
            <a:ext cx="10607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電源を切っても消えない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データは、どう置かれているのか。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4937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この90分で、この問いに答えを出す。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到達目標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77240" y="1764792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64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417320" y="178308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の構造を説明し、アクセス時間を見積もれる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77240" y="2624328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24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2642616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の特性と、SSD がそれをどう扱うかを説明できる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77240" y="3483864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77240" y="34838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17320" y="3502152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の各レベルの構成・冗長性・性能特性を説明できる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777240" y="4343400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436168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が提供する抽象化を説明できる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777240" y="5202936"/>
            <a:ext cx="457200" cy="457200"/>
          </a:xfrm>
          <a:prstGeom prst="ellipse">
            <a:avLst/>
          </a:prstGeom>
          <a:solidFill>
            <a:srgbClr val="D9E6F4"/>
          </a:solidFill>
          <a:ln w="15240">
            <a:solidFill>
              <a:srgbClr val="0B5CA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202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417320" y="5221224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pPr indent="0" marL="0">
              <a:buNone/>
            </a:pPr>
            <a:r>
              <a:rPr lang="en-US" sz="14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　が RAID と何を変えたか説明できる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機械が動く記憶装置の性質は、ソフトウェアに刻まれている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なぜ今も磁気ディスクを学ぶのか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2026年時点で、個人が使う計算機のストレージはほぼ SSD である。それでも学ぶ理由が3つある。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データセンタでは現役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容量あたりの単価が SSD の数分の1。大量の「あまり読まないデータ」には代替がない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設計に刻まれている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ファイルシステムもデータベースも、HDD の特性を前提に作られてきた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桁の訓練になる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アクセス時間の見積もりが、性能を考える訓練になる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磁気ディスク装置の構造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80310" y="1371600"/>
            <a:ext cx="720090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プラッタ／トラック／セクタ／シリンダ／ヘッド／アクセスアーム。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ヘッドが一体で動くので、1つの面のトラック5を読んでいるとき他の面もトラック5にいる。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「ファイルを同じシリンダにまとめる」という古典的な最適化はここから来る。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アクセス時間の見積もり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アクセス時間 ＝ シーク時間 ＋ 回転待ち時間 ＋ 転送時間。回転待ちの平均は半回転分である。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7,200 rpm、シーク 8ms、転送 200MB/s で 4KB を読む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85800" y="2286000"/>
            <a:ext cx="5166360" cy="1920240"/>
          </a:xfrm>
          <a:prstGeom prst="roundRect">
            <a:avLst>
              <a:gd name="adj" fmla="val 1905"/>
            </a:avLst>
          </a:prstGeom>
          <a:solidFill>
            <a:srgbClr val="F5F7FA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6968" y="2432304"/>
            <a:ext cx="4764024" cy="1627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シーク時間  = 8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回転待ち    = 4.17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転送時間    = 4KB / 200MB/s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= 0.02 ms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-----------------------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6191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合計        = 12.19 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309360" y="1883664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注目すべきこと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309360" y="2286000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12.19ms のうち、実際にデータを転送しているのは 0.02ms、わずか 0.16% である。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残りは全部「機械が動くのを待っている」時間。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09360" y="3913632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主記憶の15万倍遅い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53949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この差が、ソフトウェア設計のあらゆる場面に影響している。DB がインデックスを持つのも、OS がディスクをキャッシュするのも、この差を埋めるため。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6.1　磁気ディスク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「どこを読むか」より「どういう順で読むか」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上の例は「1箇所を読む」場合だった。連続した領域なら1回シークすれば、あとは回転に任せて次々読める。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883664"/>
          <a:ext cx="1078992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58521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アクセス方式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4KB×1000個を読む時間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ランダム（1000箇所）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12.19 ms × 1000 = 12.2 秒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連続（4MB を一続きで）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8 + 4.17 + 20 = 32 ms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85800" y="3483864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363016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約380倍の差。SSD ではこの差はずっと小さいが、ゼロではない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85800" y="4306824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容量表示のずれも同じ場所で現れる。製造者の「1 TB」は 10¹² バイト、OS が 2⁴⁰ で割ると 0.909 TB。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1TB 買って 0.91TB と表示される。どちらも間違っていない。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フラッシュメモリと SSD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厄介な素子を、コントローラが飼いならす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フラッシュ特有の3つの制約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フラッシュはトランジスタのゲートに電荷を閉じ込める。電源を切っても残るが、他の記憶装置にない性質がある。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8580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書き換え回数に上限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6868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SLC は数万回、QLC は数百〜千回。1セルに詰め込むほど安いが劣化に弱い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5864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4152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上書きができない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4152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書き込みはページ単位（数KB）、消去はブロック単位（数MB）。単位が食い違う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031480" y="1883664"/>
            <a:ext cx="3444240" cy="1554480"/>
          </a:xfrm>
          <a:prstGeom prst="roundRect">
            <a:avLst>
              <a:gd name="adj" fmla="val 3529"/>
            </a:avLst>
          </a:prstGeom>
          <a:solidFill>
            <a:srgbClr val="EEF1F5"/>
          </a:solidFill>
          <a:ln w="12700">
            <a:solidFill>
              <a:srgbClr val="DDE4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14360" y="2020824"/>
            <a:ext cx="3078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摩耗が偏る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14360" y="2368296"/>
            <a:ext cx="307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よく書き換える領域だけ先に寿命を迎えると、全体が使えなくなる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「10状態を電圧で区別するのは難しい」という第2回の話が、ここで実際の設計問題として現れている。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SSD のコントローラが制約を隠す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11</a:t>
            </a:r>
            <a:endParaRPr lang="en-US" sz="1000" dirty="0"/>
          </a:p>
        </p:txBody>
      </p:sp>
      <p:pic>
        <p:nvPicPr>
          <p:cNvPr id="5" name="Image 0" descr="/Users/koide/Documents/Playground/CompOutline/slides/png/fig-06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90813" y="1371600"/>
            <a:ext cx="7579895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85800" y="568756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ウェアレベリング／ログ構造の書き込み／ガベージコレクション／TRIM／予備領域。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85800" y="6071616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第5回の仮想記憶と同じ構図 ——「対応表を挟んで、上の層に都合のよい幻を見せる」—— がここでも使われている。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装置が変われば、プロトコルも変える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</a:t>
            </a:r>
            <a:endParaRPr lang="en-US" sz="1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011680"/>
                <a:gridCol w="2743200"/>
                <a:gridCol w="31089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規格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経路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帯域の目安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備考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SATA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AHCI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6 Gbps（実効 550 MB/s）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HDD 時代の設計。SSD には遅すぎる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4.0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7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SSD のために設計されたプロトコル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NVMe (PCIe 5.0 x4)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PCI Express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約 14 GB/s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2026年時点の主流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85800" y="3355848"/>
            <a:ext cx="10789920" cy="658368"/>
          </a:xfrm>
          <a:prstGeom prst="roundRect">
            <a:avLst>
              <a:gd name="adj" fmla="val 8333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3502152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が速い理由は帯域だけではない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" y="417880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SATA/AHCI は「1つのキューに31個の命令」しか扱えず、ヘッドが1つの HDD には十分だった。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 は「6万5千個のキューに、各6万5千個の命令」。内部で数千の処理を並行できる SSD の性質に合わせた設計である。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6.2　SSD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退場したもの、残ったもの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光学メディア（CD/DVD/Blu-ray）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個人用途からはほぼ退場した。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原理（レーザでピットを読む、色素を分解する、結晶構造を変える）は教材として価値があるが、実務で扱う場面は少ない。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磁気テープ　むしろ現役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LTO 規格は世代を重ね、1巻で数十 TB。容量単価が最も安く、電源なしで長期保存でき、ネットワークから切り離せる。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ランサムウェア対策として重要。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「新しい技術が古い技術を置き換える」とは限らない。用途ごとに最適な特性が違うので、階層として共存する。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冗長化：RAID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壊れることを前提に組む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0/1/5/6 のデータ配置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ストライピング（分散して置く。速い）とミラーリング（重複して置く。壊れても残る）の組み合わせ。</a:t>
            </a:r>
            <a:endParaRPr lang="en-US" sz="1500" dirty="0"/>
          </a:p>
        </p:txBody>
      </p:sp>
      <p:pic>
        <p:nvPicPr>
          <p:cNvPr id="6" name="Image 0" descr="/Users/koide/Documents/Playground/CompOutline/slides/png/fig-06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39548" y="1883664"/>
            <a:ext cx="5482424" cy="360273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どれを選ぶか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554480"/>
                <a:gridCol w="2011680"/>
                <a:gridCol w="2194560"/>
                <a:gridCol w="32918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レベル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最小台数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使える容量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耐えられる故障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特徴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100%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0台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速いが冗長性なし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単純・確実。容量効率が悪い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5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3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(n−1)/n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容量効率と冗長性の折衷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6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(n−2)/n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2台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大容量ディスク向け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 10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4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50%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構成による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高性能・高信頼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84048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では1ブロックの書き換えでも「読み2回＋書き2回」かかる（書き込みペナルティ）。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書き込みが多い用途で RAID 10 が選ばれるのはこのため。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76072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2/3/4 は現在ほとんど使われない。RAID 4 はパリティディスクに書き込みが集中するため RAID 5 に置き換えられた。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6.3　RAID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はバックアップではない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527048"/>
            <a:ext cx="10789920" cy="713232"/>
          </a:xfrm>
          <a:prstGeom prst="roundRect">
            <a:avLst>
              <a:gd name="adj" fmla="val 7692"/>
            </a:avLst>
          </a:prstGeom>
          <a:solidFill>
            <a:srgbClr val="D9E6F4"/>
          </a:solidFill>
          <a:ln w="1905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682496"/>
            <a:ext cx="10332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守れるのは「ディスクの物理的故障」だけである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88720" y="2487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ディスクの故障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43600" y="2615184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487168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守れる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18872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誤ってファイルを削除した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943600" y="3236976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188720" y="3730752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ランサムウェアで暗号化された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943600" y="3858768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3730752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188720" y="435254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火災・水害で装置ごと失われた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943600" y="4480560"/>
            <a:ext cx="640080" cy="201168"/>
          </a:xfrm>
          <a:prstGeom prst="rightArrow">
            <a:avLst/>
          </a:prstGeom>
          <a:solidFill>
            <a:srgbClr val="0B5CAD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4352544"/>
            <a:ext cx="4206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守れない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85800" y="5065776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さらに現代的な問題として、再構築中の二次故障がある。20TB 級の RAID 5 では再構築に丸1日以上かかり、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その間に残りのディスクに全域アクセスの負荷がかかる。2台目が壊れる確率が無視できない。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85800" y="59436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これが RAID 6 や分散ストレージが求められる理由である。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21945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2E3A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</a:t>
            </a:r>
            <a:endParaRPr lang="en-US" sz="5600" dirty="0"/>
          </a:p>
        </p:txBody>
      </p:sp>
      <p:sp>
        <p:nvSpPr>
          <p:cNvPr id="3" name="Text 1"/>
          <p:cNvSpPr/>
          <p:nvPr/>
        </p:nvSpPr>
        <p:spPr>
          <a:xfrm>
            <a:off x="822960" y="3063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ファイルシステムと分散ストレージ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9776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ブロックの列に、名前と階層を与える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5039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5214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5389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5564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05740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359152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6090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96265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6440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56616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6791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16966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7141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7316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74920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667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7842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8017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81928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85432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87184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88936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90688" y="5852160"/>
            <a:ext cx="265176" cy="182880"/>
          </a:xfrm>
          <a:prstGeom prst="rect">
            <a:avLst/>
          </a:prstGeom>
          <a:solidFill>
            <a:srgbClr val="6AB0F3"/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92440" y="5852160"/>
            <a:ext cx="265176" cy="182880"/>
          </a:xfrm>
          <a:prstGeom prst="rect">
            <a:avLst/>
          </a:prstGeom>
          <a:solidFill>
            <a:srgbClr val="FFFFFF">
              <a:alpha val="12000"/>
            </a:srgbClr>
          </a:solidFill>
          <a:ln w="7620">
            <a:solidFill>
              <a:srgbClr val="6AB0F3">
                <a:alpha val="4500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ファイルシステムが作る幻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ストレージは物理的には「番号のついたブロックの列」でしかない。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1883664"/>
            <a:ext cx="10515600" cy="2505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名前でアクセスできる — ブロック番号ではなく /home/user/report.txt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可変長で扱える — ブロック境界を意識しない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階層構造がある — ディレクトリで整理できる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メタデータがある — 所有者、権限、更新日時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同時アクセスを調停する — 複数プロセスからの読み書き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457200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ジャーナリングは「これから行う変更を先に記録してから実行する」。第11回のトランザクションと同じ発想である。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ファイルシステム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装置が変われば、正しい運用も変わる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20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580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HDD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ファイルを作ったり消したりするうちに空き領域が細切れになり、1つのファイルが飛び飛びに置かれる。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 では飛び飛びの領域を読むたびにシークが起き、深刻だった。「デフラグ」が必要だった。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481328"/>
            <a:ext cx="5166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断片化と SSD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309360" y="1883664"/>
            <a:ext cx="5166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シークが無いので影響は小さい。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むしろデフラグは無駄な書き込みを増やして寿命を縮めるため、行わない。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512064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同じ「断片化」でも、装置の特性が変われば対処が逆になる。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6.4　分散ストレージ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1台に収まらなくなったら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81328"/>
          <a:ext cx="107899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657600"/>
                <a:gridCol w="4937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分散ストレージ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単位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1台の中の複数ディスク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ネットワーク上の複数サーバ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冗長化の対象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ディスクの故障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サーバ・ラック・データセンタの故障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拡張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筐体の限界まで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サーバを足せば伸びる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例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ハードウェア RAID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Yu Gothic" pitchFamily="34" charset="0"/>
                          <a:ea typeface="Yu Gothic" pitchFamily="34" charset="-122"/>
                          <a:cs typeface="Yu Gothic" pitchFamily="34" charset="-120"/>
                        </a:rPr>
                        <a:t>Ceph, HDFS, S3 などのオブジェクトストレージ</a:t>
                      </a:r>
                      <a:endParaRPr lang="en-US" sz="1300" dirty="0">
                        <a:latin typeface="Yu Gothic" charset="0"/>
                        <a:ea typeface="Yu Gothic" charset="0"/>
                        <a:cs typeface="Yu Gothic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85800" y="3675888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冗長化は2方式。レプリケーション（3箇所に置く。単純で復旧が速いが容量効率33%）と、</a:t>
            </a:r>
            <a:endParaRPr lang="en-US" sz="13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イレイジャーコーディング（k個の断片＋m個の冗長断片。k=6, m=3 なら容量効率67%で3台の故障に耐える）。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85800" y="5852160"/>
            <a:ext cx="107899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断片を「別のラック、別の電源系統、別のデータセンタ」に散らす。ラックの電源が落ちてもデータが残るように。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5CA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03504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124712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672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691640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783080" y="1673352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回転数 10,000 rpm、平均シーク時間 5ms、転送速度 250 MB/s の HDD から 8KB を読む。平均アクセス時間と、そのうち転送時間の占める割合を求めよ。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85800" y="2770632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2770632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783080" y="2752344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4TB のディスク6台で RAID 5 と RAID 6 を組んだ場合、それぞれ使える容量と耐えられる故障台数を示せ。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85800" y="3849624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849624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6-4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783080" y="3831336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 5 の3台に A=1011, B=0110, C=1100 がある。パリティ P を求めよ。B が失われたとき、A, C, P から B を復元する計算を示せ。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85800" y="4928616"/>
            <a:ext cx="868680" cy="402336"/>
          </a:xfrm>
          <a:prstGeom prst="roundRect">
            <a:avLst>
              <a:gd name="adj" fmla="val 18182"/>
            </a:avLst>
          </a:prstGeom>
          <a:solidFill>
            <a:srgbClr val="D9E6F4"/>
          </a:solidFill>
          <a:ln w="12700">
            <a:solidFill>
              <a:srgbClr val="0B5CA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4928616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5CA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6-5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783080" y="4910328"/>
            <a:ext cx="969264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619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「RAID を組んでいるのでバックアップは不要」という主張に反論せよ。RAID で守れない事態を3つ挙げること。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619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まとめ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417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HDD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297680" y="138074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シークと回転待ちが支配的で、転送は1%にも満たない。ランダムと連続で数百倍の差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16712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フラッシュ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297680" y="2130552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書換え回数の上限・ブロック単位の消去・摩耗の偏り。コントローラが対応表で隠している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291693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NVMe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0" y="288036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帯域だけでなくキューの構造が SATA と根本的に違う。装置に合わせたプロトコル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" y="3666744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RAID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297680" y="3630168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ディスクの物理故障に備える技術。バックアップの代わりにはならない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22960" y="441655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ファイルシステム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297680" y="4379976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ブロックの列に名前・階層・メタデータの抽象を与える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" y="516636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AB0F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分散ストレージ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297680" y="5129784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E8EBE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冗長化の対象がディスクからデータセンタへ広がる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2960" y="598932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B0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次回　ここまでハードウェアを見てきた。これらすべてを取りまとめ、複数のプログラムに配分する仕組み —— OS の話へ。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ストレージとファイルシステム</dc:title>
  <dc:subject>PptxGenJS Presentation</dc:subject>
  <dc:creator>九州大学 コンピュータシステム通論</dc:creator>
  <cp:lastModifiedBy>九州大学 コンピュータシステム通論</cp:lastModifiedBy>
  <cp:revision>1</cp:revision>
  <dcterms:created xsi:type="dcterms:W3CDTF">2026-09-22T02:45:31Z</dcterms:created>
  <dcterms:modified xsi:type="dcterms:W3CDTF">2026-09-22T02:45:31Z</dcterms:modified>
</cp:coreProperties>
</file>