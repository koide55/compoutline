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200" kern="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コンピュータシステム通論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第8回　入出力・仮想化・クラウド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37033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100万倍遅い装置と、どうやって折り合いをつけるのか。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5852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九州大学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71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今回の問い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22960" y="1920240"/>
            <a:ext cx="10607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100万倍遅い装置と、どうやって</a:t>
            </a:r>
            <a:endParaRPr lang="en-US" sz="36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折り合いをつけるのか。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22960" y="4937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この90分で、この問いに答えを出す。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第8回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到達目標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77240" y="176479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764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417320" y="178308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ポーリングと割り込み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の違いと、それぞれが適する場面を説明できる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77240" y="2624328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417320" y="2642616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割り込み発生時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に CPU が何をするか、順を追って説明できる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77240" y="3483864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4838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17320" y="3502152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DMA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が解決している問題を説明できる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77240" y="4343400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4343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417320" y="4361688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仮想化とコンテナ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の違いを、何を分離しているかで説明できる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777240" y="5202936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52029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417320" y="5221224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クラウド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のサービスモデルと責任分界を説明できる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8.1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入出力の基本問題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CPU から見れば、周辺装置は止まっている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8.1　入出力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速度差という現実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第2・5・6回で見た遅延を、もう一度並べる。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883664"/>
          <a:ext cx="1078992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2377440"/>
                <a:gridCol w="457200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対象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時間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CPU の1サイクルを1秒とすると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CPU の1サイクル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0.3 ns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1秒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主記憶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80 ns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4分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NVMe SSD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 µs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18時間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HDD（ランダム）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12 ms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1年3ヶ月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ネットワーク（国内往復）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 ms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2年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キーボードの1打鍵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100 ms 以上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10年以上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85800" y="4544568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690872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もし CPU が「装置が終わるまで待つ」設計だったら、時間の99.99%以上が待機になる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85800" y="536752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入出力の仕組みの全体が、この待ち時間をどう使うかという問題への答えである。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8.1　入出力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ポーリングと割り込み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ポーリング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883664"/>
            <a:ext cx="5166360" cy="1280160"/>
          </a:xfrm>
          <a:prstGeom prst="roundRect">
            <a:avLst>
              <a:gd name="adj" fmla="val 2857"/>
            </a:avLst>
          </a:prstGeom>
          <a:solidFill>
            <a:srgbClr val="F5F7FA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86968" y="2029968"/>
            <a:ext cx="47640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(状態 != 準備完了) {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;  /* 聞き続ける */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データを読む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85800" y="3392424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単純で、準備完了を即座に検知できる。しかし待っている間、CPU が丸ごと無駄になる。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5020056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待ち時間が短いと分かっている場合は有効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30936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割り込み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309360" y="1883664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CPU が装置に聞きに行くのではなく、装置が終わったときに CPU に知らせる。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CPU は入出力を依頼したらそのプロセスを待機状態にして、別のプロセスを実行する。装置から信号が来たら、そこで初めて対応する。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309360" y="3511296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第7回の多重プログラミングは、割り込みがあって初めて成立する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高速な NVMe や10Gbps を超えるネットワークでは、割り込みのオーバヘッドのほうが大きく、あえてポーリングする設計もある。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8.1　入出力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割り込み処理の流れ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08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44936" y="1371600"/>
            <a:ext cx="8471647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状態を退避し、ハンドラを実行し、復元して再開する。割り込まれた側は中断に気づかない。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8.1　入出力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割り込みの種類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481328"/>
          <a:ext cx="1078992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926080"/>
                <a:gridCol w="493776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種類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きっかけ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外部割り込み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周辺装置から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入出力完了、キー入力、ネットワーク受信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タイマ割り込み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時計から定期的に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スケジューラが制御を取り戻す（第7回）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内部割り込み（例外）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実行中の命令自体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ゼロ除算、ページフォルト、不正な命令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ソフトウェア割り込み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命令で意図的に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システムコール（第7回）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85800" y="3721608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14400" y="3867912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タイマ割り込みがなければ、暴走したプログラムから OS が制御を取り戻せない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85800" y="454456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ページフォルトも割り込みである。第5回で見た「必要なページが主記憶にない」状態は内部割り込みとして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OS に通知され、OS がページを読み込んでから、中断した命令をやり直す。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8.1　入出力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DMA：転送そのものを任せる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割り込みで待ち時間は解決した。しかしデータの転送そのものを CPU が行っていては、手が空いても転送で塞がる。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08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64259" y="1883664"/>
            <a:ext cx="5833001" cy="360273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8.2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デバイスドライバと入出力装置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契約を決めて、中身を差し替え可能にする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8.2　装置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デバイスドライバという層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527048"/>
            <a:ext cx="10789920" cy="713232"/>
          </a:xfrm>
          <a:prstGeom prst="roundRect">
            <a:avLst>
              <a:gd name="adj" fmla="val 7692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682496"/>
            <a:ext cx="10332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新しい装置が出ても、アプリケーションを書き直さずに済む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188720" y="248716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アプリケーション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943600" y="2615184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9" name="Text 7"/>
          <p:cNvSpPr/>
          <p:nvPr/>
        </p:nvSpPr>
        <p:spPr>
          <a:xfrm>
            <a:off x="6766560" y="248716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read() システムコール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88720" y="3108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カーネル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943600" y="3236976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2" name="Text 10"/>
          <p:cNvSpPr/>
          <p:nvPr/>
        </p:nvSpPr>
        <p:spPr>
          <a:xfrm>
            <a:off x="6766560" y="31089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統一されたインタフェース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188720" y="373075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デバイスドライバ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943600" y="3858768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5" name="Text 13"/>
          <p:cNvSpPr/>
          <p:nvPr/>
        </p:nvSpPr>
        <p:spPr>
          <a:xfrm>
            <a:off x="6766560" y="373075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装置固有の作法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188720" y="435254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ハードウェア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943600" y="4480560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8" name="Text 16"/>
          <p:cNvSpPr/>
          <p:nvPr/>
        </p:nvSpPr>
        <p:spPr>
          <a:xfrm>
            <a:off x="6766560" y="435254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実際の装置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85800" y="5065776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第3回の ISA、第4回のリンク、第6回のファイルシステムと同じ構図である。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ただしドライバはカーネル空間で動くため、バグがあるとシステム全体が落ちる。Windows のブルースクリーンの多くはドライバに起因する。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8.2　装置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入出力装置の原理は、いくつかの型しかない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入力：物理量を電気信号にする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95528" y="1883664"/>
            <a:ext cx="5056632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キーボード — 格子状の配線を走査し、押された交点を検出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光学式マウス — 表面を高速で撮像し、直前の画像とのずれから移動量を算出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静電容量式タッチパネル — 指が近づくと変化する電極間の容量を検出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イメージセンサ — 光電効果で光を電荷に変え、数値化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30936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出力：電気信号を物理量にする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19088" y="1883664"/>
            <a:ext cx="5056632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液晶 — 電圧で液晶分子の向きを変え、偏光板を通る光量を制御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有機EL — 素子自体が発光。バックライト不要で黒を完全に消せる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レーザープリンタ — 感光体に静電潜像を描き、トナーを転写・定着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インクジェット — 熱またはピエゾ素子でインクの液滴を飛ばす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代表例を押さえておけば、新しい装置も理解できる。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8.2　装置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キーマトリクス：時間で空間を節約する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08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1640" y="1371600"/>
            <a:ext cx="8778240" cy="376210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5334871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104個のキーに1本ずつ線を引けば104本要るが、格子にすれば21本で済む。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85800" y="5718919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走査という時間の使い方で、空間（配線）を節約している。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計算機科学に繰り返し現れる、時間と空間のトレードオフである。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8.2　装置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接続インタフェース（2026年時点で現役のもの）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14</a:t>
            </a:r>
            <a:endParaRPr lang="en-US" sz="1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481328"/>
          <a:ext cx="1078992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4023360"/>
                <a:gridCol w="310896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規格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用途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速度の目安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USB 3.2 / USB4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汎用周辺機器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 Gbps / 40 Gbps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Thunderbolt 4 / 5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高速周辺機器、映像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40 Gbps / 80 Gbps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PCI Express 5.0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内部拡張（GPU、NVMe SSD）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レーンあたり 32 GT/s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HDMI 2.1 / DisplayPort 2.1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映像出力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48 Gbps / 80 Gbps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85800" y="3721608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14400" y="3867912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USB Type-C は「コネクタの形状」の規格であり、流れるプロトコルは別である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85800" y="454456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同じ形の端子で USB、DisplayPort、Thunderbolt、電力供給（最大240W）が扱える。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「挿さるのに動かない」という混乱の原因はここにある。IDE/SCSI/RS-232C/VGA は現行機器ではほぼ見かけない。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8.3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仮想化とコンテナ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「計算機そのもの」を抽象化する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8.3　仮想化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抽象化をもう一段上げる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ここまでで OS は次の抽象を提供してきた。次の一手は「計算機そのもの」を抽象化することである。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883664"/>
            <a:ext cx="2526030" cy="1188720"/>
          </a:xfrm>
          <a:prstGeom prst="roundRect">
            <a:avLst>
              <a:gd name="adj" fmla="val 4615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020824"/>
            <a:ext cx="21602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物理メモリ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368296"/>
            <a:ext cx="216027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仮想アドレス空間（第5回）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40430" y="1883664"/>
            <a:ext cx="2526030" cy="1188720"/>
          </a:xfrm>
          <a:prstGeom prst="roundRect">
            <a:avLst>
              <a:gd name="adj" fmla="val 4615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23310" y="2020824"/>
            <a:ext cx="21602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ブロックの列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623310" y="2368296"/>
            <a:ext cx="216027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ファイル（第6回）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95060" y="1883664"/>
            <a:ext cx="2526030" cy="1188720"/>
          </a:xfrm>
          <a:prstGeom prst="roundRect">
            <a:avLst>
              <a:gd name="adj" fmla="val 4615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7940" y="2020824"/>
            <a:ext cx="21602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1個の CPU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377940" y="2368296"/>
            <a:ext cx="216027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複数のプロセス（第7回）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949690" y="1883664"/>
            <a:ext cx="2526030" cy="1188720"/>
          </a:xfrm>
          <a:prstGeom prst="roundRect">
            <a:avLst>
              <a:gd name="adj" fmla="val 4615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32570" y="2020824"/>
            <a:ext cx="21602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個々の装置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132570" y="2368296"/>
            <a:ext cx="216027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統一されたインタフェース（8.2）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85800" y="3364992"/>
            <a:ext cx="107899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0B5CAD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914400" y="3493008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仮想化とは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14400" y="3803904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1台の物理計算機の上に複数の「仮想的な計算機」を作る技術。各 VM は独立した OS を持ち、自分専用のハードウェアがあると信じている。これを実現するのがハイパーバイザである。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85800" y="566928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得られるもの：集約／分離／可搬性（ライブマイグレーション）／柔軟性。この4つがそのままクラウドの技術的基礎になる。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8.3　仮想化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仮想機械とコンテナ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仮想機械には無駄がある。OS を丸ごと複製していることである。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08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62451" y="1883664"/>
            <a:ext cx="6636619" cy="36027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コンテナはカーネルを1つ共有したまま、プロセスから見える世界だけを分離する。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8.3　仮想化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どちらを選ぶか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18</a:t>
            </a:r>
            <a:endParaRPr lang="en-US" sz="1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481328"/>
          <a:ext cx="107899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474720"/>
                <a:gridCol w="493776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仮想機械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コンテナ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分離するもの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ハードウェア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プロセスの名前空間と資源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カーネル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ゲストごとに1つ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ホストのものを共有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起動時間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数十秒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1秒未満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メモリ消費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GB 単位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MB 単位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分離の強度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強い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中程度（カーネルの脆弱性は共有される）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異なる OS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動かせる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動かせない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85800" y="4059936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強い分離が要るとき（異なる顧客のワークロード、信頼できないコードの実行）は仮想機械、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自分たちのアプリを効率よく多数動かすときはコンテナ。クラウドでは「VM の中でコンテナ」が一般的である。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85800" y="576072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コンテナが数千になると人手で管理できない。これを自動化するのが Kubernetes などのオーケストレータである。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8.4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クラウドコンピューティング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本質は技術ではなく、失敗のコストが下がったこと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8.4　クラウド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何が変わったのか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</a:t>
            </a:r>
            <a:endParaRPr lang="en-US" sz="1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481328"/>
          <a:ext cx="107899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754880"/>
                <a:gridCol w="365760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自前で持つ（オンプレミス）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クラウド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調達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見積り・発注・搬入・設置に数週間〜数ヶ月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数分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費用の性質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設備投資（先に大きく払う）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経費（使った分だけ）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容量の決め方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ピークに合わせて買う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需要に応じて増減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失敗のコスト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買った機材が無駄になる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消せば止まる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85800" y="3721608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14400" y="3867912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もっとも重要な変化は、失敗のコストが下がったこと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85800" y="454456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履修登録システムは年に数日だけ極端な負荷がかかり、残りの360日は遊んでいる。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自前ならピークに合わせた設備が1年中遊ぶ。「試してみて、駄目ならやめる」が数千円でできるようになった。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8.4　クラウド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サービスモデルと責任分界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21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08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80310" y="1371600"/>
            <a:ext cx="720090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6071616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事業者は施設・機材・ハイパーバイザを、利用者はアクセス権限・データの暗号化・アカウント管理を担う。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現実の情報漏洩の多くは、事業者側ではなく利用者側の設定ミスによる。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8.4　クラウド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暗黒面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利点だけを見るのは危険である。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883664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020824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ベンダロックイン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368296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固有のサービスに依存すると、移行が事実上不可能になる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58640" y="1883664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41520" y="2020824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障害の巻き添え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41520" y="2368296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事業者の障害で、無関係な多数のサービスが同時に止まる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31480" y="1883664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14360" y="2020824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費用の逆転と予測困難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14360" y="2368296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使用量が安定して大きいと自前のほうが安い。設定ミスや攻撃で請求が跳ね上がる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85800" y="3319272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3456432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データの所在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68680" y="3803904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法域をまたぐ保管が、GDPR や個人情報保護法に抵触しうる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358640" y="3319272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41520" y="3456432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可視性の低下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541520" y="3803904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内部で何が起きているか分からず、問題の切り分けが難しい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031480" y="3319272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14360" y="3456432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サービス終了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214360" y="3803904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事業者の都合で機能が廃止される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85800" y="49377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大規模な事業者ほど障害の影響範囲が広い。効率のための集中が、社会全体の脆弱性になっている。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第8回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69164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69164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8-1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783080" y="1673352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ポーリングと割り込みについて、(a) 仕組み (b) CPU の利用効率 (c) それぞれが適する場面 を比較して説明せよ。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85800" y="2770632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770632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8-2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783080" y="2752344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タイマ割り込みが存在しなかった場合、OS のどの機能が成立しなくなるか。第7回の内容に触れて説明せよ。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85800" y="3849624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3849624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8-5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783080" y="3831336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仮想機械とコンテナについて (a) 何を分離しているか (b) 起動時間 (c) 分離の強度 で比較せよ。「信頼できない第三者のコードを実行する」用途ではどちらを選ぶべきか。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85800" y="4928616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4928616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8-7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783080" y="4910328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「クラウド事業者を使っているので、セキュリティ対策は事業者に任せてある」という主張に反論せよ。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まとめ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4173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速度差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297680" y="1380744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周辺装置は CPU から見れば止まっている。入出力の仕組みは、この待ち時間をどう使うかへの答え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22960" y="216712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割り込み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297680" y="2130552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装置側から知らせることで待ち時間を他の処理に使える。タイマ割り込みが OS の制御権を保証する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2916936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DMA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297680" y="288036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転送そのものを専用コントローラに任せ、CPU を解放する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22960" y="366674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ドライバ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297680" y="3630168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装置ごとの差を吸収し、統一されたインタフェースを保つ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22960" y="441655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仮想化とコンテナ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297680" y="4379976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仮想化は計算機そのものを、コンテナはカーネルを共有してより軽量に分離する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22960" y="51663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クラウド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297680" y="5129784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本質は調達の速さと失敗コストの低下。ただし責任は共有であり、集中リスクを伴う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2960" y="598932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　ここまで1台の計算機の話だった。次は計算機どうしをつなぐ —— ネットワークの世界へ。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第8回 入出力・仮想化・クラウド</dc:title>
  <dc:subject>PptxGenJS Presentation</dc:subject>
  <dc:creator>九州大学 コンピュータシステム通論</dc:creator>
  <cp:lastModifiedBy>九州大学 コンピュータシステム通論</cp:lastModifiedBy>
  <cp:revision>1</cp:revision>
  <dcterms:created xsi:type="dcterms:W3CDTF">2026-09-22T02:24:24Z</dcterms:created>
  <dcterms:modified xsi:type="dcterms:W3CDTF">2026-09-22T02:24:24Z</dcterms:modified>
</cp:coreProperties>
</file>