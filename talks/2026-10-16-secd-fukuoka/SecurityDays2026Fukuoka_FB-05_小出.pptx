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名乗る。30分なので結論から入ると先に断る。0:00–0:01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読み上げるだけでよい。資料だけ見る人のために結論を冒頭に置いている。0:01–0:02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過去3つの講演の結論を1枚で回収する。初めて聞く人にも通じるよう、左3つは一言ずつで済ませる。0:02–0:03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押したら第4部の「測る」を削る。第2部と第3部は削らない。0:03–0:04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5月の講演の「AIが短くする3つの時間（見つかるまで・PoCから悪用まで・判断に使える時間）」と FIT の律速点の図をまとめたもの。Copy Fail（CVE-2026-31431）や Project Glasswing に触れる場合は出典を口頭で。同日のNTTデータ・クラウドストライクの講演と重なるので、脅威の数字は深追いしない。0:04–0:06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講演概要に書いた5つの判断。以降はこの5つを軸に話す。0:06–0:07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5月の講演の「作業はAI、判断は人」の具体化。会場の情シス担当に「インシデントの夜、一番時間を取られたのは何か」と問いかけてもよい。0:07–0:09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新しい提案その1。5月の講演では「作業はAI、判断は人」と線を引いた。今日はその線を保ったまま、判断の場にAIを座らせる。少人数の組織では、反対意見を言ってくれる同僚がいないことが多い。その役をAIに持たせる。0:09–0: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FIT2026 の人材像の要約。復習なので短く。0:11–0:12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5月の鹿児島の講演で使ったミニ演習の続編。前半は同じ前提で、今回は「AIの調査結果」が途中で届く。挙手で A/B/C を聞く（30秒）。B が多ければ「静的解析はどこまで見ているか」「間違っていたら誰が困るか」を問う。0:12–0:14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今日の新しい提案その2。5月の講演の選択肢 C「保留して調査と暫定連絡」を、保留で終わらせず「見直し時刻と覆す条件つきの暫定判断」にしたもの。FIT の評価観点「過信と過剰な拒否の両方を観察」を現場の判断に落とした。正解を配るのではなく型を示す、と言う。0:14–0:18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九州の中小企業・自治体・医療機関の参加を想定。一人情シスの話で具体性を出す。0:18–0:19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月の講演の「境界設計（AIに何を見せ、何を任せ、どこで人が承認するか）」を、判断の物差しにしたもの。指示の混入（プロンプトインジェクション）や権限の渡しすぎへの備えも、この表の右側で受ける。0:19–0: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月の講演で挙げた判断設計（招集条件・停止条件・公表条件・優先順位・判断責任）と「確認する順番」を、そのまま書き込める形にした。雛形は付録1。地域の協議会・警察など外の頼り先も1枚に入れる（5月の「地域全体で支える」）。0:21–0: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今日の新しい提案その4。演習の準備と記録が重いことが、小さな組織で机上演習が続かない理由の一つ。AIで準備と記録の手間を下げる。FIT の「不確実性を意図的に設計する」（原則3）の実務版。進行雛形は付録2。0:23–0:26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押していたらこの1枚は飛ばす。「人を評価しない」は必ず口頭で言う（評価されると誰も本当のことを言わなくなる）。0:26–0:28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冒頭の3つと対応させて閉じる。ご質問をどうぞ。0:28–0:30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部門ごとではなく、判断ごとに1枚。埋まらない欄があること自体が発見。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沈まないための備え 付録2（2時間版）を90分に縮め、AIの3役を入れたもの。進行役は助け舟を出さない。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2026年10月16日（金）13:00–13:30　Room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「ひとががんばる」から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「AIとともに判断する」へ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8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サイバー危機に備える人材と組織 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 情報基盤研究開発センター　小出 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今日の結論を先に申し上げます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攻撃も防御も速くなりました。いま一番遅いのは「人の判断」です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2029968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AIで見つけるのも、攻めるのも速くなった。詰まるのは、決めて説明するところです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AIを判断の「相手」にします。決める権限と責任は人に残します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3218688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選択肢を並べさせ、反対の立場から問わせる。出力は「検証すべき仮説」として扱います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がんばる人に頼らず、判断が回る仕組みを平時に作ります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4407408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任せ方・判断カード・演習の3つで、限られた人員でも回るようにします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25780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3095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「ひとががんばる」を「仕組みが回す」に置き換える ― 今日はその具体的なやり方の話です。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これまでの話と、今日の一歩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2439848" cy="3017520"/>
          </a:xfrm>
          <a:prstGeom prst="roundRect">
            <a:avLst>
              <a:gd name="adj" fmla="val 1874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55064"/>
            <a:ext cx="207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沈まないための備え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20740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やられても事業が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止まらないことを目標に。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止まらない力は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訓練で得る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43936" y="2852928"/>
            <a:ext cx="256032" cy="329184"/>
          </a:xfrm>
          <a:prstGeom prst="rightArrow">
            <a:avLst/>
          </a:prstGeom>
          <a:solidFill>
            <a:srgbClr val="C9D5D1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3976" y="1508760"/>
            <a:ext cx="2439848" cy="3017520"/>
          </a:xfrm>
          <a:prstGeom prst="roundRect">
            <a:avLst>
              <a:gd name="adj" fmla="val 1874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6856" y="1655064"/>
            <a:ext cx="207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5月　鹿児島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6856" y="2157984"/>
            <a:ext cx="20740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作業はAI、判断は人。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判断をその場で作る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組織は追いつけない。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判断を設計する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67832" y="2852928"/>
            <a:ext cx="256032" cy="329184"/>
          </a:xfrm>
          <a:prstGeom prst="rightArrow">
            <a:avLst/>
          </a:prstGeom>
          <a:solidFill>
            <a:srgbClr val="C9D5D1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7872" y="1508760"/>
            <a:ext cx="2439848" cy="3017520"/>
          </a:xfrm>
          <a:prstGeom prst="roundRect">
            <a:avLst>
              <a:gd name="adj" fmla="val 1874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0752" y="1655064"/>
            <a:ext cx="207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　FIT2026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0752" y="2157984"/>
            <a:ext cx="20740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AI出力は「答え」ではなく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「検証すべき仮説」。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それを事業継続判断へ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変換する人材を育てる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91727" y="2852928"/>
            <a:ext cx="256032" cy="329184"/>
          </a:xfrm>
          <a:prstGeom prst="rightArrow">
            <a:avLst/>
          </a:prstGeom>
          <a:solidFill>
            <a:srgbClr val="C9D5D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11767" y="1508760"/>
            <a:ext cx="2439848" cy="3017520"/>
          </a:xfrm>
          <a:prstGeom prst="roundRect">
            <a:avLst>
              <a:gd name="adj" fmla="val 1874"/>
            </a:avLst>
          </a:prstGeom>
          <a:solidFill>
            <a:srgbClr val="2E7D6B"/>
          </a:solidFill>
          <a:ln w="9525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4647" y="1655064"/>
            <a:ext cx="207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4647" y="2157984"/>
            <a:ext cx="20740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AIを判断の「相手」にし、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不確実なまま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早く決め直せる組織を、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限られた人員で作る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84632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91947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「作業はAI、判断は人」から一歩進めて、「AIとともに判断する」へ。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この30分の地図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1005840" cy="566928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45920" y="1463040"/>
            <a:ext cx="9905695" cy="566928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律速点は人の判断へ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463040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判断に使える時間が短くなった。5つの判断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176272"/>
            <a:ext cx="1005840" cy="566928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762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9分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645920" y="2176272"/>
            <a:ext cx="9905695" cy="56692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21762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AIとともに判断する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2176272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AIを判断の相手にする。ミニ演習と暫定判断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889504"/>
            <a:ext cx="1005840" cy="566928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8950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645920" y="2889504"/>
            <a:ext cx="9905695" cy="566928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21" name="Text 19"/>
          <p:cNvSpPr/>
          <p:nvPr/>
        </p:nvSpPr>
        <p:spPr>
          <a:xfrm>
            <a:off x="1874520" y="28895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限られた人員で回す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2889504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任せ方の3段階と判断カード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602736"/>
            <a:ext cx="1005840" cy="566928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027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645920" y="3602736"/>
            <a:ext cx="9905695" cy="56692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6" name="Text 24"/>
          <p:cNvSpPr/>
          <p:nvPr/>
        </p:nvSpPr>
        <p:spPr>
          <a:xfrm>
            <a:off x="1874520" y="36027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平時に判断を練習する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3602736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AIを入れた机上演習と、そこで測るもの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315968"/>
            <a:ext cx="1005840" cy="566928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159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645920" y="4315968"/>
            <a:ext cx="9905695" cy="566928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31" name="Text 29"/>
          <p:cNvSpPr/>
          <p:nvPr/>
        </p:nvSpPr>
        <p:spPr>
          <a:xfrm>
            <a:off x="1874520" y="43159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明日からやること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77840" y="4315968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持ち帰っていただく3つ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525780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525780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33095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付録に、判断カードと演習進行の雛形を付けています。そのままお使いください。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律速点は人の判断へ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速くなったのは「見つける」まで。遅いのは「決める」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第1部　律速点は人の判断へ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見つけるのはAIで速くなりました。詰まるのはその先です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332378" cy="1417320"/>
          </a:xfrm>
          <a:prstGeom prst="roundRect">
            <a:avLst>
              <a:gd name="adj" fmla="val 3226"/>
            </a:avLst>
          </a:prstGeom>
          <a:solidFill>
            <a:srgbClr val="2E7D6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73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AI・攻撃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脆弱性候補、PoC、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アラートが大量に、速く届く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45610" y="2052828"/>
            <a:ext cx="310896" cy="329184"/>
          </a:xfrm>
          <a:prstGeom prst="rightArrow">
            <a:avLst/>
          </a:prstGeom>
          <a:solidFill>
            <a:srgbClr val="C9D5D1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9658" y="1508760"/>
            <a:ext cx="3332378" cy="1417320"/>
          </a:xfrm>
          <a:prstGeom prst="roundRect">
            <a:avLst>
              <a:gd name="adj" fmla="val 3226"/>
            </a:avLst>
          </a:prstGeom>
          <a:solidFill>
            <a:srgbClr val="EDF3F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2538" y="1673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不確実な候補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2538" y="207568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本物か、届くのか、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影響はどこまでか未確定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35189" y="2052828"/>
            <a:ext cx="310896" cy="329184"/>
          </a:xfrm>
          <a:prstGeom prst="rightArrow">
            <a:avLst/>
          </a:prstGeom>
          <a:solidFill>
            <a:srgbClr val="C9D5D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19237" y="1508760"/>
            <a:ext cx="3332378" cy="1417320"/>
          </a:xfrm>
          <a:prstGeom prst="roundRect">
            <a:avLst>
              <a:gd name="adj" fmla="val 3226"/>
            </a:avLst>
          </a:prstGeom>
          <a:solidFill>
            <a:srgbClr val="16211F"/>
          </a:solidFill>
          <a:ln/>
        </p:spPr>
      </p:sp>
      <p:sp>
        <p:nvSpPr>
          <p:cNvPr id="17" name="Text 15"/>
          <p:cNvSpPr/>
          <p:nvPr/>
        </p:nvSpPr>
        <p:spPr>
          <a:xfrm>
            <a:off x="8402117" y="167335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人の判断と説明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02117" y="207568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ここが律速点。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判断に使える時間は短くなった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人と組織がこなすべき一連の処理（個々のAIツールの性能だけでは片づかない）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3515258" cy="45720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重複を除く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38218" y="3566160"/>
            <a:ext cx="3515258" cy="45720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8218" y="35661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真偽を確かめる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36357" y="3566160"/>
            <a:ext cx="3515258" cy="45720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36357" y="35661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自社に届くかを見る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133088"/>
            <a:ext cx="3515258" cy="45720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3308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緩和策を選ぶ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38218" y="4133088"/>
            <a:ext cx="3515258" cy="45720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8218" y="413308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止めるか決める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36357" y="4133088"/>
            <a:ext cx="3515258" cy="45720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36357" y="4133088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誰に何を説明するか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07492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507492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14807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AIの性能が上がると、防御は楽になるのではなく、「見つけた後の判断と説明」が重くなります。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第1部　律速点は人の判断へ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組織の命運を分ける判断は、いまも人にあります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021373" cy="3063240"/>
          </a:xfrm>
          <a:prstGeom prst="roundRect">
            <a:avLst>
              <a:gd name="adj" fmla="val 2262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1655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止めるか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203704"/>
            <a:ext cx="1655613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サービス・リリースを止めるか。どこまで止めるか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62621" y="1554480"/>
            <a:ext cx="2021373" cy="3063240"/>
          </a:xfrm>
          <a:prstGeom prst="roundRect">
            <a:avLst>
              <a:gd name="adj" fmla="val 2262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5501" y="1700784"/>
            <a:ext cx="1655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45501" y="2203704"/>
            <a:ext cx="1655613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事業をどう続けるか。手作業や縮退運用に切り替えるか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85161" y="1554480"/>
            <a:ext cx="2021373" cy="3063240"/>
          </a:xfrm>
          <a:prstGeom prst="roundRect">
            <a:avLst>
              <a:gd name="adj" fmla="val 2262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8041" y="1700784"/>
            <a:ext cx="1655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説明するか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68041" y="2203704"/>
            <a:ext cx="1655613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顧客・取引先に、何を、どの順で説明するか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07702" y="1554480"/>
            <a:ext cx="2021373" cy="3063240"/>
          </a:xfrm>
          <a:prstGeom prst="roundRect">
            <a:avLst>
              <a:gd name="adj" fmla="val 2262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0582" y="1700784"/>
            <a:ext cx="1655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公表するか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0582" y="2203704"/>
            <a:ext cx="1655613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いつ、どこまで公表するか。当局への報告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30243" y="1554480"/>
            <a:ext cx="2021373" cy="3063240"/>
          </a:xfrm>
          <a:prstGeom prst="roundRect">
            <a:avLst>
              <a:gd name="adj" fmla="val 2262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3123" y="1700784"/>
            <a:ext cx="16556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何から戻すか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13123" y="2203704"/>
            <a:ext cx="1655613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復旧の順番。どの状態なら信用してよいか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89204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96519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どれも「取り消しにくく」「影響が広く」「後で説明を求められる」判断です。だからAIに丸投げできません。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第1部　律速点は人の判断へ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「ひとががんばる」の正体は、判断の材料集めです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5488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初動の工程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AIに任せやすい作業（材料）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人が担う判断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把握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アラートの集約、ログの突き合わせ、時系列の整理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「インシデントだ」と宣言するか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影響範囲の候補、似た事例の検索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どの業務を優先して守るか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封じ込め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隔離手順の案、設定変更の下書き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止める範囲と、止める時刻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経緯の要約、文案、想定問答の下書き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何を、誰に、いつ出すか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復旧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バックアップの確認、手順の提示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何から戻すか、どこまで信用するか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8348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498348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05663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夜通しがんばっているのは、多くの場合、左の列です。左をAIに渡して、人は右に集中します。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AIとともに判断する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「作業はAI、判断は人」の、その先へ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第2部　一歩①　AIを判断の相手にする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AIに作業だけでなく、判断の「相手」をさせます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503066" cy="3063240"/>
          </a:xfrm>
          <a:prstGeom prst="roundRect">
            <a:avLst>
              <a:gd name="adj" fmla="val 1493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選択肢を並べさせる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03704"/>
            <a:ext cx="313730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「止める／続ける／部分的に止める」を、それぞれの根拠・影響・取り消しやすさとともに並べさせます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4314" y="1554480"/>
            <a:ext cx="3503066" cy="3063240"/>
          </a:xfrm>
          <a:prstGeom prst="roundRect">
            <a:avLst>
              <a:gd name="adj" fmla="val 1493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7194" y="1700784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反対の立場から問わせる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7194" y="2203704"/>
            <a:ext cx="313730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決めかけた案に対して、あえて反論させます。「止めない場合に一番困るのは誰か」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8549" y="1554480"/>
            <a:ext cx="3503066" cy="3063240"/>
          </a:xfrm>
          <a:prstGeom prst="roundRect">
            <a:avLst>
              <a:gd name="adj" fmla="val 1493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1429" y="1700784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見落とした前提を挙げさせる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1429" y="2203704"/>
            <a:ext cx="313730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「この判断が間違っているとしたら、どの前提が崩れたときか」を挙げさせます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89204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6519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決めるのは人、責任を負うのも人です。AIは参謀であって、決裁者ではありません。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第2部　AIとともに判断する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AIの出力を受け取ったら、4つを問い直します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AIが示した候補を、自社のシステムの構造へ戻して問い直す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どの仮定が成り立っているか？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800" y="178308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7830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どの証拠が足りないか？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間違っていたら何が起きるか？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14800" y="3200400"/>
            <a:ext cx="3291840" cy="1234440"/>
          </a:xfrm>
          <a:prstGeom prst="roundRect">
            <a:avLst>
              <a:gd name="adj" fmla="val 3704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組織の誰が決めるべきか？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0960" y="1783080"/>
            <a:ext cx="3870655" cy="2651760"/>
          </a:xfrm>
          <a:prstGeom prst="roundRect">
            <a:avLst>
              <a:gd name="adj" fmla="val 1724"/>
            </a:avLst>
          </a:prstGeom>
          <a:solidFill>
            <a:srgbClr val="F4F7F6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29384"/>
            <a:ext cx="3504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共通する姿勢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63840" y="2432304"/>
            <a:ext cx="3504895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確実な情報が少ない中で、判断を遅らせすぎず、かつAIを過信しない。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AIの出力は「答え」ではなく「検証すべき仮説」です。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89204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6519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「AIを使いこなす」ことより、AIの出力を自社のシステムと組織の文脈に置き直すことが要です。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第2部　ミニ演習（会場参加）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ミニ演習：金曜17時、重大な脆弱性が公表されました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・自社の Web システムを複数の顧客企業が使っている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・利用しているフレームワークに重大な脆弱性。PoC は公開済み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・脆弱な機能を実際に使っているかは未確認。攻撃の痕跡はまだない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・月曜午前に、大口顧客向けの機能リリースを予定している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760720" cy="1325880"/>
          </a:xfrm>
          <a:prstGeom prst="roundRect">
            <a:avLst>
              <a:gd name="adj" fmla="val 3448"/>
            </a:avLst>
          </a:prstGeom>
          <a:solidFill>
            <a:srgbClr val="F6EBD8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502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18時、AIエージェントの調査結果が届く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「脆弱な機能は使われていない可能性が高い（静的解析による）。リリースは予定どおりで問題ないと考えられる」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20840" y="1417320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判断してください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783080"/>
            <a:ext cx="4830775" cy="987552"/>
          </a:xfrm>
          <a:prstGeom prst="roundRect">
            <a:avLst>
              <a:gd name="adj" fmla="val 4630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2029968"/>
            <a:ext cx="502920" cy="50292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43800" y="1874520"/>
            <a:ext cx="38706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リリース延期を即決し、週末に緊急対応する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20840" y="2926080"/>
            <a:ext cx="4830775" cy="987552"/>
          </a:xfrm>
          <a:prstGeom prst="roundRect">
            <a:avLst>
              <a:gd name="adj" fmla="val 4630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85432" y="3172968"/>
            <a:ext cx="502920" cy="50292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20" name="Text 18"/>
          <p:cNvSpPr/>
          <p:nvPr/>
        </p:nvSpPr>
        <p:spPr>
          <a:xfrm>
            <a:off x="688543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43800" y="3017520"/>
            <a:ext cx="38706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AIの結果を受けて、月曜リリースは予定どおり実施する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20840" y="4069080"/>
            <a:ext cx="4830775" cy="987552"/>
          </a:xfrm>
          <a:prstGeom prst="roundRect">
            <a:avLst>
              <a:gd name="adj" fmla="val 4630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5432" y="4315968"/>
            <a:ext cx="502920" cy="50292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24" name="Text 22"/>
          <p:cNvSpPr/>
          <p:nvPr/>
        </p:nvSpPr>
        <p:spPr>
          <a:xfrm>
            <a:off x="6885432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43800" y="4160520"/>
            <a:ext cx="38706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今ある材料で暫定判断し、見直す時刻と条件を決めておく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5月（鹿児島）のミニ演習の続編です。前提は同じで、途中でAIの調査結果が届きます。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第2部　一歩②　暫定判断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判断を遅らせすぎず、AIを過信しない ― 暫定判断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318608" cy="3246120"/>
          </a:xfrm>
          <a:prstGeom prst="roundRect">
            <a:avLst>
              <a:gd name="adj" fmla="val 1408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55064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不確実なときの2つの失敗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495284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過信：AIのもっともらしい結論をそのまま採用する（ミニ演習の B）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先送り：情報がそろうまで決めない。その間に悪用と問い合わせが広がる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（AIの出力を一律に信じない「過剰な拒否」もこちら）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3008" y="1508760"/>
            <a:ext cx="5318608" cy="3246120"/>
          </a:xfrm>
          <a:prstGeom prst="roundRect">
            <a:avLst>
              <a:gd name="adj" fmla="val 1408"/>
            </a:avLst>
          </a:prstGeom>
          <a:solidFill>
            <a:srgbClr val="2E7D6B"/>
          </a:solidFill>
          <a:ln w="9525">
            <a:solidFill>
              <a:srgbClr val="2E7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1655064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暫定で決め、見直す時刻を決める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5888" y="2157984"/>
            <a:ext cx="495284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「今の材料では、リリースは保留。顧客に暫定の連絡を入れる」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「日曜12時に、動的な確認の結果を見て見直す」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「脆弱な機能の利用が否定できれば、予定どおり出す」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この3点を、決めた人の名前と時刻とともに記録します。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98348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5663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完全な情報は来ません。決め直せる形で早く決めることが、不確実な状況での判断の型です。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限られた人員で回す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「あの人がいないと動かない」をなくす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第3部　限られた人員で回す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「ひとががんばる」体制の弱さは、判断が人に貼りついていること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318608" cy="3246120"/>
          </a:xfrm>
          <a:prstGeom prst="roundRect">
            <a:avLst>
              <a:gd name="adj" fmla="val 1408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55064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よくある状態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495284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・判断できる人が1〜2人に集中している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・夜間・休日・長期戦で、その人が倒れる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・判断の根拠が頭の中にあり、記録に残らない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3008" y="1508760"/>
            <a:ext cx="5318608" cy="3246120"/>
          </a:xfrm>
          <a:prstGeom prst="roundRect">
            <a:avLst>
              <a:gd name="adj" fmla="val 1408"/>
            </a:avLst>
          </a:prstGeom>
          <a:solidFill>
            <a:srgbClr val="2E7D6B"/>
          </a:solidFill>
          <a:ln w="9525">
            <a:solidFill>
              <a:srgbClr val="2E7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1655064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規模の小さい組織ではさらに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5888" y="2157984"/>
            <a:ext cx="495284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・情シスが1人、または兼務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・経営層が「ITの問題」と捉えている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・反対意見を言ってくれる同僚がいない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・頼る先を、事故が起きてから探す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98348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5663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人を増やすのは難しい。変えられるのは、判断を人から仕組みへ移すことです。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第3部　一歩③　任せ方を書く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AIへの任せ方は、3つの問いで3段階に分けておきます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2926080"/>
                <a:gridCol w="29260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自動でよい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人の承認つき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人が決める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2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取り消せるか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すぐ戻せる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手間はかかるが戻せる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戻せない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影響はどこまでか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一部の端末・利用者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一つの部署・サービス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全社・顧客・社会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後で説明できるか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根拠が記録に残る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根拠を人が確かめられる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説明責任を人が負う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不審な端末の隔離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一部サービスの一時停止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リリース延期、公表、身代金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8348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498348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05663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3つのうち1つでも右に寄れば、右の段階に置きます。AIエージェントのリスクは「賢さ」より「権限」にあります。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第3部　一歩③　判断カード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5つの判断を、1枚ずつ「判断カード」にしておきます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046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記入例：「リリース・サービスを止めるか」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決める人／代わりの人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事業部長 ／ 不在時は情報システム部長（連絡がつかなければ当番責任者）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確認する順番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露出 → 実際に使っているか → 顧客・業務への影響 → 停止以外の緩和策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AIに出させるもの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影響範囲の候補、選択肢とその根拠、反対の立場からの指摘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期限と見直し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公表から○時間以内に暫定判断。○時間ごとに見直す。覆す条件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伝える先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経営層、広報、主要顧客の窓口、委託先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頼る先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保守ベンダー、インシデント対応事業者、保険、警察の相談窓口、地域の協議会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8348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498348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05663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判断を「その場で作らない」ための1枚です。5つの判断 × 1枚、A4 で5枚から始められます。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2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平時に判断を練習する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一度も決めたことのない判断は、当日も決められません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第4部　一歩④　AIを入れた演習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机上演習に、AIを「3つの役」で入れます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503066" cy="3063240"/>
          </a:xfrm>
          <a:prstGeom prst="roundRect">
            <a:avLst>
              <a:gd name="adj" fmla="val 1493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状況をまとめる役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03704"/>
            <a:ext cx="313730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次々に入る情報を AI が整理し、判断者に要約を渡します。参加者がそれを鵜呑みにしないかも見ます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4314" y="1554480"/>
            <a:ext cx="3503066" cy="3063240"/>
          </a:xfrm>
          <a:prstGeom prst="roundRect">
            <a:avLst>
              <a:gd name="adj" fmla="val 1493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7194" y="1700784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状況を揺さぶる役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7194" y="2203704"/>
            <a:ext cx="313730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誤った要約や、自信過剰な提案、想定外の問い合わせを AI が差し込みます。毎回違う演習になります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8549" y="1554480"/>
            <a:ext cx="3503066" cy="3063240"/>
          </a:xfrm>
          <a:prstGeom prst="roundRect">
            <a:avLst>
              <a:gd name="adj" fmla="val 1493"/>
            </a:avLst>
          </a:prstGeom>
          <a:solidFill>
            <a:srgbClr val="EDF3F1"/>
          </a:solidFill>
          <a:ln w="9525">
            <a:solidFill>
              <a:srgbClr val="C9D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1429" y="1700784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記録を残す役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1429" y="2203704"/>
            <a:ext cx="313730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誰が、いつ、何を根拠に、暫定で決め、いつ見直したかを記録し、振り返りの材料にします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89204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6519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AIは参謀であって、決裁者ではありません。そのことを、演習で体に覚えてもらいます。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第4部　平時に判断を練習する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演習で測るのは、判断の「質」です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138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観点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記録するもの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暫定判断までの時間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情報が入ってから暫定で決めるまで。決めずに止まっていた時間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見直し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決めた時刻どおりに見直したか。何を見て覆した／維持したか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AIとの距離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要約を確かめたか（過信）。使える材料を捨てていないか（過剰な拒否）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伝わり方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判断が次の部門・取引先へ、いつ届いたか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8348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498348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05663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人の評価はしません。演習の成果物は、書き直した判断カードです。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明日からやること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持ち帰っていただきたい3つ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5つの判断を判断カードにし、決める人と代わりの人を決める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2029968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止める・続ける・説明する・公表する・何から戻す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AIへの任せ方を3段階に分け、判断の場ではAIに反論させる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3218688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取り消せるか・影響はどこまでか・後で説明できるか。決めるのは人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AIを入れた机上演習で「暫定判断と見直し」を練習する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4407408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終わったら判断カードを書き直し、次の演習日をカレンダーに入れる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911535" cy="658368"/>
          </a:xfrm>
          <a:prstGeom prst="rect">
            <a:avLst/>
          </a:prstGeom>
          <a:solidFill>
            <a:srgbClr val="F6E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257800"/>
            <a:ext cx="73152" cy="658368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3095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どれも予算より先に、決めることで始められます。「ひとががんばる」から「AIとともに判断する」へ。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判断カード（雛形）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138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書くこと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止める／続ける／説明する／公表する／何から戻す のどれか。対象（どのサービス・業務か）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決める人／代わりの人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役職で書く。連絡がつかないときの順番まで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判断の材料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何を見て決めるか。AIに出させるもの、人が確かめるものを分けて書く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任せ方の段階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自動／人の承認つき／人が決める。どこまでが自動か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期限と見直し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暫定判断の期限。見直しの間隔。覆す条件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伝える先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経営層、広報、法務、現場、取引先、委託先、当局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頼る先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ベンダー、インシデント対応事業者、保険、警察の相談窓口、地域の協議会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記録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誰が・いつ・何を根拠に決めたか。決めなかった場合はその理由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22815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AIを入れた机上演習の進行雛形（90分）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80015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/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Days Fall 2026 Fukuoka　FB-05　小出 洋（九州大学）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052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0:00–0:10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目的とルール。人を評価しない。正解はない。AIは参謀で、決めるのは人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0:10–0:25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状況1（発覚）。AIの要約を受け取り、暫定判断と見直し時刻を決める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0:25–0:45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状況2（連絡手段が使えない／AIの要約に誤りが混ざる）。確かめ方を言ってもらう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0:45–1:00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状況3（取引先・委託先・拠点からの問い合わせ）。誰が何を答えるか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1:00–1:10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状況4（報道・SNS・身代金要求）。「人が決める」段階の判断者を特定する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1:10–1:30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振り返り。AIが残した記録を見ながら、詰まった場所だけを拾う。判断カードを直す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2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 情報基盤研究開発センター　小出 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「ひとががんばる」から「AIとともに判断する」へ</dc:title>
  <dc:subject>PptxGenJS Presentation</dc:subject>
  <dc:creator>九州大学 情報基盤研究開発センター　小出 洋</dc:creator>
  <cp:lastModifiedBy>九州大学 情報基盤研究開発センター　小出 洋</cp:lastModifiedBy>
  <cp:revision>1</cp:revision>
  <dcterms:created xsi:type="dcterms:W3CDTF">2026-09-27T04:07:51Z</dcterms:created>
  <dcterms:modified xsi:type="dcterms:W3CDTF">2026-09-27T04:07:51Z</dcterms:modified>
</cp:coreProperties>
</file>