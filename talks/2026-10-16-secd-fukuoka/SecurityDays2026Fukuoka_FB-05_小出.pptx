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〔0:00–0:01〕
みなさん、こんにちは。九州大学情報基盤研究開発センターの小出です。
私はサイバー攻撃の検知や防御の研究をしながら、社会人向けのセキュリティ教育や、警察のサイバー犯罪対策への助言にも関わっています。
今日は「ひとががんばる」から「AIとともに判断する」へ、というお話をします。30分と短いので、結論から申し上げます。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〔0:01–0:03〕
今日お伝えしたいことは3つです。
1つ目。生成AIやAIエージェントのおかげで、攻撃する側も守る側も、ずいぶん速くなりました。脆弱性を見つけるのも、ログを調べるのも速い。ところが、インシデントの現場でいま一番時間がかかっているのは、「どうするかを決めて、説明する」ところです。ここが遅いままなのです。
2つ目。そこでAIを、作業の道具としてだけでなく、判断の「相手」として使います。ただし、決める権限と責任は人に残します。AIの出す答えは、正解ではなく「確かめるべき仮説」として扱います。
3つ目。優秀な誰かが徹夜でがんばることを前提にしない。誰が当番でも判断が回る仕組みを、事故が起きる前に作っておく。そのための道具を、今日はいくつかご紹介します。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〔0:03–0:04〕
今日の流れです。まず、AIで何が速くなり、何が遅いまま残ったのかを確認します。
次に、AIとともに判断するとはどういうことかを、途中で皆さんにも一問考えていただきながらお話しします。
そのあと、人手が限られた組織でも判断が回るようにする方法、そしてそれを平時に練習する方法をご紹介して、最後に明日からやることを3つにまとめます。
資料の最後に、そのまま使える雛形を付けていますので、あとでご活用ください。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〔0:04–0:06〕
いま、AIを使ってソフトウェアの脆弱性を探すことが、研究でも実務でも当たり前になりつつあります。人が長く見落としてきた欠陥が、短い時間で見つかる例も報告されています。攻撃する側も同じ道具を使えますから、脆弱性が公表されてから攻撃に使われるまでの時間も短くなっています。
では、守る側は楽になったのか。実はそうではありません。AIが出してくるのは、大量の「候補」です。本当に危ないのか、うちのシステムに届くのか、影響はどこまでか。そこはまだ分かっていません。
下に並べたのは、候補が届いてから組織がこなさなければならない仕事です。重複を除き、真偽を確かめ、自社に届くかを見て、緩和策を選び、止めるかどうかを決め、誰に何を説明するか決める。ここは、AIツールの性能を上げるだけでは片づきません。
つまり、見つけるのが速くなった分だけ、見つけた後の判断と説明が重くなった。いま一番の詰まりどころは、人の判断なのです。
例えば、夜中に脆弱性の情報が出たとします。AIに調べさせれば、該当しそうな箇所の一覧は数分で出てきます。しかし、「この一覧のうち、今夜止めるべきものはどれか」「止めたら誰に連絡するのか」は、一覧をいくら眺めても出てきません。そこを決めるのは、組織の中の誰か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〔0:06–0:07〕
インシデントが起きたとき、組織が迫られる判断を5つに整理しました。
サービスを止めるか。止めるならどこまで止めるか。事業をどう続けるか。顧客や取引先に何を説明するか。いつ、どこまで公表するか。そして、何から復旧させるか。
この5つには共通点があります。一度やると取り消しにくい。影響が社内にとどまらない。そして後から「なぜそう決めたのか」を必ず問われる。
だから、どれほどAIが賢くなっても、ここをAIに丸投げすることはできません。今日の話は、この5つの判断をどう速く、どう確かにするか、という話です。
少し想像してみてください。皆さんの組織で、例えば主力のサービスを「今から止める」と決められるのは誰でしょうか。その方が出張中だったら、代わりは誰でしょうか。すぐに名前が出てこないとすれば、それが今日の話の出発点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〔0:07–0:09〕
では、インシデントの夜に、担当者は何にがんばっているのでしょうか。初動を工程ごとに分けてみると、真ん中の列と右の列が混ざっていることに気づきます。
真ん中は、判断の「材料」を集める作業です。アラートをまとめる、ログを突き合わせる、時系列を作る、似た事例を探す、お知らせの文案を書く。右は、その材料を見て「決める」ことです。
実際に夜通し時間を取られているのは、多くの場合、真ん中の列です。そして真ん中の列は、AIやAIエージェントが得意な仕事です。
ですから、まず真ん中をAIに渡す。人は右の列、判断に集中する。これが「ひとががんばる」から抜け出す第一歩です。
ここで一つ注意があります。AIに材料集めを任せるときも、AIに何を見せてよいかは決めておいてください。顧客の個人情報や、社外に出してはいけない設定情報を、そのまま外部のサービスに入れてしまっては本末転倒です。社内で使える環境を用意するのか、見せる情報を絞るのか。これも平時に決めておく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〔0:09–0:11〕
材料集めをAIに任せるだけでは、まだ半分です。今日の1つ目の提案は、AIを判断の「相手」として使うことです。
使い方は3つあります。まず、選択肢を並べさせる。「全部止める」「止めずに監視を強める」「一部だけ止める」を、それぞれの根拠、影響、あとで取り消せるかどうかと一緒に並べさせます。人はゼロから考えるより、並んだ案を比べるほうがずっと速く決められます。
次に、反対の立場から問わせる。決めかけた案に、わざと反論させます。「止めなかった場合、一番困るのは誰か」。
最後に、見落とした前提を挙げさせる。「この判断が間違っているとしたら、どの前提が崩れたときか」。
人手の少ない組織では、反対意見を言ってくれる同僚がそもそもいないことが多いのです。その役をAIに担わせます。ただし、決めるのも責任を負うのも人です。AIは参謀であって、決裁者ではありません。
実際の頼み方は、特別なものでなくてかまいません。「この状況で取り得る選択肢を3つ挙げ、それぞれの利点、欠点、取り消しやすさを表にしてください」「いま私たちはこう決めようとしています。反対の立場から、この判断の弱点を指摘してください」。こうした頼み方を、あらかじめ判断の手順の中に書いておくと、慌てているときでも使え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〔0:11–0:12〕
AIを判断の相手にするとき、気をつけたいことがあります。AIの出力はとてももっともらしい。だからこそ、受け取ったら4つを問い直してください。
この結論は、どんな仮定の上に立っているか。どの証拠が足りないか。もし間違っていたら何が起きるか。そして、これは組織の誰が決めるべきことか。
AIの出力は「答え」ではなく「検証すべき仮説」です。とはいえ、疑い続けて何も決めないのも困ります。確実な情報が少ない中で、判断を遅らせすぎず、かつAIを過信しない。この両立が求められます。
では、実際にやってみましょう。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〔0:12–0:15〕
皆さんが、あるWebシステムの開発と運用の責任者だとします。このシステムは複数の顧客企業に使われています。
金曜の夕方5時、使っているフレームワークに重大な脆弱性が公表されました。攻撃コードはもう出回っています。自社がそのフレームワークを使っていることは確認済みですが、脆弱な機能を実際に使っているかはまだ分かりません。攻撃の痕跡は今のところ見つかっていません。そして月曜の午前中に、大口顧客向けの新機能をリリースする予定です。
そこへ夕方6時、AIエージェントから調査結果が届きました。「コードを解析した結果、脆弱な機能は使われていない可能性が高い。リリースは予定どおりで問題ないと考えられる」。
さて、どうしますか。A、リリース延期を即決して週末に緊急対応する。B、AIの結果を受けて予定どおりリリースする。C、今ある材料でいったん決めて、見直す時刻と条件を決めておく。
手を挙げていただけますか。Aの方。……Bの方。……Cの方。……ありがとうございます。
（Bが多ければ）Bを選んだ方に伺いたいのですが、コードの静的解析は、設定や実行時の使われ方まで見ているでしょうか。もし間違っていたら、困るのは誰でしょう。
（投票のあと）Aは安全側ですが、大口顧客への約束を破ることになり、週末の緊急対応で担当者は疲れ切ります。Bは速いのですが、AIの結論が外れていたら、攻撃コードが出回っている状態で新機能を出すことになります。Cは一見どっちつかずに見えますが、次のスライドで、なぜCの形が大事なのかをお話し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〔0:15–0:18〕
いまの演習に正解はありません。ただ、不確実な状況での失敗には、典型的な形が2つあります。
1つは過信です。AIのもっともらしい結論を、確かめずにそのまま採用してしまう。演習のBは、その危険を持っています。
もう1つは先送りです。情報がそろうまで決めない。その間に攻撃は進み、顧客からの問い合わせは増えていきます。AIの出力を一律に信用しない、という態度も、結果としてはこちらに入ります。
そこで2つ目の提案が「暫定判断」です。今ある材料で、いったん決める。たとえば「リリースは保留。顧客には暫定の連絡を入れる」。同時に、見直す時刻を決める。「日曜の昼12時に、実際の動作で確かめた結果を見て見直す」。そして、判断を覆す条件を決める。「脆弱な機能を使っていないと確認できたら、予定どおり出す」。
この3点を、決めた人の名前と時刻と一緒に記録しておきます。完全な情報は、いつまで待っても来ません。決め直せる形で、早く決める。これが不確実な状況での判断の型です。
記録を残すのには理由があります。後から結果が悪かったとき、「なぜそう決めたのか」を問われます。そのとき、その時点で何が分かっていて、何が分かっていなかったか、いつ見直すつもりだったかが残っていれば、判断そのものは妥当だったと説明できます。記録は、判断した人を守るためのものでもあ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〔0:18–0:19〕
ここまでの話は、判断できる人がいることが前提でした。ところが現実には、判断できる人は1人か2人に集中しています。インシデントが長引けば、その人が倒れます。しかも判断の根拠はその人の頭の中にあって、記録に残りません。
規模の小さい組織では、さらに厳しい。情報システム担当が1人、あるいは兼務。経営層は「ITの問題」だと思っている。相談できる同僚もいない。頼る先は、事故が起きてから探し始める。
人を増やせればよいのですが、それは簡単ではありません。変えられるのは、判断を「人」から「仕組み」へ移すことです。そのための道具を2つご紹介します。
皆さんの組織で、情報システムの判断ができる方が1週間不在だったら、何が起きるでしょうか。一度考えてみていただくと、どこから手をつければよいかが見えてきます。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〔0:19–0:21〕
1つ目の道具は、AIへの任せ方を、事故の前に決めておくことです。
AIに何を任せるかは、「使う・使わない」の二択ではありません。3つの問いで、3段階に分けます。その操作は取り消せるか。影響はどこまで及ぶか。後で説明できるか。
すぐ戻せて、影響が一部で、根拠が記録に残るものは、自動でかまいません。たとえば不審な端末をネットワークから切り離す。手間はかかるが戻せる、一つのサービスに影響する、といったものは、人が承認してから実行します。戻せない、社外に影響する、説明責任を人が負う。リリースの延期、公表、身代金への対応などは、人が決めます。
規則は単純で、3つの問いのうち1つでも右に寄れば、右の段階に置きます。
AIエージェントは、メールを送る、ファイルを消す、設定を変えるといった、戻せない操作もできてしまいます。読み込んだ文書に悪意ある指示が紛れ込んでいれば、それに従ってしまうこともあります。AIエージェントの危険は、賢さよりも、渡した権限の大きさにあります。この表の右側が、その歯止めに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〔0:21–0:23〕
2つ目の道具は「判断カード」です。最初にお見せした5つの判断、それぞれについて1枚ずつ作ります。
書くのは、決める人と、その人がいないときの代わりの人。判断の前に確認する順番。AIに出させるもの。いつまでに暫定判断を出し、どの間隔で見直すか。決めたら誰に伝えるか。そして、困ったときに頼る先です。
多くの組織には、手順書や事業継続計画があります。ただ、そこに書いてあるのは「作業」の手順で、「誰が、何を見て、いつまでに決めるか」という判断は書かれていないことが多いのです。判断だけを抜き出して1枚にする。事故の最中に判断をその場で作らなくて済むようにするためのものです。
頼る先も、事故が起きてから探すのでは遅い。保守ベンダー、インシデント対応の専門事業者、保険会社、警察の相談窓口、地域のセキュリティの協議会。平時に連絡先と順番を書いておいてください。
5つの判断に1枚ずつ、A4で5枚から始められます。雛形は付録に付けました。
最初から完璧に書く必要はありません。空欄が残ってかまいません。どうしても埋まらない欄こそが、組織として決めていなかったことですから、それが分かっただけでも大きな前進です。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〔0:23–0:26〕
判断カードを作っても、一度も使ったことがなければ当日は動けません。初めて行く場所は遠く感じますが、一度行っておけば同じ道でも近く感じます。判断も同じです。
そこで、紙の上で事故を起こして、関係者が役割どおりに判断してみる机上演習をお勧めします。技術部門だけでなく、経営、広報、法務、現場の方にも入っていただきます。
今日の最後の提案は、この演習にAIを3つの役で入れることです。1つ目は、状況をまとめる役。次々に入る情報をAIが整理して、判断する人に要約を渡します。2つ目は、状況を揺さぶる役。わざと誤った要約や、自信たっぷりの間違った提案を混ぜます。さきほどのミニ演習のように、AIを鵜呑みにしないかを試せます。3つ目は、記録を残す役。誰がいつ、何を根拠に決め、いつ見直したかを残して、振り返りに使います。
机上演習は準備と記録に手間がかかるので、人の少ない組織ではなかなか続きません。AIにその手間を肩代わりさせれば、少人数でも回せるようになります。
最初は小さく始めてください。4、5人で1時間、会議室で状況を1枚ずつ読み上げていくだけでも十分です。大事なのは、実際のシステムに触れずに、判断だけを通してみることです。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〔0:26–0:28〕
演習では、何がうまくいったかを測ります。測るのは速さだけではありません。情報が入ってから暫定判断を出すまでの時間。決めた時刻どおりに見直したか。AIの要約を確かめたか、逆に使える材料を捨てていなかったか。そして、判断が次の部門や取引先に、いつ届いたか。
大事なことが一つあります。演習で人を評価しないことです。評価されると思うと、誰も本当のことを言わなくなり、演習が形だけになります。詰まったところは、人の失敗ではなく、仕組みの課題として扱います。
演習の成果物は、書き直した判断カードです。年に一度でも回せば、判断カードは確実に良くなっていきます。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〔0:28–0:30〕
最後に、明日からやっていただきたいことを3つにまとめます。
1つ目。止める、続ける、説明する、公表する、何から戻す。この5つの判断を判断カードにして、決める人と代わりの人を決めてください。
2つ目。AIへの任せ方を、自動、人の承認つき、人が決める、の3段階に分けてください。そして判断の場では、AIに選択肢を並べさせ、反論させてください。決めるのは人です。
3つ目。AIを入れた机上演習で、暫定で決めて見直す練習をしてください。終わったら判断カードを書き直し、その場で次の演習日をカレンダーに入れてください。次の日程を決めないと、まず続きません。
どれも、大きな予算より先に「決めること」で始められます。「ひとががんばる」から「AIとともに判断する」へ。ご清聴ありがとうございました。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（配布用。質疑で聞かれたら映す）部門ごとではなく、判断ごとに1枚作ります。埋まらない欄があること自体が発見です。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（配布用）進行役は状況を読み上げるだけで、助け舟を出しません。沈黙も記録します。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2E7D6B"/>
          </a:solidFill>
          <a:ln/>
        </p:spPr>
      </p:sp>
      <p:sp>
        <p:nvSpPr>
          <p:cNvPr id="3" name="Shape 1"/>
          <p:cNvSpPr/>
          <p:nvPr/>
        </p:nvSpPr>
        <p:spPr>
          <a:xfrm>
            <a:off x="822960" y="5989320"/>
            <a:ext cx="10515600" cy="27432"/>
          </a:xfrm>
          <a:prstGeom prst="rect">
            <a:avLst/>
          </a:prstGeom>
          <a:solidFill>
            <a:srgbClr val="C9D5D1"/>
          </a:solidFill>
          <a:ln/>
        </p:spPr>
      </p:sp>
      <p:sp>
        <p:nvSpPr>
          <p:cNvPr id="4" name="Text 2"/>
          <p:cNvSpPr/>
          <p:nvPr/>
        </p:nvSpPr>
        <p:spPr>
          <a:xfrm>
            <a:off x="822960" y="1005840"/>
            <a:ext cx="10789920" cy="320040"/>
          </a:xfrm>
          <a:prstGeom prst="rect">
            <a:avLst/>
          </a:prstGeom>
          <a:noFill/>
          <a:ln/>
        </p:spPr>
        <p:txBody>
          <a:bodyPr wrap="square" lIns="0" tIns="0" rIns="0" bIns="0" rtlCol="0" anchor="ctr"/>
          <a:lstStyle/>
          <a:p>
            <a:pPr indent="0" marL="0">
              <a:buNone/>
            </a:pPr>
            <a:r>
              <a:rPr lang="en-US" sz="1400" dirty="0">
                <a:solidFill>
                  <a:srgbClr val="5E6E6A"/>
                </a:solidFill>
                <a:latin typeface="Yu Gothic" pitchFamily="34" charset="0"/>
                <a:ea typeface="Yu Gothic" pitchFamily="34" charset="-122"/>
                <a:cs typeface="Yu Gothic" pitchFamily="34" charset="-120"/>
              </a:rPr>
              <a:t>Security Days Fall 2026 Fukuoka　FB-05　2026年10月16日（金）13:00–13:30　Room B</a:t>
            </a:r>
            <a:endParaRPr lang="en-US" sz="1400" dirty="0"/>
          </a:p>
        </p:txBody>
      </p:sp>
      <p:sp>
        <p:nvSpPr>
          <p:cNvPr id="5" name="Text 3"/>
          <p:cNvSpPr/>
          <p:nvPr/>
        </p:nvSpPr>
        <p:spPr>
          <a:xfrm>
            <a:off x="822960" y="1645920"/>
            <a:ext cx="10789920" cy="1920240"/>
          </a:xfrm>
          <a:prstGeom prst="rect">
            <a:avLst/>
          </a:prstGeom>
          <a:noFill/>
          <a:ln/>
        </p:spPr>
        <p:txBody>
          <a:bodyPr wrap="square" lIns="0" tIns="0" rIns="0" bIns="0" rtlCol="0" anchor="ctr"/>
          <a:lstStyle/>
          <a:p>
            <a:pPr indent="0" marL="0">
              <a:lnSpc>
                <a:spcPct val="110000"/>
              </a:lnSpc>
              <a:buNone/>
            </a:pPr>
            <a:r>
              <a:rPr lang="en-US" sz="4000" b="1" dirty="0">
                <a:solidFill>
                  <a:srgbClr val="16211F"/>
                </a:solidFill>
                <a:latin typeface="Yu Gothic" pitchFamily="34" charset="0"/>
                <a:ea typeface="Yu Gothic" pitchFamily="34" charset="-122"/>
                <a:cs typeface="Yu Gothic" pitchFamily="34" charset="-120"/>
              </a:rPr>
              <a:t>「ひとががんばる」から</a:t>
            </a:r>
            <a:endParaRPr lang="en-US" sz="4000" dirty="0"/>
          </a:p>
          <a:p>
            <a:pPr indent="0" marL="0">
              <a:lnSpc>
                <a:spcPct val="110000"/>
              </a:lnSpc>
              <a:buNone/>
            </a:pPr>
            <a:r>
              <a:rPr lang="en-US" sz="4000" b="1" dirty="0">
                <a:solidFill>
                  <a:srgbClr val="16211F"/>
                </a:solidFill>
                <a:latin typeface="Yu Gothic" pitchFamily="34" charset="0"/>
                <a:ea typeface="Yu Gothic" pitchFamily="34" charset="-122"/>
                <a:cs typeface="Yu Gothic" pitchFamily="34" charset="-120"/>
              </a:rPr>
              <a:t>「AIとともに判断する」へ</a:t>
            </a:r>
            <a:endParaRPr lang="en-US" sz="4000" dirty="0"/>
          </a:p>
        </p:txBody>
      </p:sp>
      <p:sp>
        <p:nvSpPr>
          <p:cNvPr id="6" name="Text 4"/>
          <p:cNvSpPr/>
          <p:nvPr/>
        </p:nvSpPr>
        <p:spPr>
          <a:xfrm>
            <a:off x="822960" y="3703320"/>
            <a:ext cx="10789920" cy="548640"/>
          </a:xfrm>
          <a:prstGeom prst="rect">
            <a:avLst/>
          </a:prstGeom>
          <a:noFill/>
          <a:ln/>
        </p:spPr>
        <p:txBody>
          <a:bodyPr wrap="square" lIns="0" tIns="0" rIns="0" bIns="0" rtlCol="0" anchor="ctr"/>
          <a:lstStyle/>
          <a:p>
            <a:pPr indent="0" marL="0">
              <a:buNone/>
            </a:pPr>
            <a:r>
              <a:rPr lang="en-US" sz="2400" dirty="0">
                <a:solidFill>
                  <a:srgbClr val="2E7D6B"/>
                </a:solidFill>
                <a:latin typeface="Yu Gothic" pitchFamily="34" charset="0"/>
                <a:ea typeface="Yu Gothic" pitchFamily="34" charset="-122"/>
                <a:cs typeface="Yu Gothic" pitchFamily="34" charset="-120"/>
              </a:rPr>
              <a:t>― サイバー危機に備える人材と組織 ―</a:t>
            </a:r>
            <a:endParaRPr lang="en-US" sz="2400" dirty="0"/>
          </a:p>
        </p:txBody>
      </p:sp>
      <p:sp>
        <p:nvSpPr>
          <p:cNvPr id="7" name="Text 5"/>
          <p:cNvSpPr/>
          <p:nvPr/>
        </p:nvSpPr>
        <p:spPr>
          <a:xfrm>
            <a:off x="822960" y="5120640"/>
            <a:ext cx="10789920" cy="365760"/>
          </a:xfrm>
          <a:prstGeom prst="rect">
            <a:avLst/>
          </a:prstGeom>
          <a:noFill/>
          <a:ln/>
        </p:spPr>
        <p:txBody>
          <a:bodyPr wrap="square" lIns="0" tIns="0" rIns="0" bIns="0" rtlCol="0" anchor="ctr"/>
          <a:lstStyle/>
          <a:p>
            <a:pPr indent="0" marL="0">
              <a:buNone/>
            </a:pPr>
            <a:r>
              <a:rPr lang="en-US" sz="1600" dirty="0">
                <a:solidFill>
                  <a:srgbClr val="16211F"/>
                </a:solidFill>
                <a:latin typeface="Yu Gothic" pitchFamily="34" charset="0"/>
                <a:ea typeface="Yu Gothic" pitchFamily="34" charset="-122"/>
                <a:cs typeface="Yu Gothic" pitchFamily="34" charset="-120"/>
              </a:rPr>
              <a:t>九州大学 情報基盤研究開発センター　小出 洋</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2E7D6B"/>
          </a:solidFill>
          <a:ln/>
        </p:spPr>
      </p:sp>
      <p:sp>
        <p:nvSpPr>
          <p:cNvPr id="3" name="Text 1"/>
          <p:cNvSpPr/>
          <p:nvPr/>
        </p:nvSpPr>
        <p:spPr>
          <a:xfrm>
            <a:off x="640080" y="292608"/>
            <a:ext cx="7772400" cy="274320"/>
          </a:xfrm>
          <a:prstGeom prst="rect">
            <a:avLst/>
          </a:prstGeom>
          <a:noFill/>
          <a:ln/>
        </p:spPr>
        <p:txBody>
          <a:bodyPr wrap="square" lIns="0" tIns="0" rIns="0" bIns="0" rtlCol="0" anchor="ctr"/>
          <a:lstStyle/>
          <a:p>
            <a:pPr indent="0" marL="0">
              <a:buNone/>
            </a:pPr>
            <a:r>
              <a:rPr lang="en-US" sz="1200" b="1" dirty="0">
                <a:solidFill>
                  <a:srgbClr val="2E7D6B"/>
                </a:solidFill>
                <a:latin typeface="Yu Gothic" pitchFamily="34" charset="0"/>
                <a:ea typeface="Yu Gothic" pitchFamily="34" charset="-122"/>
                <a:cs typeface="Yu Gothic" pitchFamily="34" charset="-120"/>
              </a:rPr>
              <a:t>はじめに</a:t>
            </a:r>
            <a:endParaRPr lang="en-US" sz="1200" dirty="0"/>
          </a:p>
        </p:txBody>
      </p:sp>
      <p:sp>
        <p:nvSpPr>
          <p:cNvPr id="4" name="Text 2"/>
          <p:cNvSpPr/>
          <p:nvPr/>
        </p:nvSpPr>
        <p:spPr>
          <a:xfrm>
            <a:off x="640080" y="621792"/>
            <a:ext cx="10911535" cy="685800"/>
          </a:xfrm>
          <a:prstGeom prst="rect">
            <a:avLst/>
          </a:prstGeom>
          <a:noFill/>
          <a:ln/>
        </p:spPr>
        <p:txBody>
          <a:bodyPr wrap="square" lIns="0" tIns="0" rIns="0" bIns="0" rtlCol="0" anchor="t"/>
          <a:lstStyle/>
          <a:p>
            <a:pPr indent="0" marL="0">
              <a:buNone/>
            </a:pPr>
            <a:r>
              <a:rPr lang="en-US" sz="2600" b="1" dirty="0">
                <a:solidFill>
                  <a:srgbClr val="16211F"/>
                </a:solidFill>
                <a:latin typeface="Yu Gothic" pitchFamily="34" charset="0"/>
                <a:ea typeface="Yu Gothic" pitchFamily="34" charset="-122"/>
                <a:cs typeface="Yu Gothic" pitchFamily="34" charset="-120"/>
              </a:rPr>
              <a:t>今日の結論を先に申し上げます</a:t>
            </a:r>
            <a:endParaRPr lang="en-US" sz="2600" dirty="0"/>
          </a:p>
        </p:txBody>
      </p:sp>
      <p:sp>
        <p:nvSpPr>
          <p:cNvPr id="5" name="Text 3"/>
          <p:cNvSpPr/>
          <p:nvPr/>
        </p:nvSpPr>
        <p:spPr>
          <a:xfrm>
            <a:off x="10180015" y="6446520"/>
            <a:ext cx="1371600" cy="228600"/>
          </a:xfrm>
          <a:prstGeom prst="rect">
            <a:avLst/>
          </a:prstGeom>
          <a:noFill/>
          <a:ln/>
        </p:spPr>
        <p:txBody>
          <a:bodyPr wrap="square" lIns="0" tIns="0" rIns="0" bIns="0" rtlCol="0" anchor="ctr"/>
          <a:lstStyle/>
          <a:p>
            <a:pPr algn="r" indent="0" marL="0">
              <a:buNone/>
            </a:pPr>
            <a:r>
              <a:rPr lang="en-US" sz="900" dirty="0">
                <a:solidFill>
                  <a:srgbClr val="5E6E6A"/>
                </a:solidFill>
                <a:latin typeface="Yu Gothic" pitchFamily="34" charset="0"/>
                <a:ea typeface="Yu Gothic" pitchFamily="34" charset="-122"/>
                <a:cs typeface="Yu Gothic" pitchFamily="34" charset="-120"/>
              </a:rPr>
              <a:t>2 / 23</a:t>
            </a:r>
            <a:endParaRPr lang="en-US" sz="900" dirty="0"/>
          </a:p>
        </p:txBody>
      </p:sp>
      <p:sp>
        <p:nvSpPr>
          <p:cNvPr id="6" name="Text 4"/>
          <p:cNvSpPr/>
          <p:nvPr/>
        </p:nvSpPr>
        <p:spPr>
          <a:xfrm>
            <a:off x="640080" y="6446520"/>
            <a:ext cx="6400800" cy="228600"/>
          </a:xfrm>
          <a:prstGeom prst="rect">
            <a:avLst/>
          </a:prstGeom>
          <a:noFill/>
          <a:ln/>
        </p:spPr>
        <p:txBody>
          <a:bodyPr wrap="square" lIns="0" tIns="0" rIns="0" bIns="0" rtlCol="0" anchor="ctr"/>
          <a:lstStyle/>
          <a:p>
            <a:pPr indent="0" marL="0">
              <a:buNone/>
            </a:pPr>
            <a:r>
              <a:rPr lang="en-US" sz="900" dirty="0">
                <a:solidFill>
                  <a:srgbClr val="9FB2AD"/>
                </a:solidFill>
                <a:latin typeface="Yu Gothic" pitchFamily="34" charset="0"/>
                <a:ea typeface="Yu Gothic" pitchFamily="34" charset="-122"/>
                <a:cs typeface="Yu Gothic" pitchFamily="34" charset="-120"/>
              </a:rPr>
              <a:t>Security Days Fall 2026 Fukuoka　FB-05　小出 洋（九州大学）</a:t>
            </a:r>
            <a:endParaRPr lang="en-US" sz="900" dirty="0"/>
          </a:p>
        </p:txBody>
      </p:sp>
      <p:sp>
        <p:nvSpPr>
          <p:cNvPr id="7" name="Shape 5"/>
          <p:cNvSpPr/>
          <p:nvPr/>
        </p:nvSpPr>
        <p:spPr>
          <a:xfrm>
            <a:off x="640080" y="1600200"/>
            <a:ext cx="640080" cy="640080"/>
          </a:xfrm>
          <a:prstGeom prst="ellipse">
            <a:avLst/>
          </a:prstGeom>
          <a:solidFill>
            <a:srgbClr val="2E7D6B"/>
          </a:solidFill>
          <a:ln/>
        </p:spPr>
      </p:sp>
      <p:sp>
        <p:nvSpPr>
          <p:cNvPr id="8" name="Text 6"/>
          <p:cNvSpPr/>
          <p:nvPr/>
        </p:nvSpPr>
        <p:spPr>
          <a:xfrm>
            <a:off x="640080" y="160020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Yu Gothic" pitchFamily="34" charset="0"/>
                <a:ea typeface="Yu Gothic" pitchFamily="34" charset="-122"/>
                <a:cs typeface="Yu Gothic" pitchFamily="34" charset="-120"/>
              </a:rPr>
              <a:t>1</a:t>
            </a:r>
            <a:endParaRPr lang="en-US" sz="2200" dirty="0"/>
          </a:p>
        </p:txBody>
      </p:sp>
      <p:sp>
        <p:nvSpPr>
          <p:cNvPr id="9" name="Text 7"/>
          <p:cNvSpPr/>
          <p:nvPr/>
        </p:nvSpPr>
        <p:spPr>
          <a:xfrm>
            <a:off x="1554480" y="1554480"/>
            <a:ext cx="9997135" cy="457200"/>
          </a:xfrm>
          <a:prstGeom prst="rect">
            <a:avLst/>
          </a:prstGeom>
          <a:noFill/>
          <a:ln/>
        </p:spPr>
        <p:txBody>
          <a:bodyPr wrap="square" lIns="0" tIns="0" rIns="0" bIns="0" rtlCol="0" anchor="ctr"/>
          <a:lstStyle/>
          <a:p>
            <a:pPr indent="0" marL="0">
              <a:buNone/>
            </a:pPr>
            <a:r>
              <a:rPr lang="en-US" sz="1900" b="1" dirty="0">
                <a:solidFill>
                  <a:srgbClr val="16211F"/>
                </a:solidFill>
                <a:latin typeface="Yu Gothic" pitchFamily="34" charset="0"/>
                <a:ea typeface="Yu Gothic" pitchFamily="34" charset="-122"/>
                <a:cs typeface="Yu Gothic" pitchFamily="34" charset="-120"/>
              </a:rPr>
              <a:t>攻撃も防御も速くなりました。いま一番遅いのは「人の判断」です</a:t>
            </a:r>
            <a:endParaRPr lang="en-US" sz="1900" dirty="0"/>
          </a:p>
        </p:txBody>
      </p:sp>
      <p:sp>
        <p:nvSpPr>
          <p:cNvPr id="10" name="Text 8"/>
          <p:cNvSpPr/>
          <p:nvPr/>
        </p:nvSpPr>
        <p:spPr>
          <a:xfrm>
            <a:off x="1554480" y="2029968"/>
            <a:ext cx="9997135" cy="411480"/>
          </a:xfrm>
          <a:prstGeom prst="rect">
            <a:avLst/>
          </a:prstGeom>
          <a:noFill/>
          <a:ln/>
        </p:spPr>
        <p:txBody>
          <a:bodyPr wrap="square" lIns="0" tIns="0" rIns="0" bIns="0" rtlCol="0" anchor="ctr"/>
          <a:lstStyle/>
          <a:p>
            <a:pPr indent="0" marL="0">
              <a:buNone/>
            </a:pPr>
            <a:r>
              <a:rPr lang="en-US" sz="1400" dirty="0">
                <a:solidFill>
                  <a:srgbClr val="5E6E6A"/>
                </a:solidFill>
                <a:latin typeface="Yu Gothic" pitchFamily="34" charset="0"/>
                <a:ea typeface="Yu Gothic" pitchFamily="34" charset="-122"/>
                <a:cs typeface="Yu Gothic" pitchFamily="34" charset="-120"/>
              </a:rPr>
              <a:t>AIで見つけるのも、攻めるのも速くなった。詰まるのは、決めて説明するところです</a:t>
            </a:r>
            <a:endParaRPr lang="en-US" sz="1400" dirty="0"/>
          </a:p>
        </p:txBody>
      </p:sp>
      <p:sp>
        <p:nvSpPr>
          <p:cNvPr id="11" name="Shape 9"/>
          <p:cNvSpPr/>
          <p:nvPr/>
        </p:nvSpPr>
        <p:spPr>
          <a:xfrm>
            <a:off x="640080" y="2788920"/>
            <a:ext cx="640080" cy="640080"/>
          </a:xfrm>
          <a:prstGeom prst="ellipse">
            <a:avLst/>
          </a:prstGeom>
          <a:solidFill>
            <a:srgbClr val="2E7D6B"/>
          </a:solidFill>
          <a:ln/>
        </p:spPr>
      </p:sp>
      <p:sp>
        <p:nvSpPr>
          <p:cNvPr id="12" name="Text 10"/>
          <p:cNvSpPr/>
          <p:nvPr/>
        </p:nvSpPr>
        <p:spPr>
          <a:xfrm>
            <a:off x="640080" y="278892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Yu Gothic" pitchFamily="34" charset="0"/>
                <a:ea typeface="Yu Gothic" pitchFamily="34" charset="-122"/>
                <a:cs typeface="Yu Gothic" pitchFamily="34" charset="-120"/>
              </a:rPr>
              <a:t>2</a:t>
            </a:r>
            <a:endParaRPr lang="en-US" sz="2200" dirty="0"/>
          </a:p>
        </p:txBody>
      </p:sp>
      <p:sp>
        <p:nvSpPr>
          <p:cNvPr id="13" name="Text 11"/>
          <p:cNvSpPr/>
          <p:nvPr/>
        </p:nvSpPr>
        <p:spPr>
          <a:xfrm>
            <a:off x="1554480" y="2743200"/>
            <a:ext cx="9997135" cy="457200"/>
          </a:xfrm>
          <a:prstGeom prst="rect">
            <a:avLst/>
          </a:prstGeom>
          <a:noFill/>
          <a:ln/>
        </p:spPr>
        <p:txBody>
          <a:bodyPr wrap="square" lIns="0" tIns="0" rIns="0" bIns="0" rtlCol="0" anchor="ctr"/>
          <a:lstStyle/>
          <a:p>
            <a:pPr indent="0" marL="0">
              <a:buNone/>
            </a:pPr>
            <a:r>
              <a:rPr lang="en-US" sz="1900" b="1" dirty="0">
                <a:solidFill>
                  <a:srgbClr val="16211F"/>
                </a:solidFill>
                <a:latin typeface="Yu Gothic" pitchFamily="34" charset="0"/>
                <a:ea typeface="Yu Gothic" pitchFamily="34" charset="-122"/>
                <a:cs typeface="Yu Gothic" pitchFamily="34" charset="-120"/>
              </a:rPr>
              <a:t>AIを判断の「相手」にします。決める権限と責任は人に残します</a:t>
            </a:r>
            <a:endParaRPr lang="en-US" sz="1900" dirty="0"/>
          </a:p>
        </p:txBody>
      </p:sp>
      <p:sp>
        <p:nvSpPr>
          <p:cNvPr id="14" name="Text 12"/>
          <p:cNvSpPr/>
          <p:nvPr/>
        </p:nvSpPr>
        <p:spPr>
          <a:xfrm>
            <a:off x="1554480" y="3218688"/>
            <a:ext cx="9997135" cy="411480"/>
          </a:xfrm>
          <a:prstGeom prst="rect">
            <a:avLst/>
          </a:prstGeom>
          <a:noFill/>
          <a:ln/>
        </p:spPr>
        <p:txBody>
          <a:bodyPr wrap="square" lIns="0" tIns="0" rIns="0" bIns="0" rtlCol="0" anchor="ctr"/>
          <a:lstStyle/>
          <a:p>
            <a:pPr indent="0" marL="0">
              <a:buNone/>
            </a:pPr>
            <a:r>
              <a:rPr lang="en-US" sz="1400" dirty="0">
                <a:solidFill>
                  <a:srgbClr val="5E6E6A"/>
                </a:solidFill>
                <a:latin typeface="Yu Gothic" pitchFamily="34" charset="0"/>
                <a:ea typeface="Yu Gothic" pitchFamily="34" charset="-122"/>
                <a:cs typeface="Yu Gothic" pitchFamily="34" charset="-120"/>
              </a:rPr>
              <a:t>選択肢を並べさせ、反対の立場から問わせる。AIの出力は「検証すべき仮説」として扱います</a:t>
            </a:r>
            <a:endParaRPr lang="en-US" sz="1400" dirty="0"/>
          </a:p>
        </p:txBody>
      </p:sp>
      <p:sp>
        <p:nvSpPr>
          <p:cNvPr id="15" name="Shape 13"/>
          <p:cNvSpPr/>
          <p:nvPr/>
        </p:nvSpPr>
        <p:spPr>
          <a:xfrm>
            <a:off x="640080" y="3977640"/>
            <a:ext cx="640080" cy="640080"/>
          </a:xfrm>
          <a:prstGeom prst="ellipse">
            <a:avLst/>
          </a:prstGeom>
          <a:solidFill>
            <a:srgbClr val="2E7D6B"/>
          </a:solidFill>
          <a:ln/>
        </p:spPr>
      </p:sp>
      <p:sp>
        <p:nvSpPr>
          <p:cNvPr id="16" name="Text 14"/>
          <p:cNvSpPr/>
          <p:nvPr/>
        </p:nvSpPr>
        <p:spPr>
          <a:xfrm>
            <a:off x="640080" y="39776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Yu Gothic" pitchFamily="34" charset="0"/>
                <a:ea typeface="Yu Gothic" pitchFamily="34" charset="-122"/>
                <a:cs typeface="Yu Gothic" pitchFamily="34" charset="-120"/>
              </a:rPr>
              <a:t>3</a:t>
            </a:r>
            <a:endParaRPr lang="en-US" sz="2200" dirty="0"/>
          </a:p>
        </p:txBody>
      </p:sp>
      <p:sp>
        <p:nvSpPr>
          <p:cNvPr id="17" name="Text 15"/>
          <p:cNvSpPr/>
          <p:nvPr/>
        </p:nvSpPr>
        <p:spPr>
          <a:xfrm>
            <a:off x="1554480" y="3931920"/>
            <a:ext cx="9997135" cy="457200"/>
          </a:xfrm>
          <a:prstGeom prst="rect">
            <a:avLst/>
          </a:prstGeom>
          <a:noFill/>
          <a:ln/>
        </p:spPr>
        <p:txBody>
          <a:bodyPr wrap="square" lIns="0" tIns="0" rIns="0" bIns="0" rtlCol="0" anchor="ctr"/>
          <a:lstStyle/>
          <a:p>
            <a:pPr indent="0" marL="0">
              <a:buNone/>
            </a:pPr>
            <a:r>
              <a:rPr lang="en-US" sz="1900" b="1" dirty="0">
                <a:solidFill>
                  <a:srgbClr val="16211F"/>
                </a:solidFill>
                <a:latin typeface="Yu Gothic" pitchFamily="34" charset="0"/>
                <a:ea typeface="Yu Gothic" pitchFamily="34" charset="-122"/>
                <a:cs typeface="Yu Gothic" pitchFamily="34" charset="-120"/>
              </a:rPr>
              <a:t>がんばる人に頼らず、判断が回る仕組みを平時に作ります</a:t>
            </a:r>
            <a:endParaRPr lang="en-US" sz="1900" dirty="0"/>
          </a:p>
        </p:txBody>
      </p:sp>
      <p:sp>
        <p:nvSpPr>
          <p:cNvPr id="18" name="Text 16"/>
          <p:cNvSpPr/>
          <p:nvPr/>
        </p:nvSpPr>
        <p:spPr>
          <a:xfrm>
            <a:off x="1554480" y="4407408"/>
            <a:ext cx="9997135" cy="411480"/>
          </a:xfrm>
          <a:prstGeom prst="rect">
            <a:avLst/>
          </a:prstGeom>
          <a:noFill/>
          <a:ln/>
        </p:spPr>
        <p:txBody>
          <a:bodyPr wrap="square" lIns="0" tIns="0" rIns="0" bIns="0" rtlCol="0" anchor="ctr"/>
          <a:lstStyle/>
          <a:p>
            <a:pPr indent="0" marL="0">
              <a:buNone/>
            </a:pPr>
            <a:r>
              <a:rPr lang="en-US" sz="1400" dirty="0">
                <a:solidFill>
                  <a:srgbClr val="5E6E6A"/>
                </a:solidFill>
                <a:latin typeface="Yu Gothic" pitchFamily="34" charset="0"/>
                <a:ea typeface="Yu Gothic" pitchFamily="34" charset="-122"/>
                <a:cs typeface="Yu Gothic" pitchFamily="34" charset="-120"/>
              </a:rPr>
              <a:t>任せ方の決まり・判断カード・演習の3つで、限られた人員でも回るようにします</a:t>
            </a:r>
            <a:endParaRPr lang="en-US" sz="1400" dirty="0"/>
          </a:p>
        </p:txBody>
      </p:sp>
      <p:sp>
        <p:nvSpPr>
          <p:cNvPr id="19" name="Shape 17"/>
          <p:cNvSpPr/>
          <p:nvPr/>
        </p:nvSpPr>
        <p:spPr>
          <a:xfrm>
            <a:off x="640080" y="5257800"/>
            <a:ext cx="10911535" cy="658368"/>
          </a:xfrm>
          <a:prstGeom prst="rect">
            <a:avLst/>
          </a:prstGeom>
          <a:solidFill>
            <a:srgbClr val="F6EBD8"/>
          </a:solidFill>
          <a:ln/>
        </p:spPr>
      </p:sp>
      <p:sp>
        <p:nvSpPr>
          <p:cNvPr id="20" name="Shape 18"/>
          <p:cNvSpPr/>
          <p:nvPr/>
        </p:nvSpPr>
        <p:spPr>
          <a:xfrm>
            <a:off x="640080" y="5257800"/>
            <a:ext cx="73152" cy="658368"/>
          </a:xfrm>
          <a:prstGeom prst="rect">
            <a:avLst/>
          </a:prstGeom>
          <a:solidFill>
            <a:srgbClr val="C9821A"/>
          </a:solidFill>
          <a:ln/>
        </p:spPr>
      </p:sp>
      <p:sp>
        <p:nvSpPr>
          <p:cNvPr id="21" name="Text 19"/>
          <p:cNvSpPr/>
          <p:nvPr/>
        </p:nvSpPr>
        <p:spPr>
          <a:xfrm>
            <a:off x="914400" y="5330952"/>
            <a:ext cx="10454335" cy="512064"/>
          </a:xfrm>
          <a:prstGeom prst="rect">
            <a:avLst/>
          </a:prstGeom>
          <a:noFill/>
          <a:ln/>
        </p:spPr>
        <p:txBody>
          <a:bodyPr wrap="square" lIns="0" tIns="0" rIns="0" bIns="0" rtlCol="0" anchor="ctr"/>
          <a:lstStyle/>
          <a:p>
            <a:pPr indent="0" marL="0">
              <a:buNone/>
            </a:pPr>
            <a:r>
              <a:rPr lang="en-US" sz="1400" b="1" dirty="0">
                <a:solidFill>
                  <a:srgbClr val="16211F"/>
                </a:solidFill>
                <a:latin typeface="Yu Gothic" pitchFamily="34" charset="0"/>
                <a:ea typeface="Yu Gothic" pitchFamily="34" charset="-122"/>
                <a:cs typeface="Yu Gothic" pitchFamily="34" charset="-120"/>
              </a:rPr>
              <a:t>「ひとががんばる」を「仕組みが回す」に置き換える ― 今日はその具体的なやり方の話です。</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2E7D6B"/>
          </a:solidFill>
          <a:ln/>
        </p:spPr>
      </p:sp>
      <p:sp>
        <p:nvSpPr>
          <p:cNvPr id="3" name="Text 1"/>
          <p:cNvSpPr/>
          <p:nvPr/>
        </p:nvSpPr>
        <p:spPr>
          <a:xfrm>
            <a:off x="640080" y="292608"/>
            <a:ext cx="7772400" cy="274320"/>
          </a:xfrm>
          <a:prstGeom prst="rect">
            <a:avLst/>
          </a:prstGeom>
          <a:noFill/>
          <a:ln/>
        </p:spPr>
        <p:txBody>
          <a:bodyPr wrap="square" lIns="0" tIns="0" rIns="0" bIns="0" rtlCol="0" anchor="ctr"/>
          <a:lstStyle/>
          <a:p>
            <a:pPr indent="0" marL="0">
              <a:buNone/>
            </a:pPr>
            <a:r>
              <a:rPr lang="en-US" sz="1200" b="1" dirty="0">
                <a:solidFill>
                  <a:srgbClr val="2E7D6B"/>
                </a:solidFill>
                <a:latin typeface="Yu Gothic" pitchFamily="34" charset="0"/>
                <a:ea typeface="Yu Gothic" pitchFamily="34" charset="-122"/>
                <a:cs typeface="Yu Gothic" pitchFamily="34" charset="-120"/>
              </a:rPr>
              <a:t>はじめに</a:t>
            </a:r>
            <a:endParaRPr lang="en-US" sz="1200" dirty="0"/>
          </a:p>
        </p:txBody>
      </p:sp>
      <p:sp>
        <p:nvSpPr>
          <p:cNvPr id="4" name="Text 2"/>
          <p:cNvSpPr/>
          <p:nvPr/>
        </p:nvSpPr>
        <p:spPr>
          <a:xfrm>
            <a:off x="640080" y="621792"/>
            <a:ext cx="10911535" cy="685800"/>
          </a:xfrm>
          <a:prstGeom prst="rect">
            <a:avLst/>
          </a:prstGeom>
          <a:noFill/>
          <a:ln/>
        </p:spPr>
        <p:txBody>
          <a:bodyPr wrap="square" lIns="0" tIns="0" rIns="0" bIns="0" rtlCol="0" anchor="t"/>
          <a:lstStyle/>
          <a:p>
            <a:pPr indent="0" marL="0">
              <a:buNone/>
            </a:pPr>
            <a:r>
              <a:rPr lang="en-US" sz="2600" b="1" dirty="0">
                <a:solidFill>
                  <a:srgbClr val="16211F"/>
                </a:solidFill>
                <a:latin typeface="Yu Gothic" pitchFamily="34" charset="0"/>
                <a:ea typeface="Yu Gothic" pitchFamily="34" charset="-122"/>
                <a:cs typeface="Yu Gothic" pitchFamily="34" charset="-120"/>
              </a:rPr>
              <a:t>この30分の地図</a:t>
            </a:r>
            <a:endParaRPr lang="en-US" sz="2600" dirty="0"/>
          </a:p>
        </p:txBody>
      </p:sp>
      <p:sp>
        <p:nvSpPr>
          <p:cNvPr id="5" name="Text 3"/>
          <p:cNvSpPr/>
          <p:nvPr/>
        </p:nvSpPr>
        <p:spPr>
          <a:xfrm>
            <a:off x="10180015" y="6446520"/>
            <a:ext cx="1371600" cy="228600"/>
          </a:xfrm>
          <a:prstGeom prst="rect">
            <a:avLst/>
          </a:prstGeom>
          <a:noFill/>
          <a:ln/>
        </p:spPr>
        <p:txBody>
          <a:bodyPr wrap="square" lIns="0" tIns="0" rIns="0" bIns="0" rtlCol="0" anchor="ctr"/>
          <a:lstStyle/>
          <a:p>
            <a:pPr algn="r" indent="0" marL="0">
              <a:buNone/>
            </a:pPr>
            <a:r>
              <a:rPr lang="en-US" sz="900" dirty="0">
                <a:solidFill>
                  <a:srgbClr val="5E6E6A"/>
                </a:solidFill>
                <a:latin typeface="Yu Gothic" pitchFamily="34" charset="0"/>
                <a:ea typeface="Yu Gothic" pitchFamily="34" charset="-122"/>
                <a:cs typeface="Yu Gothic" pitchFamily="34" charset="-120"/>
              </a:rPr>
              <a:t>3 / 23</a:t>
            </a:r>
            <a:endParaRPr lang="en-US" sz="900" dirty="0"/>
          </a:p>
        </p:txBody>
      </p:sp>
      <p:sp>
        <p:nvSpPr>
          <p:cNvPr id="6" name="Text 4"/>
          <p:cNvSpPr/>
          <p:nvPr/>
        </p:nvSpPr>
        <p:spPr>
          <a:xfrm>
            <a:off x="640080" y="6446520"/>
            <a:ext cx="6400800" cy="228600"/>
          </a:xfrm>
          <a:prstGeom prst="rect">
            <a:avLst/>
          </a:prstGeom>
          <a:noFill/>
          <a:ln/>
        </p:spPr>
        <p:txBody>
          <a:bodyPr wrap="square" lIns="0" tIns="0" rIns="0" bIns="0" rtlCol="0" anchor="ctr"/>
          <a:lstStyle/>
          <a:p>
            <a:pPr indent="0" marL="0">
              <a:buNone/>
            </a:pPr>
            <a:r>
              <a:rPr lang="en-US" sz="900" dirty="0">
                <a:solidFill>
                  <a:srgbClr val="9FB2AD"/>
                </a:solidFill>
                <a:latin typeface="Yu Gothic" pitchFamily="34" charset="0"/>
                <a:ea typeface="Yu Gothic" pitchFamily="34" charset="-122"/>
                <a:cs typeface="Yu Gothic" pitchFamily="34" charset="-120"/>
              </a:rPr>
              <a:t>Security Days Fall 2026 Fukuoka　FB-05　小出 洋（九州大学）</a:t>
            </a:r>
            <a:endParaRPr lang="en-US" sz="900" dirty="0"/>
          </a:p>
        </p:txBody>
      </p:sp>
      <p:sp>
        <p:nvSpPr>
          <p:cNvPr id="7" name="Shape 5"/>
          <p:cNvSpPr/>
          <p:nvPr/>
        </p:nvSpPr>
        <p:spPr>
          <a:xfrm>
            <a:off x="640080" y="1463040"/>
            <a:ext cx="1005840" cy="566928"/>
          </a:xfrm>
          <a:prstGeom prst="rect">
            <a:avLst/>
          </a:prstGeom>
          <a:solidFill>
            <a:srgbClr val="2E7D6B"/>
          </a:solidFill>
          <a:ln/>
        </p:spPr>
      </p:sp>
      <p:sp>
        <p:nvSpPr>
          <p:cNvPr id="8" name="Text 6"/>
          <p:cNvSpPr/>
          <p:nvPr/>
        </p:nvSpPr>
        <p:spPr>
          <a:xfrm>
            <a:off x="640080" y="1463040"/>
            <a:ext cx="1005840"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5分</a:t>
            </a:r>
            <a:endParaRPr lang="en-US" sz="1500" dirty="0"/>
          </a:p>
        </p:txBody>
      </p:sp>
      <p:sp>
        <p:nvSpPr>
          <p:cNvPr id="9" name="Shape 7"/>
          <p:cNvSpPr/>
          <p:nvPr/>
        </p:nvSpPr>
        <p:spPr>
          <a:xfrm>
            <a:off x="1645920" y="1463040"/>
            <a:ext cx="9905695" cy="566928"/>
          </a:xfrm>
          <a:prstGeom prst="rect">
            <a:avLst/>
          </a:prstGeom>
          <a:solidFill>
            <a:srgbClr val="EDF3F1"/>
          </a:solidFill>
          <a:ln/>
        </p:spPr>
      </p:sp>
      <p:sp>
        <p:nvSpPr>
          <p:cNvPr id="10" name="Text 8"/>
          <p:cNvSpPr/>
          <p:nvPr/>
        </p:nvSpPr>
        <p:spPr>
          <a:xfrm>
            <a:off x="1874520" y="1463040"/>
            <a:ext cx="3657600" cy="566928"/>
          </a:xfrm>
          <a:prstGeom prst="rect">
            <a:avLst/>
          </a:prstGeom>
          <a:noFill/>
          <a:ln/>
        </p:spPr>
        <p:txBody>
          <a:bodyPr wrap="square" lIns="0" tIns="0" rIns="0" bIns="0" rtlCol="0" anchor="ctr"/>
          <a:lstStyle/>
          <a:p>
            <a:pPr indent="0" marL="0">
              <a:buNone/>
            </a:pPr>
            <a:r>
              <a:rPr lang="en-US" sz="1600" b="1" dirty="0">
                <a:solidFill>
                  <a:srgbClr val="16211F"/>
                </a:solidFill>
                <a:latin typeface="Yu Gothic" pitchFamily="34" charset="0"/>
                <a:ea typeface="Yu Gothic" pitchFamily="34" charset="-122"/>
                <a:cs typeface="Yu Gothic" pitchFamily="34" charset="-120"/>
              </a:rPr>
              <a:t>律速点は人の判断へ</a:t>
            </a:r>
            <a:endParaRPr lang="en-US" sz="1600" dirty="0"/>
          </a:p>
        </p:txBody>
      </p:sp>
      <p:sp>
        <p:nvSpPr>
          <p:cNvPr id="11" name="Text 9"/>
          <p:cNvSpPr/>
          <p:nvPr/>
        </p:nvSpPr>
        <p:spPr>
          <a:xfrm>
            <a:off x="5577840" y="1463040"/>
            <a:ext cx="5790895" cy="566928"/>
          </a:xfrm>
          <a:prstGeom prst="rect">
            <a:avLst/>
          </a:prstGeom>
          <a:noFill/>
          <a:ln/>
        </p:spPr>
        <p:txBody>
          <a:bodyPr wrap="square" lIns="0" tIns="0" rIns="0" bIns="0" rtlCol="0" anchor="ctr"/>
          <a:lstStyle/>
          <a:p>
            <a:pPr indent="0" marL="0">
              <a:buNone/>
            </a:pPr>
            <a:r>
              <a:rPr lang="en-US" sz="1400" dirty="0">
                <a:solidFill>
                  <a:srgbClr val="5E6E6A"/>
                </a:solidFill>
                <a:latin typeface="Yu Gothic" pitchFamily="34" charset="0"/>
                <a:ea typeface="Yu Gothic" pitchFamily="34" charset="-122"/>
                <a:cs typeface="Yu Gothic" pitchFamily="34" charset="-120"/>
              </a:rPr>
              <a:t>何が速くなり、何が遅いまま残ったか</a:t>
            </a:r>
            <a:endParaRPr lang="en-US" sz="1400" dirty="0"/>
          </a:p>
        </p:txBody>
      </p:sp>
      <p:sp>
        <p:nvSpPr>
          <p:cNvPr id="12" name="Shape 10"/>
          <p:cNvSpPr/>
          <p:nvPr/>
        </p:nvSpPr>
        <p:spPr>
          <a:xfrm>
            <a:off x="640080" y="2176272"/>
            <a:ext cx="1005840" cy="566928"/>
          </a:xfrm>
          <a:prstGeom prst="rect">
            <a:avLst/>
          </a:prstGeom>
          <a:solidFill>
            <a:srgbClr val="2E7D6B"/>
          </a:solidFill>
          <a:ln/>
        </p:spPr>
      </p:sp>
      <p:sp>
        <p:nvSpPr>
          <p:cNvPr id="13" name="Text 11"/>
          <p:cNvSpPr/>
          <p:nvPr/>
        </p:nvSpPr>
        <p:spPr>
          <a:xfrm>
            <a:off x="640080" y="2176272"/>
            <a:ext cx="1005840"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9分</a:t>
            </a:r>
            <a:endParaRPr lang="en-US" sz="1500" dirty="0"/>
          </a:p>
        </p:txBody>
      </p:sp>
      <p:sp>
        <p:nvSpPr>
          <p:cNvPr id="14" name="Shape 12"/>
          <p:cNvSpPr/>
          <p:nvPr/>
        </p:nvSpPr>
        <p:spPr>
          <a:xfrm>
            <a:off x="1645920" y="2176272"/>
            <a:ext cx="9905695" cy="566928"/>
          </a:xfrm>
          <a:prstGeom prst="rect">
            <a:avLst/>
          </a:prstGeom>
          <a:solidFill>
            <a:srgbClr val="F4F7F6"/>
          </a:solidFill>
          <a:ln/>
        </p:spPr>
      </p:sp>
      <p:sp>
        <p:nvSpPr>
          <p:cNvPr id="15" name="Text 13"/>
          <p:cNvSpPr/>
          <p:nvPr/>
        </p:nvSpPr>
        <p:spPr>
          <a:xfrm>
            <a:off x="1874520" y="2176272"/>
            <a:ext cx="3657600" cy="566928"/>
          </a:xfrm>
          <a:prstGeom prst="rect">
            <a:avLst/>
          </a:prstGeom>
          <a:noFill/>
          <a:ln/>
        </p:spPr>
        <p:txBody>
          <a:bodyPr wrap="square" lIns="0" tIns="0" rIns="0" bIns="0" rtlCol="0" anchor="ctr"/>
          <a:lstStyle/>
          <a:p>
            <a:pPr indent="0" marL="0">
              <a:buNone/>
            </a:pPr>
            <a:r>
              <a:rPr lang="en-US" sz="1600" b="1" dirty="0">
                <a:solidFill>
                  <a:srgbClr val="16211F"/>
                </a:solidFill>
                <a:latin typeface="Yu Gothic" pitchFamily="34" charset="0"/>
                <a:ea typeface="Yu Gothic" pitchFamily="34" charset="-122"/>
                <a:cs typeface="Yu Gothic" pitchFamily="34" charset="-120"/>
              </a:rPr>
              <a:t>AIとともに判断する</a:t>
            </a:r>
            <a:endParaRPr lang="en-US" sz="1600" dirty="0"/>
          </a:p>
        </p:txBody>
      </p:sp>
      <p:sp>
        <p:nvSpPr>
          <p:cNvPr id="16" name="Text 14"/>
          <p:cNvSpPr/>
          <p:nvPr/>
        </p:nvSpPr>
        <p:spPr>
          <a:xfrm>
            <a:off x="5577840" y="2176272"/>
            <a:ext cx="5790895" cy="566928"/>
          </a:xfrm>
          <a:prstGeom prst="rect">
            <a:avLst/>
          </a:prstGeom>
          <a:noFill/>
          <a:ln/>
        </p:spPr>
        <p:txBody>
          <a:bodyPr wrap="square" lIns="0" tIns="0" rIns="0" bIns="0" rtlCol="0" anchor="ctr"/>
          <a:lstStyle/>
          <a:p>
            <a:pPr indent="0" marL="0">
              <a:buNone/>
            </a:pPr>
            <a:r>
              <a:rPr lang="en-US" sz="1400" dirty="0">
                <a:solidFill>
                  <a:srgbClr val="5E6E6A"/>
                </a:solidFill>
                <a:latin typeface="Yu Gothic" pitchFamily="34" charset="0"/>
                <a:ea typeface="Yu Gothic" pitchFamily="34" charset="-122"/>
                <a:cs typeface="Yu Gothic" pitchFamily="34" charset="-120"/>
              </a:rPr>
              <a:t>AIを判断の相手にする。ミニ演習と「暫定判断」</a:t>
            </a:r>
            <a:endParaRPr lang="en-US" sz="1400" dirty="0"/>
          </a:p>
        </p:txBody>
      </p:sp>
      <p:sp>
        <p:nvSpPr>
          <p:cNvPr id="17" name="Shape 15"/>
          <p:cNvSpPr/>
          <p:nvPr/>
        </p:nvSpPr>
        <p:spPr>
          <a:xfrm>
            <a:off x="640080" y="2889504"/>
            <a:ext cx="1005840" cy="566928"/>
          </a:xfrm>
          <a:prstGeom prst="rect">
            <a:avLst/>
          </a:prstGeom>
          <a:solidFill>
            <a:srgbClr val="2E7D6B"/>
          </a:solidFill>
          <a:ln/>
        </p:spPr>
      </p:sp>
      <p:sp>
        <p:nvSpPr>
          <p:cNvPr id="18" name="Text 16"/>
          <p:cNvSpPr/>
          <p:nvPr/>
        </p:nvSpPr>
        <p:spPr>
          <a:xfrm>
            <a:off x="640080" y="2889504"/>
            <a:ext cx="1005840"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6分</a:t>
            </a:r>
            <a:endParaRPr lang="en-US" sz="1500" dirty="0"/>
          </a:p>
        </p:txBody>
      </p:sp>
      <p:sp>
        <p:nvSpPr>
          <p:cNvPr id="19" name="Shape 17"/>
          <p:cNvSpPr/>
          <p:nvPr/>
        </p:nvSpPr>
        <p:spPr>
          <a:xfrm>
            <a:off x="1645920" y="2889504"/>
            <a:ext cx="9905695" cy="566928"/>
          </a:xfrm>
          <a:prstGeom prst="rect">
            <a:avLst/>
          </a:prstGeom>
          <a:solidFill>
            <a:srgbClr val="EDF3F1"/>
          </a:solidFill>
          <a:ln/>
        </p:spPr>
      </p:sp>
      <p:sp>
        <p:nvSpPr>
          <p:cNvPr id="20" name="Text 18"/>
          <p:cNvSpPr/>
          <p:nvPr/>
        </p:nvSpPr>
        <p:spPr>
          <a:xfrm>
            <a:off x="1874520" y="2889504"/>
            <a:ext cx="3657600" cy="566928"/>
          </a:xfrm>
          <a:prstGeom prst="rect">
            <a:avLst/>
          </a:prstGeom>
          <a:noFill/>
          <a:ln/>
        </p:spPr>
        <p:txBody>
          <a:bodyPr wrap="square" lIns="0" tIns="0" rIns="0" bIns="0" rtlCol="0" anchor="ctr"/>
          <a:lstStyle/>
          <a:p>
            <a:pPr indent="0" marL="0">
              <a:buNone/>
            </a:pPr>
            <a:r>
              <a:rPr lang="en-US" sz="1600" b="1" dirty="0">
                <a:solidFill>
                  <a:srgbClr val="16211F"/>
                </a:solidFill>
                <a:latin typeface="Yu Gothic" pitchFamily="34" charset="0"/>
                <a:ea typeface="Yu Gothic" pitchFamily="34" charset="-122"/>
                <a:cs typeface="Yu Gothic" pitchFamily="34" charset="-120"/>
              </a:rPr>
              <a:t>限られた人員で回す</a:t>
            </a:r>
            <a:endParaRPr lang="en-US" sz="1600" dirty="0"/>
          </a:p>
        </p:txBody>
      </p:sp>
      <p:sp>
        <p:nvSpPr>
          <p:cNvPr id="21" name="Text 19"/>
          <p:cNvSpPr/>
          <p:nvPr/>
        </p:nvSpPr>
        <p:spPr>
          <a:xfrm>
            <a:off x="5577840" y="2889504"/>
            <a:ext cx="5790895" cy="566928"/>
          </a:xfrm>
          <a:prstGeom prst="rect">
            <a:avLst/>
          </a:prstGeom>
          <a:noFill/>
          <a:ln/>
        </p:spPr>
        <p:txBody>
          <a:bodyPr wrap="square" lIns="0" tIns="0" rIns="0" bIns="0" rtlCol="0" anchor="ctr"/>
          <a:lstStyle/>
          <a:p>
            <a:pPr indent="0" marL="0">
              <a:buNone/>
            </a:pPr>
            <a:r>
              <a:rPr lang="en-US" sz="1400" dirty="0">
                <a:solidFill>
                  <a:srgbClr val="5E6E6A"/>
                </a:solidFill>
                <a:latin typeface="Yu Gothic" pitchFamily="34" charset="0"/>
                <a:ea typeface="Yu Gothic" pitchFamily="34" charset="-122"/>
                <a:cs typeface="Yu Gothic" pitchFamily="34" charset="-120"/>
              </a:rPr>
              <a:t>任せ方の3段階と、判断カード</a:t>
            </a:r>
            <a:endParaRPr lang="en-US" sz="1400" dirty="0"/>
          </a:p>
        </p:txBody>
      </p:sp>
      <p:sp>
        <p:nvSpPr>
          <p:cNvPr id="22" name="Shape 20"/>
          <p:cNvSpPr/>
          <p:nvPr/>
        </p:nvSpPr>
        <p:spPr>
          <a:xfrm>
            <a:off x="640080" y="3602736"/>
            <a:ext cx="1005840" cy="566928"/>
          </a:xfrm>
          <a:prstGeom prst="rect">
            <a:avLst/>
          </a:prstGeom>
          <a:solidFill>
            <a:srgbClr val="2E7D6B"/>
          </a:solidFill>
          <a:ln/>
        </p:spPr>
      </p:sp>
      <p:sp>
        <p:nvSpPr>
          <p:cNvPr id="23" name="Text 21"/>
          <p:cNvSpPr/>
          <p:nvPr/>
        </p:nvSpPr>
        <p:spPr>
          <a:xfrm>
            <a:off x="640080" y="3602736"/>
            <a:ext cx="1005840"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4分</a:t>
            </a:r>
            <a:endParaRPr lang="en-US" sz="1500" dirty="0"/>
          </a:p>
        </p:txBody>
      </p:sp>
      <p:sp>
        <p:nvSpPr>
          <p:cNvPr id="24" name="Shape 22"/>
          <p:cNvSpPr/>
          <p:nvPr/>
        </p:nvSpPr>
        <p:spPr>
          <a:xfrm>
            <a:off x="1645920" y="3602736"/>
            <a:ext cx="9905695" cy="566928"/>
          </a:xfrm>
          <a:prstGeom prst="rect">
            <a:avLst/>
          </a:prstGeom>
          <a:solidFill>
            <a:srgbClr val="F4F7F6"/>
          </a:solidFill>
          <a:ln/>
        </p:spPr>
      </p:sp>
      <p:sp>
        <p:nvSpPr>
          <p:cNvPr id="25" name="Text 23"/>
          <p:cNvSpPr/>
          <p:nvPr/>
        </p:nvSpPr>
        <p:spPr>
          <a:xfrm>
            <a:off x="1874520" y="3602736"/>
            <a:ext cx="3657600" cy="566928"/>
          </a:xfrm>
          <a:prstGeom prst="rect">
            <a:avLst/>
          </a:prstGeom>
          <a:noFill/>
          <a:ln/>
        </p:spPr>
        <p:txBody>
          <a:bodyPr wrap="square" lIns="0" tIns="0" rIns="0" bIns="0" rtlCol="0" anchor="ctr"/>
          <a:lstStyle/>
          <a:p>
            <a:pPr indent="0" marL="0">
              <a:buNone/>
            </a:pPr>
            <a:r>
              <a:rPr lang="en-US" sz="1600" b="1" dirty="0">
                <a:solidFill>
                  <a:srgbClr val="16211F"/>
                </a:solidFill>
                <a:latin typeface="Yu Gothic" pitchFamily="34" charset="0"/>
                <a:ea typeface="Yu Gothic" pitchFamily="34" charset="-122"/>
                <a:cs typeface="Yu Gothic" pitchFamily="34" charset="-120"/>
              </a:rPr>
              <a:t>平時に判断を練習する</a:t>
            </a:r>
            <a:endParaRPr lang="en-US" sz="1600" dirty="0"/>
          </a:p>
        </p:txBody>
      </p:sp>
      <p:sp>
        <p:nvSpPr>
          <p:cNvPr id="26" name="Text 24"/>
          <p:cNvSpPr/>
          <p:nvPr/>
        </p:nvSpPr>
        <p:spPr>
          <a:xfrm>
            <a:off x="5577840" y="3602736"/>
            <a:ext cx="5790895" cy="566928"/>
          </a:xfrm>
          <a:prstGeom prst="rect">
            <a:avLst/>
          </a:prstGeom>
          <a:noFill/>
          <a:ln/>
        </p:spPr>
        <p:txBody>
          <a:bodyPr wrap="square" lIns="0" tIns="0" rIns="0" bIns="0" rtlCol="0" anchor="ctr"/>
          <a:lstStyle/>
          <a:p>
            <a:pPr indent="0" marL="0">
              <a:buNone/>
            </a:pPr>
            <a:r>
              <a:rPr lang="en-US" sz="1400" dirty="0">
                <a:solidFill>
                  <a:srgbClr val="5E6E6A"/>
                </a:solidFill>
                <a:latin typeface="Yu Gothic" pitchFamily="34" charset="0"/>
                <a:ea typeface="Yu Gothic" pitchFamily="34" charset="-122"/>
                <a:cs typeface="Yu Gothic" pitchFamily="34" charset="-120"/>
              </a:rPr>
              <a:t>AIを入れた机上演習と、そこで測るもの</a:t>
            </a:r>
            <a:endParaRPr lang="en-US" sz="1400" dirty="0"/>
          </a:p>
        </p:txBody>
      </p:sp>
      <p:sp>
        <p:nvSpPr>
          <p:cNvPr id="27" name="Shape 25"/>
          <p:cNvSpPr/>
          <p:nvPr/>
        </p:nvSpPr>
        <p:spPr>
          <a:xfrm>
            <a:off x="640080" y="4315968"/>
            <a:ext cx="1005840" cy="566928"/>
          </a:xfrm>
          <a:prstGeom prst="rect">
            <a:avLst/>
          </a:prstGeom>
          <a:solidFill>
            <a:srgbClr val="2E7D6B"/>
          </a:solidFill>
          <a:ln/>
        </p:spPr>
      </p:sp>
      <p:sp>
        <p:nvSpPr>
          <p:cNvPr id="28" name="Text 26"/>
          <p:cNvSpPr/>
          <p:nvPr/>
        </p:nvSpPr>
        <p:spPr>
          <a:xfrm>
            <a:off x="640080" y="4315968"/>
            <a:ext cx="1005840"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2分</a:t>
            </a:r>
            <a:endParaRPr lang="en-US" sz="1500" dirty="0"/>
          </a:p>
        </p:txBody>
      </p:sp>
      <p:sp>
        <p:nvSpPr>
          <p:cNvPr id="29" name="Shape 27"/>
          <p:cNvSpPr/>
          <p:nvPr/>
        </p:nvSpPr>
        <p:spPr>
          <a:xfrm>
            <a:off x="1645920" y="4315968"/>
            <a:ext cx="9905695" cy="566928"/>
          </a:xfrm>
          <a:prstGeom prst="rect">
            <a:avLst/>
          </a:prstGeom>
          <a:solidFill>
            <a:srgbClr val="EDF3F1"/>
          </a:solidFill>
          <a:ln/>
        </p:spPr>
      </p:sp>
      <p:sp>
        <p:nvSpPr>
          <p:cNvPr id="30" name="Text 28"/>
          <p:cNvSpPr/>
          <p:nvPr/>
        </p:nvSpPr>
        <p:spPr>
          <a:xfrm>
            <a:off x="1874520" y="4315968"/>
            <a:ext cx="3657600" cy="566928"/>
          </a:xfrm>
          <a:prstGeom prst="rect">
            <a:avLst/>
          </a:prstGeom>
          <a:noFill/>
          <a:ln/>
        </p:spPr>
        <p:txBody>
          <a:bodyPr wrap="square" lIns="0" tIns="0" rIns="0" bIns="0" rtlCol="0" anchor="ctr"/>
          <a:lstStyle/>
          <a:p>
            <a:pPr indent="0" marL="0">
              <a:buNone/>
            </a:pPr>
            <a:r>
              <a:rPr lang="en-US" sz="1600" b="1" dirty="0">
                <a:solidFill>
                  <a:srgbClr val="16211F"/>
                </a:solidFill>
                <a:latin typeface="Yu Gothic" pitchFamily="34" charset="0"/>
                <a:ea typeface="Yu Gothic" pitchFamily="34" charset="-122"/>
                <a:cs typeface="Yu Gothic" pitchFamily="34" charset="-120"/>
              </a:rPr>
              <a:t>明日からやること</a:t>
            </a:r>
            <a:endParaRPr lang="en-US" sz="1600" dirty="0"/>
          </a:p>
        </p:txBody>
      </p:sp>
      <p:sp>
        <p:nvSpPr>
          <p:cNvPr id="31" name="Text 29"/>
          <p:cNvSpPr/>
          <p:nvPr/>
        </p:nvSpPr>
        <p:spPr>
          <a:xfrm>
            <a:off x="5577840" y="4315968"/>
            <a:ext cx="5790895" cy="566928"/>
          </a:xfrm>
          <a:prstGeom prst="rect">
            <a:avLst/>
          </a:prstGeom>
          <a:noFill/>
          <a:ln/>
        </p:spPr>
        <p:txBody>
          <a:bodyPr wrap="square" lIns="0" tIns="0" rIns="0" bIns="0" rtlCol="0" anchor="ctr"/>
          <a:lstStyle/>
          <a:p>
            <a:pPr indent="0" marL="0">
              <a:buNone/>
            </a:pPr>
            <a:r>
              <a:rPr lang="en-US" sz="1400" dirty="0">
                <a:solidFill>
                  <a:srgbClr val="5E6E6A"/>
                </a:solidFill>
                <a:latin typeface="Yu Gothic" pitchFamily="34" charset="0"/>
                <a:ea typeface="Yu Gothic" pitchFamily="34" charset="-122"/>
                <a:cs typeface="Yu Gothic" pitchFamily="34" charset="-120"/>
              </a:rPr>
              <a:t>持ち帰っていただく3つ</a:t>
            </a:r>
            <a:endParaRPr lang="en-US" sz="1400" dirty="0"/>
          </a:p>
        </p:txBody>
      </p:sp>
      <p:sp>
        <p:nvSpPr>
          <p:cNvPr id="32" name="Shape 30"/>
          <p:cNvSpPr/>
          <p:nvPr/>
        </p:nvSpPr>
        <p:spPr>
          <a:xfrm>
            <a:off x="640080" y="5257800"/>
            <a:ext cx="10911535" cy="658368"/>
          </a:xfrm>
          <a:prstGeom prst="rect">
            <a:avLst/>
          </a:prstGeom>
          <a:solidFill>
            <a:srgbClr val="F6EBD8"/>
          </a:solidFill>
          <a:ln/>
        </p:spPr>
      </p:sp>
      <p:sp>
        <p:nvSpPr>
          <p:cNvPr id="33" name="Shape 31"/>
          <p:cNvSpPr/>
          <p:nvPr/>
        </p:nvSpPr>
        <p:spPr>
          <a:xfrm>
            <a:off x="640080" y="5257800"/>
            <a:ext cx="73152" cy="658368"/>
          </a:xfrm>
          <a:prstGeom prst="rect">
            <a:avLst/>
          </a:prstGeom>
          <a:solidFill>
            <a:srgbClr val="C9821A"/>
          </a:solidFill>
          <a:ln/>
        </p:spPr>
      </p:sp>
      <p:sp>
        <p:nvSpPr>
          <p:cNvPr id="34" name="Text 32"/>
          <p:cNvSpPr/>
          <p:nvPr/>
        </p:nvSpPr>
        <p:spPr>
          <a:xfrm>
            <a:off x="914400" y="5330952"/>
            <a:ext cx="10454335" cy="512064"/>
          </a:xfrm>
          <a:prstGeom prst="rect">
            <a:avLst/>
          </a:prstGeom>
          <a:noFill/>
          <a:ln/>
        </p:spPr>
        <p:txBody>
          <a:bodyPr wrap="square" lIns="0" tIns="0" rIns="0" bIns="0" rtlCol="0" anchor="ctr"/>
          <a:lstStyle/>
          <a:p>
            <a:pPr indent="0" marL="0">
              <a:buNone/>
            </a:pPr>
            <a:r>
              <a:rPr lang="en-US" sz="1400" b="1" dirty="0">
                <a:solidFill>
                  <a:srgbClr val="16211F"/>
                </a:solidFill>
                <a:latin typeface="Yu Gothic" pitchFamily="34" charset="0"/>
                <a:ea typeface="Yu Gothic" pitchFamily="34" charset="-122"/>
                <a:cs typeface="Yu Gothic" pitchFamily="34" charset="-120"/>
              </a:rPr>
              <a:t>付録に、判断カードと演習進行の雛形を付けています。そのままお使いください。</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2E7D6B"/>
          </a:solidFill>
          <a:ln/>
        </p:spPr>
      </p:sp>
      <p:sp>
        <p:nvSpPr>
          <p:cNvPr id="3" name="Shape 1"/>
          <p:cNvSpPr/>
          <p:nvPr/>
        </p:nvSpPr>
        <p:spPr>
          <a:xfrm>
            <a:off x="822960" y="5989320"/>
            <a:ext cx="10515600" cy="27432"/>
          </a:xfrm>
          <a:prstGeom prst="rect">
            <a:avLst/>
          </a:prstGeom>
          <a:solidFill>
            <a:srgbClr val="C9D5D1"/>
          </a:solidFill>
          <a:ln/>
        </p:spPr>
      </p:sp>
      <p:sp>
        <p:nvSpPr>
          <p:cNvPr id="4" name="Text 2"/>
          <p:cNvSpPr/>
          <p:nvPr/>
        </p:nvSpPr>
        <p:spPr>
          <a:xfrm>
            <a:off x="822960" y="2103120"/>
            <a:ext cx="3657600" cy="548640"/>
          </a:xfrm>
          <a:prstGeom prst="rect">
            <a:avLst/>
          </a:prstGeom>
          <a:noFill/>
          <a:ln/>
        </p:spPr>
        <p:txBody>
          <a:bodyPr wrap="square" lIns="0" tIns="0" rIns="0" bIns="0" rtlCol="0" anchor="ctr"/>
          <a:lstStyle/>
          <a:p>
            <a:pPr indent="0" marL="0">
              <a:buNone/>
            </a:pPr>
            <a:r>
              <a:rPr lang="en-US" sz="2400" b="1" dirty="0">
                <a:solidFill>
                  <a:srgbClr val="C9821A"/>
                </a:solidFill>
                <a:latin typeface="Yu Gothic" pitchFamily="34" charset="0"/>
                <a:ea typeface="Yu Gothic" pitchFamily="34" charset="-122"/>
                <a:cs typeface="Yu Gothic" pitchFamily="34" charset="-120"/>
              </a:rPr>
              <a:t>第1部</a:t>
            </a:r>
            <a:endParaRPr lang="en-US" sz="2400" dirty="0"/>
          </a:p>
        </p:txBody>
      </p:sp>
      <p:sp>
        <p:nvSpPr>
          <p:cNvPr id="5" name="Text 3"/>
          <p:cNvSpPr/>
          <p:nvPr/>
        </p:nvSpPr>
        <p:spPr>
          <a:xfrm>
            <a:off x="822960" y="2697480"/>
            <a:ext cx="10607040" cy="822960"/>
          </a:xfrm>
          <a:prstGeom prst="rect">
            <a:avLst/>
          </a:prstGeom>
          <a:noFill/>
          <a:ln/>
        </p:spPr>
        <p:txBody>
          <a:bodyPr wrap="square" lIns="0" tIns="0" rIns="0" bIns="0" rtlCol="0" anchor="ctr"/>
          <a:lstStyle/>
          <a:p>
            <a:pPr indent="0" marL="0">
              <a:buNone/>
            </a:pPr>
            <a:r>
              <a:rPr lang="en-US" sz="3800" b="1" dirty="0">
                <a:solidFill>
                  <a:srgbClr val="2E7D6B"/>
                </a:solidFill>
                <a:latin typeface="Yu Gothic" pitchFamily="34" charset="0"/>
                <a:ea typeface="Yu Gothic" pitchFamily="34" charset="-122"/>
                <a:cs typeface="Yu Gothic" pitchFamily="34" charset="-120"/>
              </a:rPr>
              <a:t>律速点は人の判断へ</a:t>
            </a:r>
            <a:endParaRPr lang="en-US" sz="3800" dirty="0"/>
          </a:p>
        </p:txBody>
      </p:sp>
      <p:sp>
        <p:nvSpPr>
          <p:cNvPr id="6" name="Text 4"/>
          <p:cNvSpPr/>
          <p:nvPr/>
        </p:nvSpPr>
        <p:spPr>
          <a:xfrm>
            <a:off x="822960" y="3657600"/>
            <a:ext cx="10607040" cy="457200"/>
          </a:xfrm>
          <a:prstGeom prst="rect">
            <a:avLst/>
          </a:prstGeom>
          <a:noFill/>
          <a:ln/>
        </p:spPr>
        <p:txBody>
          <a:bodyPr wrap="square" lIns="0" tIns="0" rIns="0" bIns="0" rtlCol="0" anchor="ctr"/>
          <a:lstStyle/>
          <a:p>
            <a:pPr indent="0" marL="0">
              <a:buNone/>
            </a:pPr>
            <a:r>
              <a:rPr lang="en-US" sz="1800" dirty="0">
                <a:solidFill>
                  <a:srgbClr val="5E6E6A"/>
                </a:solidFill>
                <a:latin typeface="Yu Gothic" pitchFamily="34" charset="0"/>
                <a:ea typeface="Yu Gothic" pitchFamily="34" charset="-122"/>
                <a:cs typeface="Yu Gothic" pitchFamily="34" charset="-120"/>
              </a:rPr>
              <a:t>速くなったのは「見つける」まで。遅いのは「決める」</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2E7D6B"/>
          </a:solidFill>
          <a:ln/>
        </p:spPr>
      </p:sp>
      <p:sp>
        <p:nvSpPr>
          <p:cNvPr id="3" name="Text 1"/>
          <p:cNvSpPr/>
          <p:nvPr/>
        </p:nvSpPr>
        <p:spPr>
          <a:xfrm>
            <a:off x="640080" y="292608"/>
            <a:ext cx="7772400" cy="274320"/>
          </a:xfrm>
          <a:prstGeom prst="rect">
            <a:avLst/>
          </a:prstGeom>
          <a:noFill/>
          <a:ln/>
        </p:spPr>
        <p:txBody>
          <a:bodyPr wrap="square" lIns="0" tIns="0" rIns="0" bIns="0" rtlCol="0" anchor="ctr"/>
          <a:lstStyle/>
          <a:p>
            <a:pPr indent="0" marL="0">
              <a:buNone/>
            </a:pPr>
            <a:r>
              <a:rPr lang="en-US" sz="1200" b="1" dirty="0">
                <a:solidFill>
                  <a:srgbClr val="2E7D6B"/>
                </a:solidFill>
                <a:latin typeface="Yu Gothic" pitchFamily="34" charset="0"/>
                <a:ea typeface="Yu Gothic" pitchFamily="34" charset="-122"/>
                <a:cs typeface="Yu Gothic" pitchFamily="34" charset="-120"/>
              </a:rPr>
              <a:t>第1部　律速点は人の判断へ</a:t>
            </a:r>
            <a:endParaRPr lang="en-US" sz="1200" dirty="0"/>
          </a:p>
        </p:txBody>
      </p:sp>
      <p:sp>
        <p:nvSpPr>
          <p:cNvPr id="4" name="Text 2"/>
          <p:cNvSpPr/>
          <p:nvPr/>
        </p:nvSpPr>
        <p:spPr>
          <a:xfrm>
            <a:off x="640080" y="621792"/>
            <a:ext cx="10911535" cy="685800"/>
          </a:xfrm>
          <a:prstGeom prst="rect">
            <a:avLst/>
          </a:prstGeom>
          <a:noFill/>
          <a:ln/>
        </p:spPr>
        <p:txBody>
          <a:bodyPr wrap="square" lIns="0" tIns="0" rIns="0" bIns="0" rtlCol="0" anchor="t"/>
          <a:lstStyle/>
          <a:p>
            <a:pPr indent="0" marL="0">
              <a:buNone/>
            </a:pPr>
            <a:r>
              <a:rPr lang="en-US" sz="2600" b="1" dirty="0">
                <a:solidFill>
                  <a:srgbClr val="16211F"/>
                </a:solidFill>
                <a:latin typeface="Yu Gothic" pitchFamily="34" charset="0"/>
                <a:ea typeface="Yu Gothic" pitchFamily="34" charset="-122"/>
                <a:cs typeface="Yu Gothic" pitchFamily="34" charset="-120"/>
              </a:rPr>
              <a:t>見つけるのはAIで速くなりました。詰まるのはその先です</a:t>
            </a:r>
            <a:endParaRPr lang="en-US" sz="2600" dirty="0"/>
          </a:p>
        </p:txBody>
      </p:sp>
      <p:sp>
        <p:nvSpPr>
          <p:cNvPr id="5" name="Text 3"/>
          <p:cNvSpPr/>
          <p:nvPr/>
        </p:nvSpPr>
        <p:spPr>
          <a:xfrm>
            <a:off x="10180015" y="6446520"/>
            <a:ext cx="1371600" cy="228600"/>
          </a:xfrm>
          <a:prstGeom prst="rect">
            <a:avLst/>
          </a:prstGeom>
          <a:noFill/>
          <a:ln/>
        </p:spPr>
        <p:txBody>
          <a:bodyPr wrap="square" lIns="0" tIns="0" rIns="0" bIns="0" rtlCol="0" anchor="ctr"/>
          <a:lstStyle/>
          <a:p>
            <a:pPr algn="r" indent="0" marL="0">
              <a:buNone/>
            </a:pPr>
            <a:r>
              <a:rPr lang="en-US" sz="900" dirty="0">
                <a:solidFill>
                  <a:srgbClr val="5E6E6A"/>
                </a:solidFill>
                <a:latin typeface="Yu Gothic" pitchFamily="34" charset="0"/>
                <a:ea typeface="Yu Gothic" pitchFamily="34" charset="-122"/>
                <a:cs typeface="Yu Gothic" pitchFamily="34" charset="-120"/>
              </a:rPr>
              <a:t>5 / 23</a:t>
            </a:r>
            <a:endParaRPr lang="en-US" sz="900" dirty="0"/>
          </a:p>
        </p:txBody>
      </p:sp>
      <p:sp>
        <p:nvSpPr>
          <p:cNvPr id="6" name="Text 4"/>
          <p:cNvSpPr/>
          <p:nvPr/>
        </p:nvSpPr>
        <p:spPr>
          <a:xfrm>
            <a:off x="640080" y="6446520"/>
            <a:ext cx="6400800" cy="228600"/>
          </a:xfrm>
          <a:prstGeom prst="rect">
            <a:avLst/>
          </a:prstGeom>
          <a:noFill/>
          <a:ln/>
        </p:spPr>
        <p:txBody>
          <a:bodyPr wrap="square" lIns="0" tIns="0" rIns="0" bIns="0" rtlCol="0" anchor="ctr"/>
          <a:lstStyle/>
          <a:p>
            <a:pPr indent="0" marL="0">
              <a:buNone/>
            </a:pPr>
            <a:r>
              <a:rPr lang="en-US" sz="900" dirty="0">
                <a:solidFill>
                  <a:srgbClr val="9FB2AD"/>
                </a:solidFill>
                <a:latin typeface="Yu Gothic" pitchFamily="34" charset="0"/>
                <a:ea typeface="Yu Gothic" pitchFamily="34" charset="-122"/>
                <a:cs typeface="Yu Gothic" pitchFamily="34" charset="-120"/>
              </a:rPr>
              <a:t>Security Days Fall 2026 Fukuoka　FB-05　小出 洋（九州大学）</a:t>
            </a:r>
            <a:endParaRPr lang="en-US" sz="900" dirty="0"/>
          </a:p>
        </p:txBody>
      </p:sp>
      <p:sp>
        <p:nvSpPr>
          <p:cNvPr id="7" name="Shape 5"/>
          <p:cNvSpPr/>
          <p:nvPr/>
        </p:nvSpPr>
        <p:spPr>
          <a:xfrm>
            <a:off x="640080" y="1508760"/>
            <a:ext cx="3332378" cy="1417320"/>
          </a:xfrm>
          <a:prstGeom prst="roundRect">
            <a:avLst>
              <a:gd name="adj" fmla="val 3226"/>
            </a:avLst>
          </a:prstGeom>
          <a:solidFill>
            <a:srgbClr val="EDF3F1"/>
          </a:solidFill>
          <a:ln/>
        </p:spPr>
      </p:sp>
      <p:sp>
        <p:nvSpPr>
          <p:cNvPr id="8" name="Text 6"/>
          <p:cNvSpPr/>
          <p:nvPr/>
        </p:nvSpPr>
        <p:spPr>
          <a:xfrm>
            <a:off x="822960" y="1673352"/>
            <a:ext cx="2966618" cy="365760"/>
          </a:xfrm>
          <a:prstGeom prst="rect">
            <a:avLst/>
          </a:prstGeom>
          <a:noFill/>
          <a:ln/>
        </p:spPr>
        <p:txBody>
          <a:bodyPr wrap="square" lIns="0" tIns="0" rIns="0" bIns="0" rtlCol="0" anchor="ctr"/>
          <a:lstStyle/>
          <a:p>
            <a:pPr algn="ctr" indent="0" marL="0">
              <a:buNone/>
            </a:pPr>
            <a:r>
              <a:rPr lang="en-US" sz="1700" b="1" dirty="0">
                <a:solidFill>
                  <a:srgbClr val="16211F"/>
                </a:solidFill>
                <a:latin typeface="Yu Gothic" pitchFamily="34" charset="0"/>
                <a:ea typeface="Yu Gothic" pitchFamily="34" charset="-122"/>
                <a:cs typeface="Yu Gothic" pitchFamily="34" charset="-120"/>
              </a:rPr>
              <a:t>AI・攻撃</a:t>
            </a:r>
            <a:endParaRPr lang="en-US" sz="1700" dirty="0"/>
          </a:p>
        </p:txBody>
      </p:sp>
      <p:sp>
        <p:nvSpPr>
          <p:cNvPr id="9" name="Text 7"/>
          <p:cNvSpPr/>
          <p:nvPr/>
        </p:nvSpPr>
        <p:spPr>
          <a:xfrm>
            <a:off x="822960" y="2075688"/>
            <a:ext cx="2966618" cy="731520"/>
          </a:xfrm>
          <a:prstGeom prst="rect">
            <a:avLst/>
          </a:prstGeom>
          <a:noFill/>
          <a:ln/>
        </p:spPr>
        <p:txBody>
          <a:bodyPr wrap="square" lIns="0" tIns="0" rIns="0" bIns="0" rtlCol="0" anchor="t"/>
          <a:lstStyle/>
          <a:p>
            <a:pPr algn="ctr" indent="0" marL="0">
              <a:buNone/>
            </a:pPr>
            <a:r>
              <a:rPr lang="en-US" sz="1400" dirty="0">
                <a:solidFill>
                  <a:srgbClr val="16211F"/>
                </a:solidFill>
                <a:latin typeface="Yu Gothic" pitchFamily="34" charset="0"/>
                <a:ea typeface="Yu Gothic" pitchFamily="34" charset="-122"/>
                <a:cs typeface="Yu Gothic" pitchFamily="34" charset="-120"/>
              </a:rPr>
              <a:t>脆弱性の候補、攻撃コード、</a:t>
            </a:r>
            <a:endParaRPr lang="en-US" sz="1400" dirty="0"/>
          </a:p>
          <a:p>
            <a:pPr algn="ctr" indent="0" marL="0">
              <a:buNone/>
            </a:pPr>
            <a:r>
              <a:rPr lang="en-US" sz="1400" dirty="0">
                <a:solidFill>
                  <a:srgbClr val="16211F"/>
                </a:solidFill>
                <a:latin typeface="Yu Gothic" pitchFamily="34" charset="0"/>
                <a:ea typeface="Yu Gothic" pitchFamily="34" charset="-122"/>
                <a:cs typeface="Yu Gothic" pitchFamily="34" charset="-120"/>
              </a:rPr>
              <a:t>アラートが大量に、速く届く</a:t>
            </a:r>
            <a:endParaRPr lang="en-US" sz="1400" dirty="0"/>
          </a:p>
        </p:txBody>
      </p:sp>
      <p:sp>
        <p:nvSpPr>
          <p:cNvPr id="10" name="Shape 8"/>
          <p:cNvSpPr/>
          <p:nvPr/>
        </p:nvSpPr>
        <p:spPr>
          <a:xfrm>
            <a:off x="4045610" y="2052828"/>
            <a:ext cx="310896" cy="329184"/>
          </a:xfrm>
          <a:prstGeom prst="rightArrow">
            <a:avLst/>
          </a:prstGeom>
          <a:solidFill>
            <a:srgbClr val="C9D5D1"/>
          </a:solidFill>
          <a:ln/>
        </p:spPr>
      </p:sp>
      <p:sp>
        <p:nvSpPr>
          <p:cNvPr id="11" name="Shape 9"/>
          <p:cNvSpPr/>
          <p:nvPr/>
        </p:nvSpPr>
        <p:spPr>
          <a:xfrm>
            <a:off x="4429658" y="1508760"/>
            <a:ext cx="3332378" cy="1417320"/>
          </a:xfrm>
          <a:prstGeom prst="roundRect">
            <a:avLst>
              <a:gd name="adj" fmla="val 3226"/>
            </a:avLst>
          </a:prstGeom>
          <a:solidFill>
            <a:srgbClr val="EDF3F1"/>
          </a:solidFill>
          <a:ln/>
        </p:spPr>
      </p:sp>
      <p:sp>
        <p:nvSpPr>
          <p:cNvPr id="12" name="Text 10"/>
          <p:cNvSpPr/>
          <p:nvPr/>
        </p:nvSpPr>
        <p:spPr>
          <a:xfrm>
            <a:off x="4612538" y="1673352"/>
            <a:ext cx="2966618" cy="365760"/>
          </a:xfrm>
          <a:prstGeom prst="rect">
            <a:avLst/>
          </a:prstGeom>
          <a:noFill/>
          <a:ln/>
        </p:spPr>
        <p:txBody>
          <a:bodyPr wrap="square" lIns="0" tIns="0" rIns="0" bIns="0" rtlCol="0" anchor="ctr"/>
          <a:lstStyle/>
          <a:p>
            <a:pPr algn="ctr" indent="0" marL="0">
              <a:buNone/>
            </a:pPr>
            <a:r>
              <a:rPr lang="en-US" sz="1700" b="1" dirty="0">
                <a:solidFill>
                  <a:srgbClr val="16211F"/>
                </a:solidFill>
                <a:latin typeface="Yu Gothic" pitchFamily="34" charset="0"/>
                <a:ea typeface="Yu Gothic" pitchFamily="34" charset="-122"/>
                <a:cs typeface="Yu Gothic" pitchFamily="34" charset="-120"/>
              </a:rPr>
              <a:t>不確実な候補</a:t>
            </a:r>
            <a:endParaRPr lang="en-US" sz="1700" dirty="0"/>
          </a:p>
        </p:txBody>
      </p:sp>
      <p:sp>
        <p:nvSpPr>
          <p:cNvPr id="13" name="Text 11"/>
          <p:cNvSpPr/>
          <p:nvPr/>
        </p:nvSpPr>
        <p:spPr>
          <a:xfrm>
            <a:off x="4612538" y="2075688"/>
            <a:ext cx="2966618" cy="731520"/>
          </a:xfrm>
          <a:prstGeom prst="rect">
            <a:avLst/>
          </a:prstGeom>
          <a:noFill/>
          <a:ln/>
        </p:spPr>
        <p:txBody>
          <a:bodyPr wrap="square" lIns="0" tIns="0" rIns="0" bIns="0" rtlCol="0" anchor="t"/>
          <a:lstStyle/>
          <a:p>
            <a:pPr algn="ctr" indent="0" marL="0">
              <a:buNone/>
            </a:pPr>
            <a:r>
              <a:rPr lang="en-US" sz="1400" dirty="0">
                <a:solidFill>
                  <a:srgbClr val="16211F"/>
                </a:solidFill>
                <a:latin typeface="Yu Gothic" pitchFamily="34" charset="0"/>
                <a:ea typeface="Yu Gothic" pitchFamily="34" charset="-122"/>
                <a:cs typeface="Yu Gothic" pitchFamily="34" charset="-120"/>
              </a:rPr>
              <a:t>本物か、自社に届くのか、</a:t>
            </a:r>
            <a:endParaRPr lang="en-US" sz="1400" dirty="0"/>
          </a:p>
          <a:p>
            <a:pPr algn="ctr" indent="0" marL="0">
              <a:buNone/>
            </a:pPr>
            <a:r>
              <a:rPr lang="en-US" sz="1400" dirty="0">
                <a:solidFill>
                  <a:srgbClr val="16211F"/>
                </a:solidFill>
                <a:latin typeface="Yu Gothic" pitchFamily="34" charset="0"/>
                <a:ea typeface="Yu Gothic" pitchFamily="34" charset="-122"/>
                <a:cs typeface="Yu Gothic" pitchFamily="34" charset="-120"/>
              </a:rPr>
              <a:t>影響はどこまでか未確定</a:t>
            </a:r>
            <a:endParaRPr lang="en-US" sz="1400" dirty="0"/>
          </a:p>
        </p:txBody>
      </p:sp>
      <p:sp>
        <p:nvSpPr>
          <p:cNvPr id="14" name="Shape 12"/>
          <p:cNvSpPr/>
          <p:nvPr/>
        </p:nvSpPr>
        <p:spPr>
          <a:xfrm>
            <a:off x="7835189" y="2052828"/>
            <a:ext cx="310896" cy="329184"/>
          </a:xfrm>
          <a:prstGeom prst="rightArrow">
            <a:avLst/>
          </a:prstGeom>
          <a:solidFill>
            <a:srgbClr val="C9D5D1"/>
          </a:solidFill>
          <a:ln/>
        </p:spPr>
      </p:sp>
      <p:sp>
        <p:nvSpPr>
          <p:cNvPr id="15" name="Shape 13"/>
          <p:cNvSpPr/>
          <p:nvPr/>
        </p:nvSpPr>
        <p:spPr>
          <a:xfrm>
            <a:off x="8219237" y="1508760"/>
            <a:ext cx="3332378" cy="1417320"/>
          </a:xfrm>
          <a:prstGeom prst="roundRect">
            <a:avLst>
              <a:gd name="adj" fmla="val 3226"/>
            </a:avLst>
          </a:prstGeom>
          <a:solidFill>
            <a:srgbClr val="2E7D6B"/>
          </a:solidFill>
          <a:ln/>
        </p:spPr>
      </p:sp>
      <p:sp>
        <p:nvSpPr>
          <p:cNvPr id="16" name="Text 14"/>
          <p:cNvSpPr/>
          <p:nvPr/>
        </p:nvSpPr>
        <p:spPr>
          <a:xfrm>
            <a:off x="8402117" y="1673352"/>
            <a:ext cx="2966618" cy="365760"/>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人の判断と説明</a:t>
            </a:r>
            <a:endParaRPr lang="en-US" sz="1700" dirty="0"/>
          </a:p>
        </p:txBody>
      </p:sp>
      <p:sp>
        <p:nvSpPr>
          <p:cNvPr id="17" name="Text 15"/>
          <p:cNvSpPr/>
          <p:nvPr/>
        </p:nvSpPr>
        <p:spPr>
          <a:xfrm>
            <a:off x="8402117" y="2075688"/>
            <a:ext cx="2966618" cy="731520"/>
          </a:xfrm>
          <a:prstGeom prst="rect">
            <a:avLst/>
          </a:prstGeom>
          <a:noFill/>
          <a:ln/>
        </p:spPr>
        <p:txBody>
          <a:bodyPr wrap="square" lIns="0" tIns="0" rIns="0" bIns="0" rtlCol="0" anchor="t"/>
          <a:lstStyle/>
          <a:p>
            <a:pPr algn="ctr" indent="0" marL="0">
              <a:buNone/>
            </a:pPr>
            <a:r>
              <a:rPr lang="en-US" sz="1400" dirty="0">
                <a:solidFill>
                  <a:srgbClr val="FFFFFF"/>
                </a:solidFill>
                <a:latin typeface="Yu Gothic" pitchFamily="34" charset="0"/>
                <a:ea typeface="Yu Gothic" pitchFamily="34" charset="-122"/>
                <a:cs typeface="Yu Gothic" pitchFamily="34" charset="-120"/>
              </a:rPr>
              <a:t>ここが律速点。</a:t>
            </a:r>
            <a:endParaRPr lang="en-US" sz="1400" dirty="0"/>
          </a:p>
          <a:p>
            <a:pPr algn="ctr" indent="0" marL="0">
              <a:buNone/>
            </a:pPr>
            <a:r>
              <a:rPr lang="en-US" sz="1400" dirty="0">
                <a:solidFill>
                  <a:srgbClr val="FFFFFF"/>
                </a:solidFill>
                <a:latin typeface="Yu Gothic" pitchFamily="34" charset="0"/>
                <a:ea typeface="Yu Gothic" pitchFamily="34" charset="-122"/>
                <a:cs typeface="Yu Gothic" pitchFamily="34" charset="-120"/>
              </a:rPr>
              <a:t>判断に使える時間は短くなった</a:t>
            </a:r>
            <a:endParaRPr lang="en-US" sz="1400" dirty="0"/>
          </a:p>
        </p:txBody>
      </p:sp>
      <p:sp>
        <p:nvSpPr>
          <p:cNvPr id="18" name="Text 16"/>
          <p:cNvSpPr/>
          <p:nvPr/>
        </p:nvSpPr>
        <p:spPr>
          <a:xfrm>
            <a:off x="640080" y="3200400"/>
            <a:ext cx="10911535" cy="274320"/>
          </a:xfrm>
          <a:prstGeom prst="rect">
            <a:avLst/>
          </a:prstGeom>
          <a:noFill/>
          <a:ln/>
        </p:spPr>
        <p:txBody>
          <a:bodyPr wrap="square" lIns="0" tIns="0" rIns="0" bIns="0" rtlCol="0" anchor="ctr"/>
          <a:lstStyle/>
          <a:p>
            <a:pPr indent="0" marL="0">
              <a:buNone/>
            </a:pPr>
            <a:r>
              <a:rPr lang="en-US" sz="1200" b="1" dirty="0">
                <a:solidFill>
                  <a:srgbClr val="5E6E6A"/>
                </a:solidFill>
                <a:latin typeface="Yu Gothic" pitchFamily="34" charset="0"/>
                <a:ea typeface="Yu Gothic" pitchFamily="34" charset="-122"/>
                <a:cs typeface="Yu Gothic" pitchFamily="34" charset="-120"/>
              </a:rPr>
              <a:t>人と組織がこなすべき一連の処理（個々のAIツールの性能だけでは片づかない）</a:t>
            </a:r>
            <a:endParaRPr lang="en-US" sz="1200" dirty="0"/>
          </a:p>
        </p:txBody>
      </p:sp>
      <p:sp>
        <p:nvSpPr>
          <p:cNvPr id="19" name="Shape 17"/>
          <p:cNvSpPr/>
          <p:nvPr/>
        </p:nvSpPr>
        <p:spPr>
          <a:xfrm>
            <a:off x="640080" y="3566160"/>
            <a:ext cx="3515258" cy="457200"/>
          </a:xfrm>
          <a:prstGeom prst="roundRect">
            <a:avLst>
              <a:gd name="adj" fmla="val 10000"/>
            </a:avLst>
          </a:prstGeom>
          <a:solidFill>
            <a:srgbClr val="F4F7F6"/>
          </a:solidFill>
          <a:ln w="9525">
            <a:solidFill>
              <a:srgbClr val="C9D5D1"/>
            </a:solidFill>
            <a:prstDash val="solid"/>
          </a:ln>
        </p:spPr>
      </p:sp>
      <p:sp>
        <p:nvSpPr>
          <p:cNvPr id="20" name="Text 18"/>
          <p:cNvSpPr/>
          <p:nvPr/>
        </p:nvSpPr>
        <p:spPr>
          <a:xfrm>
            <a:off x="640080" y="3566160"/>
            <a:ext cx="3515258" cy="457200"/>
          </a:xfrm>
          <a:prstGeom prst="rect">
            <a:avLst/>
          </a:prstGeom>
          <a:noFill/>
          <a:ln/>
        </p:spPr>
        <p:txBody>
          <a:bodyPr wrap="square" lIns="0" tIns="0" rIns="0" bIns="0" rtlCol="0" anchor="ctr"/>
          <a:lstStyle/>
          <a:p>
            <a:pPr algn="ctr" indent="0" marL="0">
              <a:buNone/>
            </a:pPr>
            <a:r>
              <a:rPr lang="en-US" sz="1400" dirty="0">
                <a:solidFill>
                  <a:srgbClr val="16211F"/>
                </a:solidFill>
                <a:latin typeface="Yu Gothic" pitchFamily="34" charset="0"/>
                <a:ea typeface="Yu Gothic" pitchFamily="34" charset="-122"/>
                <a:cs typeface="Yu Gothic" pitchFamily="34" charset="-120"/>
              </a:rPr>
              <a:t>重複を除く</a:t>
            </a:r>
            <a:endParaRPr lang="en-US" sz="1400" dirty="0"/>
          </a:p>
        </p:txBody>
      </p:sp>
      <p:sp>
        <p:nvSpPr>
          <p:cNvPr id="21" name="Shape 19"/>
          <p:cNvSpPr/>
          <p:nvPr/>
        </p:nvSpPr>
        <p:spPr>
          <a:xfrm>
            <a:off x="4338218" y="3566160"/>
            <a:ext cx="3515258" cy="457200"/>
          </a:xfrm>
          <a:prstGeom prst="roundRect">
            <a:avLst>
              <a:gd name="adj" fmla="val 10000"/>
            </a:avLst>
          </a:prstGeom>
          <a:solidFill>
            <a:srgbClr val="F4F7F6"/>
          </a:solidFill>
          <a:ln w="9525">
            <a:solidFill>
              <a:srgbClr val="C9D5D1"/>
            </a:solidFill>
            <a:prstDash val="solid"/>
          </a:ln>
        </p:spPr>
      </p:sp>
      <p:sp>
        <p:nvSpPr>
          <p:cNvPr id="22" name="Text 20"/>
          <p:cNvSpPr/>
          <p:nvPr/>
        </p:nvSpPr>
        <p:spPr>
          <a:xfrm>
            <a:off x="4338218" y="3566160"/>
            <a:ext cx="3515258" cy="457200"/>
          </a:xfrm>
          <a:prstGeom prst="rect">
            <a:avLst/>
          </a:prstGeom>
          <a:noFill/>
          <a:ln/>
        </p:spPr>
        <p:txBody>
          <a:bodyPr wrap="square" lIns="0" tIns="0" rIns="0" bIns="0" rtlCol="0" anchor="ctr"/>
          <a:lstStyle/>
          <a:p>
            <a:pPr algn="ctr" indent="0" marL="0">
              <a:buNone/>
            </a:pPr>
            <a:r>
              <a:rPr lang="en-US" sz="1400" dirty="0">
                <a:solidFill>
                  <a:srgbClr val="16211F"/>
                </a:solidFill>
                <a:latin typeface="Yu Gothic" pitchFamily="34" charset="0"/>
                <a:ea typeface="Yu Gothic" pitchFamily="34" charset="-122"/>
                <a:cs typeface="Yu Gothic" pitchFamily="34" charset="-120"/>
              </a:rPr>
              <a:t>真偽を確かめる</a:t>
            </a:r>
            <a:endParaRPr lang="en-US" sz="1400" dirty="0"/>
          </a:p>
        </p:txBody>
      </p:sp>
      <p:sp>
        <p:nvSpPr>
          <p:cNvPr id="23" name="Shape 21"/>
          <p:cNvSpPr/>
          <p:nvPr/>
        </p:nvSpPr>
        <p:spPr>
          <a:xfrm>
            <a:off x="8036357" y="3566160"/>
            <a:ext cx="3515258" cy="457200"/>
          </a:xfrm>
          <a:prstGeom prst="roundRect">
            <a:avLst>
              <a:gd name="adj" fmla="val 10000"/>
            </a:avLst>
          </a:prstGeom>
          <a:solidFill>
            <a:srgbClr val="F4F7F6"/>
          </a:solidFill>
          <a:ln w="9525">
            <a:solidFill>
              <a:srgbClr val="C9D5D1"/>
            </a:solidFill>
            <a:prstDash val="solid"/>
          </a:ln>
        </p:spPr>
      </p:sp>
      <p:sp>
        <p:nvSpPr>
          <p:cNvPr id="24" name="Text 22"/>
          <p:cNvSpPr/>
          <p:nvPr/>
        </p:nvSpPr>
        <p:spPr>
          <a:xfrm>
            <a:off x="8036357" y="3566160"/>
            <a:ext cx="3515258" cy="457200"/>
          </a:xfrm>
          <a:prstGeom prst="rect">
            <a:avLst/>
          </a:prstGeom>
          <a:noFill/>
          <a:ln/>
        </p:spPr>
        <p:txBody>
          <a:bodyPr wrap="square" lIns="0" tIns="0" rIns="0" bIns="0" rtlCol="0" anchor="ctr"/>
          <a:lstStyle/>
          <a:p>
            <a:pPr algn="ctr" indent="0" marL="0">
              <a:buNone/>
            </a:pPr>
            <a:r>
              <a:rPr lang="en-US" sz="1400" dirty="0">
                <a:solidFill>
                  <a:srgbClr val="16211F"/>
                </a:solidFill>
                <a:latin typeface="Yu Gothic" pitchFamily="34" charset="0"/>
                <a:ea typeface="Yu Gothic" pitchFamily="34" charset="-122"/>
                <a:cs typeface="Yu Gothic" pitchFamily="34" charset="-120"/>
              </a:rPr>
              <a:t>自社に届くかを見る</a:t>
            </a:r>
            <a:endParaRPr lang="en-US" sz="1400" dirty="0"/>
          </a:p>
        </p:txBody>
      </p:sp>
      <p:sp>
        <p:nvSpPr>
          <p:cNvPr id="25" name="Shape 23"/>
          <p:cNvSpPr/>
          <p:nvPr/>
        </p:nvSpPr>
        <p:spPr>
          <a:xfrm>
            <a:off x="640080" y="4133088"/>
            <a:ext cx="3515258" cy="457200"/>
          </a:xfrm>
          <a:prstGeom prst="roundRect">
            <a:avLst>
              <a:gd name="adj" fmla="val 10000"/>
            </a:avLst>
          </a:prstGeom>
          <a:solidFill>
            <a:srgbClr val="F4F7F6"/>
          </a:solidFill>
          <a:ln w="9525">
            <a:solidFill>
              <a:srgbClr val="C9D5D1"/>
            </a:solidFill>
            <a:prstDash val="solid"/>
          </a:ln>
        </p:spPr>
      </p:sp>
      <p:sp>
        <p:nvSpPr>
          <p:cNvPr id="26" name="Text 24"/>
          <p:cNvSpPr/>
          <p:nvPr/>
        </p:nvSpPr>
        <p:spPr>
          <a:xfrm>
            <a:off x="640080" y="4133088"/>
            <a:ext cx="3515258" cy="457200"/>
          </a:xfrm>
          <a:prstGeom prst="rect">
            <a:avLst/>
          </a:prstGeom>
          <a:noFill/>
          <a:ln/>
        </p:spPr>
        <p:txBody>
          <a:bodyPr wrap="square" lIns="0" tIns="0" rIns="0" bIns="0" rtlCol="0" anchor="ctr"/>
          <a:lstStyle/>
          <a:p>
            <a:pPr algn="ctr" indent="0" marL="0">
              <a:buNone/>
            </a:pPr>
            <a:r>
              <a:rPr lang="en-US" sz="1400" dirty="0">
                <a:solidFill>
                  <a:srgbClr val="16211F"/>
                </a:solidFill>
                <a:latin typeface="Yu Gothic" pitchFamily="34" charset="0"/>
                <a:ea typeface="Yu Gothic" pitchFamily="34" charset="-122"/>
                <a:cs typeface="Yu Gothic" pitchFamily="34" charset="-120"/>
              </a:rPr>
              <a:t>緩和策を選ぶ</a:t>
            </a:r>
            <a:endParaRPr lang="en-US" sz="1400" dirty="0"/>
          </a:p>
        </p:txBody>
      </p:sp>
      <p:sp>
        <p:nvSpPr>
          <p:cNvPr id="27" name="Shape 25"/>
          <p:cNvSpPr/>
          <p:nvPr/>
        </p:nvSpPr>
        <p:spPr>
          <a:xfrm>
            <a:off x="4338218" y="4133088"/>
            <a:ext cx="3515258" cy="457200"/>
          </a:xfrm>
          <a:prstGeom prst="roundRect">
            <a:avLst>
              <a:gd name="adj" fmla="val 10000"/>
            </a:avLst>
          </a:prstGeom>
          <a:solidFill>
            <a:srgbClr val="F4F7F6"/>
          </a:solidFill>
          <a:ln w="9525">
            <a:solidFill>
              <a:srgbClr val="C9D5D1"/>
            </a:solidFill>
            <a:prstDash val="solid"/>
          </a:ln>
        </p:spPr>
      </p:sp>
      <p:sp>
        <p:nvSpPr>
          <p:cNvPr id="28" name="Text 26"/>
          <p:cNvSpPr/>
          <p:nvPr/>
        </p:nvSpPr>
        <p:spPr>
          <a:xfrm>
            <a:off x="4338218" y="4133088"/>
            <a:ext cx="3515258" cy="457200"/>
          </a:xfrm>
          <a:prstGeom prst="rect">
            <a:avLst/>
          </a:prstGeom>
          <a:noFill/>
          <a:ln/>
        </p:spPr>
        <p:txBody>
          <a:bodyPr wrap="square" lIns="0" tIns="0" rIns="0" bIns="0" rtlCol="0" anchor="ctr"/>
          <a:lstStyle/>
          <a:p>
            <a:pPr algn="ctr" indent="0" marL="0">
              <a:buNone/>
            </a:pPr>
            <a:r>
              <a:rPr lang="en-US" sz="1400" dirty="0">
                <a:solidFill>
                  <a:srgbClr val="16211F"/>
                </a:solidFill>
                <a:latin typeface="Yu Gothic" pitchFamily="34" charset="0"/>
                <a:ea typeface="Yu Gothic" pitchFamily="34" charset="-122"/>
                <a:cs typeface="Yu Gothic" pitchFamily="34" charset="-120"/>
              </a:rPr>
              <a:t>止めるか決める</a:t>
            </a:r>
            <a:endParaRPr lang="en-US" sz="1400" dirty="0"/>
          </a:p>
        </p:txBody>
      </p:sp>
      <p:sp>
        <p:nvSpPr>
          <p:cNvPr id="29" name="Shape 27"/>
          <p:cNvSpPr/>
          <p:nvPr/>
        </p:nvSpPr>
        <p:spPr>
          <a:xfrm>
            <a:off x="8036357" y="4133088"/>
            <a:ext cx="3515258" cy="457200"/>
          </a:xfrm>
          <a:prstGeom prst="roundRect">
            <a:avLst>
              <a:gd name="adj" fmla="val 10000"/>
            </a:avLst>
          </a:prstGeom>
          <a:solidFill>
            <a:srgbClr val="F4F7F6"/>
          </a:solidFill>
          <a:ln w="9525">
            <a:solidFill>
              <a:srgbClr val="C9D5D1"/>
            </a:solidFill>
            <a:prstDash val="solid"/>
          </a:ln>
        </p:spPr>
      </p:sp>
      <p:sp>
        <p:nvSpPr>
          <p:cNvPr id="30" name="Text 28"/>
          <p:cNvSpPr/>
          <p:nvPr/>
        </p:nvSpPr>
        <p:spPr>
          <a:xfrm>
            <a:off x="8036357" y="4133088"/>
            <a:ext cx="3515258" cy="457200"/>
          </a:xfrm>
          <a:prstGeom prst="rect">
            <a:avLst/>
          </a:prstGeom>
          <a:noFill/>
          <a:ln/>
        </p:spPr>
        <p:txBody>
          <a:bodyPr wrap="square" lIns="0" tIns="0" rIns="0" bIns="0" rtlCol="0" anchor="ctr"/>
          <a:lstStyle/>
          <a:p>
            <a:pPr algn="ctr" indent="0" marL="0">
              <a:buNone/>
            </a:pPr>
            <a:r>
              <a:rPr lang="en-US" sz="1400" dirty="0">
                <a:solidFill>
                  <a:srgbClr val="16211F"/>
                </a:solidFill>
                <a:latin typeface="Yu Gothic" pitchFamily="34" charset="0"/>
                <a:ea typeface="Yu Gothic" pitchFamily="34" charset="-122"/>
                <a:cs typeface="Yu Gothic" pitchFamily="34" charset="-120"/>
              </a:rPr>
              <a:t>誰に何を説明するか</a:t>
            </a:r>
            <a:endParaRPr lang="en-US" sz="1400" dirty="0"/>
          </a:p>
        </p:txBody>
      </p:sp>
      <p:sp>
        <p:nvSpPr>
          <p:cNvPr id="31" name="Shape 29"/>
          <p:cNvSpPr/>
          <p:nvPr/>
        </p:nvSpPr>
        <p:spPr>
          <a:xfrm>
            <a:off x="640080" y="5074920"/>
            <a:ext cx="10911535" cy="658368"/>
          </a:xfrm>
          <a:prstGeom prst="rect">
            <a:avLst/>
          </a:prstGeom>
          <a:solidFill>
            <a:srgbClr val="F6EBD8"/>
          </a:solidFill>
          <a:ln/>
        </p:spPr>
      </p:sp>
      <p:sp>
        <p:nvSpPr>
          <p:cNvPr id="32" name="Shape 30"/>
          <p:cNvSpPr/>
          <p:nvPr/>
        </p:nvSpPr>
        <p:spPr>
          <a:xfrm>
            <a:off x="640080" y="5074920"/>
            <a:ext cx="73152" cy="658368"/>
          </a:xfrm>
          <a:prstGeom prst="rect">
            <a:avLst/>
          </a:prstGeom>
          <a:solidFill>
            <a:srgbClr val="C9821A"/>
          </a:solidFill>
          <a:ln/>
        </p:spPr>
      </p:sp>
      <p:sp>
        <p:nvSpPr>
          <p:cNvPr id="33" name="Text 31"/>
          <p:cNvSpPr/>
          <p:nvPr/>
        </p:nvSpPr>
        <p:spPr>
          <a:xfrm>
            <a:off x="914400" y="5148072"/>
            <a:ext cx="10454335" cy="512064"/>
          </a:xfrm>
          <a:prstGeom prst="rect">
            <a:avLst/>
          </a:prstGeom>
          <a:noFill/>
          <a:ln/>
        </p:spPr>
        <p:txBody>
          <a:bodyPr wrap="square" lIns="0" tIns="0" rIns="0" bIns="0" rtlCol="0" anchor="ctr"/>
          <a:lstStyle/>
          <a:p>
            <a:pPr indent="0" marL="0">
              <a:buNone/>
            </a:pPr>
            <a:r>
              <a:rPr lang="en-US" sz="1400" b="1" dirty="0">
                <a:solidFill>
                  <a:srgbClr val="16211F"/>
                </a:solidFill>
                <a:latin typeface="Yu Gothic" pitchFamily="34" charset="0"/>
                <a:ea typeface="Yu Gothic" pitchFamily="34" charset="-122"/>
                <a:cs typeface="Yu Gothic" pitchFamily="34" charset="-120"/>
              </a:rPr>
              <a:t>AIの性能が上がると、防御は楽になるのではなく、「見つけた後の判断と説明」が重くなります。</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2E7D6B"/>
          </a:solidFill>
          <a:ln/>
        </p:spPr>
      </p:sp>
      <p:sp>
        <p:nvSpPr>
          <p:cNvPr id="3" name="Text 1"/>
          <p:cNvSpPr/>
          <p:nvPr/>
        </p:nvSpPr>
        <p:spPr>
          <a:xfrm>
            <a:off x="640080" y="292608"/>
            <a:ext cx="7772400" cy="274320"/>
          </a:xfrm>
          <a:prstGeom prst="rect">
            <a:avLst/>
          </a:prstGeom>
          <a:noFill/>
          <a:ln/>
        </p:spPr>
        <p:txBody>
          <a:bodyPr wrap="square" lIns="0" tIns="0" rIns="0" bIns="0" rtlCol="0" anchor="ctr"/>
          <a:lstStyle/>
          <a:p>
            <a:pPr indent="0" marL="0">
              <a:buNone/>
            </a:pPr>
            <a:r>
              <a:rPr lang="en-US" sz="1200" b="1" dirty="0">
                <a:solidFill>
                  <a:srgbClr val="2E7D6B"/>
                </a:solidFill>
                <a:latin typeface="Yu Gothic" pitchFamily="34" charset="0"/>
                <a:ea typeface="Yu Gothic" pitchFamily="34" charset="-122"/>
                <a:cs typeface="Yu Gothic" pitchFamily="34" charset="-120"/>
              </a:rPr>
              <a:t>第1部　律速点は人の判断へ</a:t>
            </a:r>
            <a:endParaRPr lang="en-US" sz="1200" dirty="0"/>
          </a:p>
        </p:txBody>
      </p:sp>
      <p:sp>
        <p:nvSpPr>
          <p:cNvPr id="4" name="Text 2"/>
          <p:cNvSpPr/>
          <p:nvPr/>
        </p:nvSpPr>
        <p:spPr>
          <a:xfrm>
            <a:off x="640080" y="621792"/>
            <a:ext cx="10911535" cy="685800"/>
          </a:xfrm>
          <a:prstGeom prst="rect">
            <a:avLst/>
          </a:prstGeom>
          <a:noFill/>
          <a:ln/>
        </p:spPr>
        <p:txBody>
          <a:bodyPr wrap="square" lIns="0" tIns="0" rIns="0" bIns="0" rtlCol="0" anchor="t"/>
          <a:lstStyle/>
          <a:p>
            <a:pPr indent="0" marL="0">
              <a:buNone/>
            </a:pPr>
            <a:r>
              <a:rPr lang="en-US" sz="2600" b="1" dirty="0">
                <a:solidFill>
                  <a:srgbClr val="16211F"/>
                </a:solidFill>
                <a:latin typeface="Yu Gothic" pitchFamily="34" charset="0"/>
                <a:ea typeface="Yu Gothic" pitchFamily="34" charset="-122"/>
                <a:cs typeface="Yu Gothic" pitchFamily="34" charset="-120"/>
              </a:rPr>
              <a:t>組織の命運を分ける判断は、いまも人にあります</a:t>
            </a:r>
            <a:endParaRPr lang="en-US" sz="2600" dirty="0"/>
          </a:p>
        </p:txBody>
      </p:sp>
      <p:sp>
        <p:nvSpPr>
          <p:cNvPr id="5" name="Text 3"/>
          <p:cNvSpPr/>
          <p:nvPr/>
        </p:nvSpPr>
        <p:spPr>
          <a:xfrm>
            <a:off x="10180015" y="6446520"/>
            <a:ext cx="1371600" cy="228600"/>
          </a:xfrm>
          <a:prstGeom prst="rect">
            <a:avLst/>
          </a:prstGeom>
          <a:noFill/>
          <a:ln/>
        </p:spPr>
        <p:txBody>
          <a:bodyPr wrap="square" lIns="0" tIns="0" rIns="0" bIns="0" rtlCol="0" anchor="ctr"/>
          <a:lstStyle/>
          <a:p>
            <a:pPr algn="r" indent="0" marL="0">
              <a:buNone/>
            </a:pPr>
            <a:r>
              <a:rPr lang="en-US" sz="900" dirty="0">
                <a:solidFill>
                  <a:srgbClr val="5E6E6A"/>
                </a:solidFill>
                <a:latin typeface="Yu Gothic" pitchFamily="34" charset="0"/>
                <a:ea typeface="Yu Gothic" pitchFamily="34" charset="-122"/>
                <a:cs typeface="Yu Gothic" pitchFamily="34" charset="-120"/>
              </a:rPr>
              <a:t>6 / 23</a:t>
            </a:r>
            <a:endParaRPr lang="en-US" sz="900" dirty="0"/>
          </a:p>
        </p:txBody>
      </p:sp>
      <p:sp>
        <p:nvSpPr>
          <p:cNvPr id="6" name="Text 4"/>
          <p:cNvSpPr/>
          <p:nvPr/>
        </p:nvSpPr>
        <p:spPr>
          <a:xfrm>
            <a:off x="640080" y="6446520"/>
            <a:ext cx="6400800" cy="228600"/>
          </a:xfrm>
          <a:prstGeom prst="rect">
            <a:avLst/>
          </a:prstGeom>
          <a:noFill/>
          <a:ln/>
        </p:spPr>
        <p:txBody>
          <a:bodyPr wrap="square" lIns="0" tIns="0" rIns="0" bIns="0" rtlCol="0" anchor="ctr"/>
          <a:lstStyle/>
          <a:p>
            <a:pPr indent="0" marL="0">
              <a:buNone/>
            </a:pPr>
            <a:r>
              <a:rPr lang="en-US" sz="900" dirty="0">
                <a:solidFill>
                  <a:srgbClr val="9FB2AD"/>
                </a:solidFill>
                <a:latin typeface="Yu Gothic" pitchFamily="34" charset="0"/>
                <a:ea typeface="Yu Gothic" pitchFamily="34" charset="-122"/>
                <a:cs typeface="Yu Gothic" pitchFamily="34" charset="-120"/>
              </a:rPr>
              <a:t>Security Days Fall 2026 Fukuoka　FB-05　小出 洋（九州大学）</a:t>
            </a:r>
            <a:endParaRPr lang="en-US" sz="900" dirty="0"/>
          </a:p>
        </p:txBody>
      </p:sp>
      <p:sp>
        <p:nvSpPr>
          <p:cNvPr id="7" name="Shape 5"/>
          <p:cNvSpPr/>
          <p:nvPr/>
        </p:nvSpPr>
        <p:spPr>
          <a:xfrm>
            <a:off x="640080" y="1554480"/>
            <a:ext cx="2021373" cy="3063240"/>
          </a:xfrm>
          <a:prstGeom prst="roundRect">
            <a:avLst>
              <a:gd name="adj" fmla="val 2262"/>
            </a:avLst>
          </a:prstGeom>
          <a:solidFill>
            <a:srgbClr val="EDF3F1"/>
          </a:solidFill>
          <a:ln w="9525">
            <a:solidFill>
              <a:srgbClr val="C9D5D1"/>
            </a:solidFill>
            <a:prstDash val="solid"/>
          </a:ln>
        </p:spPr>
      </p:sp>
      <p:sp>
        <p:nvSpPr>
          <p:cNvPr id="8" name="Text 6"/>
          <p:cNvSpPr/>
          <p:nvPr/>
        </p:nvSpPr>
        <p:spPr>
          <a:xfrm>
            <a:off x="822960" y="1700784"/>
            <a:ext cx="1655613" cy="411480"/>
          </a:xfrm>
          <a:prstGeom prst="rect">
            <a:avLst/>
          </a:prstGeom>
          <a:noFill/>
          <a:ln/>
        </p:spPr>
        <p:txBody>
          <a:bodyPr wrap="square" lIns="0" tIns="0" rIns="0" bIns="0" rtlCol="0" anchor="t"/>
          <a:lstStyle/>
          <a:p>
            <a:pPr indent="0" marL="0">
              <a:buNone/>
            </a:pPr>
            <a:r>
              <a:rPr lang="en-US" sz="1700" b="1" dirty="0">
                <a:solidFill>
                  <a:srgbClr val="2E7D6B"/>
                </a:solidFill>
                <a:latin typeface="Yu Gothic" pitchFamily="34" charset="0"/>
                <a:ea typeface="Yu Gothic" pitchFamily="34" charset="-122"/>
                <a:cs typeface="Yu Gothic" pitchFamily="34" charset="-120"/>
              </a:rPr>
              <a:t>止めるか</a:t>
            </a:r>
            <a:endParaRPr lang="en-US" sz="1700" dirty="0"/>
          </a:p>
        </p:txBody>
      </p:sp>
      <p:sp>
        <p:nvSpPr>
          <p:cNvPr id="9" name="Text 7"/>
          <p:cNvSpPr/>
          <p:nvPr/>
        </p:nvSpPr>
        <p:spPr>
          <a:xfrm>
            <a:off x="822960" y="2203704"/>
            <a:ext cx="1655613" cy="2304288"/>
          </a:xfrm>
          <a:prstGeom prst="rect">
            <a:avLst/>
          </a:prstGeom>
          <a:noFill/>
          <a:ln/>
        </p:spPr>
        <p:txBody>
          <a:bodyPr wrap="square" lIns="0" tIns="0" rIns="0" bIns="0" rtlCol="0" anchor="t"/>
          <a:lstStyle/>
          <a:p>
            <a:pPr indent="0" marL="0">
              <a:lnSpc>
                <a:spcPct val="115000"/>
              </a:lnSpc>
              <a:buNone/>
            </a:pPr>
            <a:r>
              <a:rPr lang="en-US" sz="1300" dirty="0">
                <a:solidFill>
                  <a:srgbClr val="16211F"/>
                </a:solidFill>
                <a:latin typeface="Yu Gothic" pitchFamily="34" charset="0"/>
                <a:ea typeface="Yu Gothic" pitchFamily="34" charset="-122"/>
                <a:cs typeface="Yu Gothic" pitchFamily="34" charset="-120"/>
              </a:rPr>
              <a:t>サービス・リリースを止めるか。どこまで止めるか</a:t>
            </a:r>
            <a:endParaRPr lang="en-US" sz="1300" dirty="0"/>
          </a:p>
        </p:txBody>
      </p:sp>
      <p:sp>
        <p:nvSpPr>
          <p:cNvPr id="10" name="Shape 8"/>
          <p:cNvSpPr/>
          <p:nvPr/>
        </p:nvSpPr>
        <p:spPr>
          <a:xfrm>
            <a:off x="2862621" y="1554480"/>
            <a:ext cx="2021373" cy="3063240"/>
          </a:xfrm>
          <a:prstGeom prst="roundRect">
            <a:avLst>
              <a:gd name="adj" fmla="val 2262"/>
            </a:avLst>
          </a:prstGeom>
          <a:solidFill>
            <a:srgbClr val="EDF3F1"/>
          </a:solidFill>
          <a:ln w="9525">
            <a:solidFill>
              <a:srgbClr val="C9D5D1"/>
            </a:solidFill>
            <a:prstDash val="solid"/>
          </a:ln>
        </p:spPr>
      </p:sp>
      <p:sp>
        <p:nvSpPr>
          <p:cNvPr id="11" name="Text 9"/>
          <p:cNvSpPr/>
          <p:nvPr/>
        </p:nvSpPr>
        <p:spPr>
          <a:xfrm>
            <a:off x="3045501" y="1700784"/>
            <a:ext cx="1655613" cy="411480"/>
          </a:xfrm>
          <a:prstGeom prst="rect">
            <a:avLst/>
          </a:prstGeom>
          <a:noFill/>
          <a:ln/>
        </p:spPr>
        <p:txBody>
          <a:bodyPr wrap="square" lIns="0" tIns="0" rIns="0" bIns="0" rtlCol="0" anchor="t"/>
          <a:lstStyle/>
          <a:p>
            <a:pPr indent="0" marL="0">
              <a:buNone/>
            </a:pPr>
            <a:r>
              <a:rPr lang="en-US" sz="1700" b="1" dirty="0">
                <a:solidFill>
                  <a:srgbClr val="2E7D6B"/>
                </a:solidFill>
                <a:latin typeface="Yu Gothic" pitchFamily="34" charset="0"/>
                <a:ea typeface="Yu Gothic" pitchFamily="34" charset="-122"/>
                <a:cs typeface="Yu Gothic" pitchFamily="34" charset="-120"/>
              </a:rPr>
              <a:t>続けるか</a:t>
            </a:r>
            <a:endParaRPr lang="en-US" sz="1700" dirty="0"/>
          </a:p>
        </p:txBody>
      </p:sp>
      <p:sp>
        <p:nvSpPr>
          <p:cNvPr id="12" name="Text 10"/>
          <p:cNvSpPr/>
          <p:nvPr/>
        </p:nvSpPr>
        <p:spPr>
          <a:xfrm>
            <a:off x="3045501" y="2203704"/>
            <a:ext cx="1655613" cy="2304288"/>
          </a:xfrm>
          <a:prstGeom prst="rect">
            <a:avLst/>
          </a:prstGeom>
          <a:noFill/>
          <a:ln/>
        </p:spPr>
        <p:txBody>
          <a:bodyPr wrap="square" lIns="0" tIns="0" rIns="0" bIns="0" rtlCol="0" anchor="t"/>
          <a:lstStyle/>
          <a:p>
            <a:pPr indent="0" marL="0">
              <a:lnSpc>
                <a:spcPct val="115000"/>
              </a:lnSpc>
              <a:buNone/>
            </a:pPr>
            <a:r>
              <a:rPr lang="en-US" sz="1300" dirty="0">
                <a:solidFill>
                  <a:srgbClr val="16211F"/>
                </a:solidFill>
                <a:latin typeface="Yu Gothic" pitchFamily="34" charset="0"/>
                <a:ea typeface="Yu Gothic" pitchFamily="34" charset="-122"/>
                <a:cs typeface="Yu Gothic" pitchFamily="34" charset="-120"/>
              </a:rPr>
              <a:t>事業をどう続けるか。手作業や縮退運用に切り替えるか</a:t>
            </a:r>
            <a:endParaRPr lang="en-US" sz="1300" dirty="0"/>
          </a:p>
        </p:txBody>
      </p:sp>
      <p:sp>
        <p:nvSpPr>
          <p:cNvPr id="13" name="Shape 11"/>
          <p:cNvSpPr/>
          <p:nvPr/>
        </p:nvSpPr>
        <p:spPr>
          <a:xfrm>
            <a:off x="5085161" y="1554480"/>
            <a:ext cx="2021373" cy="3063240"/>
          </a:xfrm>
          <a:prstGeom prst="roundRect">
            <a:avLst>
              <a:gd name="adj" fmla="val 2262"/>
            </a:avLst>
          </a:prstGeom>
          <a:solidFill>
            <a:srgbClr val="EDF3F1"/>
          </a:solidFill>
          <a:ln w="9525">
            <a:solidFill>
              <a:srgbClr val="C9D5D1"/>
            </a:solidFill>
            <a:prstDash val="solid"/>
          </a:ln>
        </p:spPr>
      </p:sp>
      <p:sp>
        <p:nvSpPr>
          <p:cNvPr id="14" name="Text 12"/>
          <p:cNvSpPr/>
          <p:nvPr/>
        </p:nvSpPr>
        <p:spPr>
          <a:xfrm>
            <a:off x="5268041" y="1700784"/>
            <a:ext cx="1655613" cy="411480"/>
          </a:xfrm>
          <a:prstGeom prst="rect">
            <a:avLst/>
          </a:prstGeom>
          <a:noFill/>
          <a:ln/>
        </p:spPr>
        <p:txBody>
          <a:bodyPr wrap="square" lIns="0" tIns="0" rIns="0" bIns="0" rtlCol="0" anchor="t"/>
          <a:lstStyle/>
          <a:p>
            <a:pPr indent="0" marL="0">
              <a:buNone/>
            </a:pPr>
            <a:r>
              <a:rPr lang="en-US" sz="1700" b="1" dirty="0">
                <a:solidFill>
                  <a:srgbClr val="2E7D6B"/>
                </a:solidFill>
                <a:latin typeface="Yu Gothic" pitchFamily="34" charset="0"/>
                <a:ea typeface="Yu Gothic" pitchFamily="34" charset="-122"/>
                <a:cs typeface="Yu Gothic" pitchFamily="34" charset="-120"/>
              </a:rPr>
              <a:t>説明するか</a:t>
            </a:r>
            <a:endParaRPr lang="en-US" sz="1700" dirty="0"/>
          </a:p>
        </p:txBody>
      </p:sp>
      <p:sp>
        <p:nvSpPr>
          <p:cNvPr id="15" name="Text 13"/>
          <p:cNvSpPr/>
          <p:nvPr/>
        </p:nvSpPr>
        <p:spPr>
          <a:xfrm>
            <a:off x="5268041" y="2203704"/>
            <a:ext cx="1655613" cy="2304288"/>
          </a:xfrm>
          <a:prstGeom prst="rect">
            <a:avLst/>
          </a:prstGeom>
          <a:noFill/>
          <a:ln/>
        </p:spPr>
        <p:txBody>
          <a:bodyPr wrap="square" lIns="0" tIns="0" rIns="0" bIns="0" rtlCol="0" anchor="t"/>
          <a:lstStyle/>
          <a:p>
            <a:pPr indent="0" marL="0">
              <a:lnSpc>
                <a:spcPct val="115000"/>
              </a:lnSpc>
              <a:buNone/>
            </a:pPr>
            <a:r>
              <a:rPr lang="en-US" sz="1300" dirty="0">
                <a:solidFill>
                  <a:srgbClr val="16211F"/>
                </a:solidFill>
                <a:latin typeface="Yu Gothic" pitchFamily="34" charset="0"/>
                <a:ea typeface="Yu Gothic" pitchFamily="34" charset="-122"/>
                <a:cs typeface="Yu Gothic" pitchFamily="34" charset="-120"/>
              </a:rPr>
              <a:t>顧客・取引先に、何を、どの順で説明するか</a:t>
            </a:r>
            <a:endParaRPr lang="en-US" sz="1300" dirty="0"/>
          </a:p>
        </p:txBody>
      </p:sp>
      <p:sp>
        <p:nvSpPr>
          <p:cNvPr id="16" name="Shape 14"/>
          <p:cNvSpPr/>
          <p:nvPr/>
        </p:nvSpPr>
        <p:spPr>
          <a:xfrm>
            <a:off x="7307702" y="1554480"/>
            <a:ext cx="2021373" cy="3063240"/>
          </a:xfrm>
          <a:prstGeom prst="roundRect">
            <a:avLst>
              <a:gd name="adj" fmla="val 2262"/>
            </a:avLst>
          </a:prstGeom>
          <a:solidFill>
            <a:srgbClr val="EDF3F1"/>
          </a:solidFill>
          <a:ln w="9525">
            <a:solidFill>
              <a:srgbClr val="C9D5D1"/>
            </a:solidFill>
            <a:prstDash val="solid"/>
          </a:ln>
        </p:spPr>
      </p:sp>
      <p:sp>
        <p:nvSpPr>
          <p:cNvPr id="17" name="Text 15"/>
          <p:cNvSpPr/>
          <p:nvPr/>
        </p:nvSpPr>
        <p:spPr>
          <a:xfrm>
            <a:off x="7490582" y="1700784"/>
            <a:ext cx="1655613" cy="411480"/>
          </a:xfrm>
          <a:prstGeom prst="rect">
            <a:avLst/>
          </a:prstGeom>
          <a:noFill/>
          <a:ln/>
        </p:spPr>
        <p:txBody>
          <a:bodyPr wrap="square" lIns="0" tIns="0" rIns="0" bIns="0" rtlCol="0" anchor="t"/>
          <a:lstStyle/>
          <a:p>
            <a:pPr indent="0" marL="0">
              <a:buNone/>
            </a:pPr>
            <a:r>
              <a:rPr lang="en-US" sz="1700" b="1" dirty="0">
                <a:solidFill>
                  <a:srgbClr val="2E7D6B"/>
                </a:solidFill>
                <a:latin typeface="Yu Gothic" pitchFamily="34" charset="0"/>
                <a:ea typeface="Yu Gothic" pitchFamily="34" charset="-122"/>
                <a:cs typeface="Yu Gothic" pitchFamily="34" charset="-120"/>
              </a:rPr>
              <a:t>公表するか</a:t>
            </a:r>
            <a:endParaRPr lang="en-US" sz="1700" dirty="0"/>
          </a:p>
        </p:txBody>
      </p:sp>
      <p:sp>
        <p:nvSpPr>
          <p:cNvPr id="18" name="Text 16"/>
          <p:cNvSpPr/>
          <p:nvPr/>
        </p:nvSpPr>
        <p:spPr>
          <a:xfrm>
            <a:off x="7490582" y="2203704"/>
            <a:ext cx="1655613" cy="2304288"/>
          </a:xfrm>
          <a:prstGeom prst="rect">
            <a:avLst/>
          </a:prstGeom>
          <a:noFill/>
          <a:ln/>
        </p:spPr>
        <p:txBody>
          <a:bodyPr wrap="square" lIns="0" tIns="0" rIns="0" bIns="0" rtlCol="0" anchor="t"/>
          <a:lstStyle/>
          <a:p>
            <a:pPr indent="0" marL="0">
              <a:lnSpc>
                <a:spcPct val="115000"/>
              </a:lnSpc>
              <a:buNone/>
            </a:pPr>
            <a:r>
              <a:rPr lang="en-US" sz="1300" dirty="0">
                <a:solidFill>
                  <a:srgbClr val="16211F"/>
                </a:solidFill>
                <a:latin typeface="Yu Gothic" pitchFamily="34" charset="0"/>
                <a:ea typeface="Yu Gothic" pitchFamily="34" charset="-122"/>
                <a:cs typeface="Yu Gothic" pitchFamily="34" charset="-120"/>
              </a:rPr>
              <a:t>いつ、どこまで公表するか。当局への報告</a:t>
            </a:r>
            <a:endParaRPr lang="en-US" sz="1300" dirty="0"/>
          </a:p>
        </p:txBody>
      </p:sp>
      <p:sp>
        <p:nvSpPr>
          <p:cNvPr id="19" name="Shape 17"/>
          <p:cNvSpPr/>
          <p:nvPr/>
        </p:nvSpPr>
        <p:spPr>
          <a:xfrm>
            <a:off x="9530243" y="1554480"/>
            <a:ext cx="2021373" cy="3063240"/>
          </a:xfrm>
          <a:prstGeom prst="roundRect">
            <a:avLst>
              <a:gd name="adj" fmla="val 2262"/>
            </a:avLst>
          </a:prstGeom>
          <a:solidFill>
            <a:srgbClr val="EDF3F1"/>
          </a:solidFill>
          <a:ln w="9525">
            <a:solidFill>
              <a:srgbClr val="C9D5D1"/>
            </a:solidFill>
            <a:prstDash val="solid"/>
          </a:ln>
        </p:spPr>
      </p:sp>
      <p:sp>
        <p:nvSpPr>
          <p:cNvPr id="20" name="Text 18"/>
          <p:cNvSpPr/>
          <p:nvPr/>
        </p:nvSpPr>
        <p:spPr>
          <a:xfrm>
            <a:off x="9713123" y="1700784"/>
            <a:ext cx="1655613" cy="411480"/>
          </a:xfrm>
          <a:prstGeom prst="rect">
            <a:avLst/>
          </a:prstGeom>
          <a:noFill/>
          <a:ln/>
        </p:spPr>
        <p:txBody>
          <a:bodyPr wrap="square" lIns="0" tIns="0" rIns="0" bIns="0" rtlCol="0" anchor="t"/>
          <a:lstStyle/>
          <a:p>
            <a:pPr indent="0" marL="0">
              <a:buNone/>
            </a:pPr>
            <a:r>
              <a:rPr lang="en-US" sz="1700" b="1" dirty="0">
                <a:solidFill>
                  <a:srgbClr val="2E7D6B"/>
                </a:solidFill>
                <a:latin typeface="Yu Gothic" pitchFamily="34" charset="0"/>
                <a:ea typeface="Yu Gothic" pitchFamily="34" charset="-122"/>
                <a:cs typeface="Yu Gothic" pitchFamily="34" charset="-120"/>
              </a:rPr>
              <a:t>何から戻すか</a:t>
            </a:r>
            <a:endParaRPr lang="en-US" sz="1700" dirty="0"/>
          </a:p>
        </p:txBody>
      </p:sp>
      <p:sp>
        <p:nvSpPr>
          <p:cNvPr id="21" name="Text 19"/>
          <p:cNvSpPr/>
          <p:nvPr/>
        </p:nvSpPr>
        <p:spPr>
          <a:xfrm>
            <a:off x="9713123" y="2203704"/>
            <a:ext cx="1655613" cy="2304288"/>
          </a:xfrm>
          <a:prstGeom prst="rect">
            <a:avLst/>
          </a:prstGeom>
          <a:noFill/>
          <a:ln/>
        </p:spPr>
        <p:txBody>
          <a:bodyPr wrap="square" lIns="0" tIns="0" rIns="0" bIns="0" rtlCol="0" anchor="t"/>
          <a:lstStyle/>
          <a:p>
            <a:pPr indent="0" marL="0">
              <a:lnSpc>
                <a:spcPct val="115000"/>
              </a:lnSpc>
              <a:buNone/>
            </a:pPr>
            <a:r>
              <a:rPr lang="en-US" sz="1300" dirty="0">
                <a:solidFill>
                  <a:srgbClr val="16211F"/>
                </a:solidFill>
                <a:latin typeface="Yu Gothic" pitchFamily="34" charset="0"/>
                <a:ea typeface="Yu Gothic" pitchFamily="34" charset="-122"/>
                <a:cs typeface="Yu Gothic" pitchFamily="34" charset="-120"/>
              </a:rPr>
              <a:t>復旧の順番。どの状態なら信用してよいか</a:t>
            </a:r>
            <a:endParaRPr lang="en-US" sz="1300" dirty="0"/>
          </a:p>
        </p:txBody>
      </p:sp>
      <p:sp>
        <p:nvSpPr>
          <p:cNvPr id="22" name="Shape 20"/>
          <p:cNvSpPr/>
          <p:nvPr/>
        </p:nvSpPr>
        <p:spPr>
          <a:xfrm>
            <a:off x="640080" y="4892040"/>
            <a:ext cx="10911535" cy="658368"/>
          </a:xfrm>
          <a:prstGeom prst="rect">
            <a:avLst/>
          </a:prstGeom>
          <a:solidFill>
            <a:srgbClr val="F6EBD8"/>
          </a:solidFill>
          <a:ln/>
        </p:spPr>
      </p:sp>
      <p:sp>
        <p:nvSpPr>
          <p:cNvPr id="23" name="Shape 21"/>
          <p:cNvSpPr/>
          <p:nvPr/>
        </p:nvSpPr>
        <p:spPr>
          <a:xfrm>
            <a:off x="640080" y="4892040"/>
            <a:ext cx="73152" cy="658368"/>
          </a:xfrm>
          <a:prstGeom prst="rect">
            <a:avLst/>
          </a:prstGeom>
          <a:solidFill>
            <a:srgbClr val="C9821A"/>
          </a:solidFill>
          <a:ln/>
        </p:spPr>
      </p:sp>
      <p:sp>
        <p:nvSpPr>
          <p:cNvPr id="24" name="Text 22"/>
          <p:cNvSpPr/>
          <p:nvPr/>
        </p:nvSpPr>
        <p:spPr>
          <a:xfrm>
            <a:off x="914400" y="4965192"/>
            <a:ext cx="10454335" cy="512064"/>
          </a:xfrm>
          <a:prstGeom prst="rect">
            <a:avLst/>
          </a:prstGeom>
          <a:noFill/>
          <a:ln/>
        </p:spPr>
        <p:txBody>
          <a:bodyPr wrap="square" lIns="0" tIns="0" rIns="0" bIns="0" rtlCol="0" anchor="ctr"/>
          <a:lstStyle/>
          <a:p>
            <a:pPr indent="0" marL="0">
              <a:buNone/>
            </a:pPr>
            <a:r>
              <a:rPr lang="en-US" sz="1400" b="1" dirty="0">
                <a:solidFill>
                  <a:srgbClr val="16211F"/>
                </a:solidFill>
                <a:latin typeface="Yu Gothic" pitchFamily="34" charset="0"/>
                <a:ea typeface="Yu Gothic" pitchFamily="34" charset="-122"/>
                <a:cs typeface="Yu Gothic" pitchFamily="34" charset="-120"/>
              </a:rPr>
              <a:t>どれも「取り消しにくく」「影響が広く」「後で説明を求められる」判断です。だからAIに丸投げできません。</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2E7D6B"/>
          </a:solidFill>
          <a:ln/>
        </p:spPr>
      </p:sp>
      <p:sp>
        <p:nvSpPr>
          <p:cNvPr id="3" name="Text 1"/>
          <p:cNvSpPr/>
          <p:nvPr/>
        </p:nvSpPr>
        <p:spPr>
          <a:xfrm>
            <a:off x="640080" y="292608"/>
            <a:ext cx="7772400" cy="274320"/>
          </a:xfrm>
          <a:prstGeom prst="rect">
            <a:avLst/>
          </a:prstGeom>
          <a:noFill/>
          <a:ln/>
        </p:spPr>
        <p:txBody>
          <a:bodyPr wrap="square" lIns="0" tIns="0" rIns="0" bIns="0" rtlCol="0" anchor="ctr"/>
          <a:lstStyle/>
          <a:p>
            <a:pPr indent="0" marL="0">
              <a:buNone/>
            </a:pPr>
            <a:r>
              <a:rPr lang="en-US" sz="1200" b="1" dirty="0">
                <a:solidFill>
                  <a:srgbClr val="2E7D6B"/>
                </a:solidFill>
                <a:latin typeface="Yu Gothic" pitchFamily="34" charset="0"/>
                <a:ea typeface="Yu Gothic" pitchFamily="34" charset="-122"/>
                <a:cs typeface="Yu Gothic" pitchFamily="34" charset="-120"/>
              </a:rPr>
              <a:t>第1部　律速点は人の判断へ</a:t>
            </a:r>
            <a:endParaRPr lang="en-US" sz="1200" dirty="0"/>
          </a:p>
        </p:txBody>
      </p:sp>
      <p:sp>
        <p:nvSpPr>
          <p:cNvPr id="4" name="Text 2"/>
          <p:cNvSpPr/>
          <p:nvPr/>
        </p:nvSpPr>
        <p:spPr>
          <a:xfrm>
            <a:off x="640080" y="621792"/>
            <a:ext cx="10911535" cy="685800"/>
          </a:xfrm>
          <a:prstGeom prst="rect">
            <a:avLst/>
          </a:prstGeom>
          <a:noFill/>
          <a:ln/>
        </p:spPr>
        <p:txBody>
          <a:bodyPr wrap="square" lIns="0" tIns="0" rIns="0" bIns="0" rtlCol="0" anchor="t"/>
          <a:lstStyle/>
          <a:p>
            <a:pPr indent="0" marL="0">
              <a:buNone/>
            </a:pPr>
            <a:r>
              <a:rPr lang="en-US" sz="2600" b="1" dirty="0">
                <a:solidFill>
                  <a:srgbClr val="16211F"/>
                </a:solidFill>
                <a:latin typeface="Yu Gothic" pitchFamily="34" charset="0"/>
                <a:ea typeface="Yu Gothic" pitchFamily="34" charset="-122"/>
                <a:cs typeface="Yu Gothic" pitchFamily="34" charset="-120"/>
              </a:rPr>
              <a:t>「ひとががんばる」の正体は、判断の材料集めです</a:t>
            </a:r>
            <a:endParaRPr lang="en-US" sz="2600" dirty="0"/>
          </a:p>
        </p:txBody>
      </p:sp>
      <p:sp>
        <p:nvSpPr>
          <p:cNvPr id="5" name="Text 3"/>
          <p:cNvSpPr/>
          <p:nvPr/>
        </p:nvSpPr>
        <p:spPr>
          <a:xfrm>
            <a:off x="10180015" y="6446520"/>
            <a:ext cx="1371600" cy="228600"/>
          </a:xfrm>
          <a:prstGeom prst="rect">
            <a:avLst/>
          </a:prstGeom>
          <a:noFill/>
          <a:ln/>
        </p:spPr>
        <p:txBody>
          <a:bodyPr wrap="square" lIns="0" tIns="0" rIns="0" bIns="0" rtlCol="0" anchor="ctr"/>
          <a:lstStyle/>
          <a:p>
            <a:pPr algn="r" indent="0" marL="0">
              <a:buNone/>
            </a:pPr>
            <a:r>
              <a:rPr lang="en-US" sz="900" dirty="0">
                <a:solidFill>
                  <a:srgbClr val="5E6E6A"/>
                </a:solidFill>
                <a:latin typeface="Yu Gothic" pitchFamily="34" charset="0"/>
                <a:ea typeface="Yu Gothic" pitchFamily="34" charset="-122"/>
                <a:cs typeface="Yu Gothic" pitchFamily="34" charset="-120"/>
              </a:rPr>
              <a:t>7 / 23</a:t>
            </a:r>
            <a:endParaRPr lang="en-US" sz="900" dirty="0"/>
          </a:p>
        </p:txBody>
      </p:sp>
      <p:sp>
        <p:nvSpPr>
          <p:cNvPr id="6" name="Text 4"/>
          <p:cNvSpPr/>
          <p:nvPr/>
        </p:nvSpPr>
        <p:spPr>
          <a:xfrm>
            <a:off x="640080" y="6446520"/>
            <a:ext cx="6400800" cy="228600"/>
          </a:xfrm>
          <a:prstGeom prst="rect">
            <a:avLst/>
          </a:prstGeom>
          <a:noFill/>
          <a:ln/>
        </p:spPr>
        <p:txBody>
          <a:bodyPr wrap="square" lIns="0" tIns="0" rIns="0" bIns="0" rtlCol="0" anchor="ctr"/>
          <a:lstStyle/>
          <a:p>
            <a:pPr indent="0" marL="0">
              <a:buNone/>
            </a:pPr>
            <a:r>
              <a:rPr lang="en-US" sz="900" dirty="0">
                <a:solidFill>
                  <a:srgbClr val="9FB2AD"/>
                </a:solidFill>
                <a:latin typeface="Yu Gothic" pitchFamily="34" charset="0"/>
                <a:ea typeface="Yu Gothic" pitchFamily="34" charset="-122"/>
                <a:cs typeface="Yu Gothic" pitchFamily="34" charset="-120"/>
              </a:rPr>
              <a:t>Security Days Fall 2026 Fukuoka　FB-05　小出 洋（九州大学）</a:t>
            </a:r>
            <a:endParaRPr lang="en-US" sz="9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463040"/>
          <a:ext cx="10911535" cy="914400"/>
        </p:xfrm>
        <a:graphic>
          <a:graphicData uri="http://schemas.openxmlformats.org/drawingml/2006/table">
            <a:tbl>
              <a:tblPr/>
              <a:tblGrid>
                <a:gridCol w="1737360"/>
                <a:gridCol w="4754880"/>
                <a:gridCol w="4297680"/>
              </a:tblGrid>
              <a:tr h="457200">
                <a:tc>
                  <a:txBody>
                    <a:bodyPr/>
                    <a:lstStyle/>
                    <a:p>
                      <a:pPr indent="0" marL="0">
                        <a:buNone/>
                      </a:pPr>
                      <a:r>
                        <a:rPr lang="en-US" sz="1300" b="1" dirty="0">
                          <a:solidFill>
                            <a:srgbClr val="FFFFFF"/>
                          </a:solidFill>
                          <a:latin typeface="Yu Gothic" pitchFamily="34" charset="0"/>
                          <a:ea typeface="Yu Gothic" pitchFamily="34" charset="-122"/>
                          <a:cs typeface="Yu Gothic" pitchFamily="34" charset="-120"/>
                        </a:rPr>
                        <a:t>初動の工程</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2E7D6B"/>
                    </a:solidFill>
                  </a:tcPr>
                </a:tc>
                <a:tc>
                  <a:txBody>
                    <a:bodyPr/>
                    <a:lstStyle/>
                    <a:p>
                      <a:pPr indent="0" marL="0">
                        <a:buNone/>
                      </a:pPr>
                      <a:r>
                        <a:rPr lang="en-US" sz="1300" b="1" dirty="0">
                          <a:solidFill>
                            <a:srgbClr val="FFFFFF"/>
                          </a:solidFill>
                          <a:latin typeface="Yu Gothic" pitchFamily="34" charset="0"/>
                          <a:ea typeface="Yu Gothic" pitchFamily="34" charset="-122"/>
                          <a:cs typeface="Yu Gothic" pitchFamily="34" charset="-120"/>
                        </a:rPr>
                        <a:t>AIに任せやすい作業（材料）</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2E7D6B"/>
                    </a:solidFill>
                  </a:tcPr>
                </a:tc>
                <a:tc>
                  <a:txBody>
                    <a:bodyPr/>
                    <a:lstStyle/>
                    <a:p>
                      <a:pPr indent="0" marL="0">
                        <a:buNone/>
                      </a:pPr>
                      <a:r>
                        <a:rPr lang="en-US" sz="1300" b="1" dirty="0">
                          <a:solidFill>
                            <a:srgbClr val="FFFFFF"/>
                          </a:solidFill>
                          <a:latin typeface="Yu Gothic" pitchFamily="34" charset="0"/>
                          <a:ea typeface="Yu Gothic" pitchFamily="34" charset="-122"/>
                          <a:cs typeface="Yu Gothic" pitchFamily="34" charset="-120"/>
                        </a:rPr>
                        <a:t>人が担う判断</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2E7D6B"/>
                    </a:solidFill>
                  </a:tcPr>
                </a:tc>
              </a:tr>
              <a:tr h="457200">
                <a:tc>
                  <a:txBody>
                    <a:bodyPr/>
                    <a:lstStyle/>
                    <a:p>
                      <a:pPr indent="0" marL="0">
                        <a:buNone/>
                      </a:pPr>
                      <a:r>
                        <a:rPr lang="en-US" sz="1300" b="1" dirty="0">
                          <a:solidFill>
                            <a:srgbClr val="16211F"/>
                          </a:solidFill>
                          <a:latin typeface="Yu Gothic" pitchFamily="34" charset="0"/>
                          <a:ea typeface="Yu Gothic" pitchFamily="34" charset="-122"/>
                          <a:cs typeface="Yu Gothic" pitchFamily="34" charset="-120"/>
                        </a:rPr>
                        <a:t>把握</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4F7F6"/>
                    </a:solidFill>
                  </a:tcPr>
                </a:tc>
                <a:tc>
                  <a:txBody>
                    <a:bodyPr/>
                    <a:lstStyle/>
                    <a:p>
                      <a:pPr indent="0" marL="0">
                        <a:buNone/>
                      </a:pPr>
                      <a:r>
                        <a:rPr lang="en-US" sz="1300" dirty="0">
                          <a:solidFill>
                            <a:srgbClr val="16211F"/>
                          </a:solidFill>
                          <a:latin typeface="Yu Gothic" pitchFamily="34" charset="0"/>
                          <a:ea typeface="Yu Gothic" pitchFamily="34" charset="-122"/>
                          <a:cs typeface="Yu Gothic" pitchFamily="34" charset="-120"/>
                        </a:rPr>
                        <a:t>アラートの集約、ログの突き合わせ、時系列の整理</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4F7F6"/>
                    </a:solidFill>
                  </a:tcPr>
                </a:tc>
                <a:tc>
                  <a:txBody>
                    <a:bodyPr/>
                    <a:lstStyle/>
                    <a:p>
                      <a:pPr indent="0" marL="0">
                        <a:buNone/>
                      </a:pPr>
                      <a:r>
                        <a:rPr lang="en-US" sz="1300" dirty="0">
                          <a:solidFill>
                            <a:srgbClr val="16211F"/>
                          </a:solidFill>
                          <a:latin typeface="Yu Gothic" pitchFamily="34" charset="0"/>
                          <a:ea typeface="Yu Gothic" pitchFamily="34" charset="-122"/>
                          <a:cs typeface="Yu Gothic" pitchFamily="34" charset="-120"/>
                        </a:rPr>
                        <a:t>「インシデントだ」と宣言するか</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4F7F6"/>
                    </a:solidFill>
                  </a:tcPr>
                </a:tc>
              </a:tr>
              <a:tr h="457200">
                <a:tc>
                  <a:txBody>
                    <a:bodyPr/>
                    <a:lstStyle/>
                    <a:p>
                      <a:pPr indent="0" marL="0">
                        <a:buNone/>
                      </a:pPr>
                      <a:r>
                        <a:rPr lang="en-US" sz="1300" b="1" dirty="0">
                          <a:solidFill>
                            <a:srgbClr val="16211F"/>
                          </a:solidFill>
                          <a:latin typeface="Yu Gothic" pitchFamily="34" charset="0"/>
                          <a:ea typeface="Yu Gothic" pitchFamily="34" charset="-122"/>
                          <a:cs typeface="Yu Gothic" pitchFamily="34" charset="-120"/>
                        </a:rPr>
                        <a:t>影響</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FFFFF"/>
                    </a:solidFill>
                  </a:tcPr>
                </a:tc>
                <a:tc>
                  <a:txBody>
                    <a:bodyPr/>
                    <a:lstStyle/>
                    <a:p>
                      <a:pPr indent="0" marL="0">
                        <a:buNone/>
                      </a:pPr>
                      <a:r>
                        <a:rPr lang="en-US" sz="1300" dirty="0">
                          <a:solidFill>
                            <a:srgbClr val="16211F"/>
                          </a:solidFill>
                          <a:latin typeface="Yu Gothic" pitchFamily="34" charset="0"/>
                          <a:ea typeface="Yu Gothic" pitchFamily="34" charset="-122"/>
                          <a:cs typeface="Yu Gothic" pitchFamily="34" charset="-120"/>
                        </a:rPr>
                        <a:t>影響範囲の候補、似た事例の検索</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FFFFF"/>
                    </a:solidFill>
                  </a:tcPr>
                </a:tc>
                <a:tc>
                  <a:txBody>
                    <a:bodyPr/>
                    <a:lstStyle/>
                    <a:p>
                      <a:pPr indent="0" marL="0">
                        <a:buNone/>
                      </a:pPr>
                      <a:r>
                        <a:rPr lang="en-US" sz="1300" dirty="0">
                          <a:solidFill>
                            <a:srgbClr val="16211F"/>
                          </a:solidFill>
                          <a:latin typeface="Yu Gothic" pitchFamily="34" charset="0"/>
                          <a:ea typeface="Yu Gothic" pitchFamily="34" charset="-122"/>
                          <a:cs typeface="Yu Gothic" pitchFamily="34" charset="-120"/>
                        </a:rPr>
                        <a:t>どの業務を優先して守るか</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6211F"/>
                          </a:solidFill>
                          <a:latin typeface="Yu Gothic" pitchFamily="34" charset="0"/>
                          <a:ea typeface="Yu Gothic" pitchFamily="34" charset="-122"/>
                          <a:cs typeface="Yu Gothic" pitchFamily="34" charset="-120"/>
                        </a:rPr>
                        <a:t>封じ込め</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4F7F6"/>
                    </a:solidFill>
                  </a:tcPr>
                </a:tc>
                <a:tc>
                  <a:txBody>
                    <a:bodyPr/>
                    <a:lstStyle/>
                    <a:p>
                      <a:pPr indent="0" marL="0">
                        <a:buNone/>
                      </a:pPr>
                      <a:r>
                        <a:rPr lang="en-US" sz="1300" dirty="0">
                          <a:solidFill>
                            <a:srgbClr val="16211F"/>
                          </a:solidFill>
                          <a:latin typeface="Yu Gothic" pitchFamily="34" charset="0"/>
                          <a:ea typeface="Yu Gothic" pitchFamily="34" charset="-122"/>
                          <a:cs typeface="Yu Gothic" pitchFamily="34" charset="-120"/>
                        </a:rPr>
                        <a:t>隔離手順の案、設定変更の下書き</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4F7F6"/>
                    </a:solidFill>
                  </a:tcPr>
                </a:tc>
                <a:tc>
                  <a:txBody>
                    <a:bodyPr/>
                    <a:lstStyle/>
                    <a:p>
                      <a:pPr indent="0" marL="0">
                        <a:buNone/>
                      </a:pPr>
                      <a:r>
                        <a:rPr lang="en-US" sz="1300" dirty="0">
                          <a:solidFill>
                            <a:srgbClr val="16211F"/>
                          </a:solidFill>
                          <a:latin typeface="Yu Gothic" pitchFamily="34" charset="0"/>
                          <a:ea typeface="Yu Gothic" pitchFamily="34" charset="-122"/>
                          <a:cs typeface="Yu Gothic" pitchFamily="34" charset="-120"/>
                        </a:rPr>
                        <a:t>止める範囲と、止める時刻</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4F7F6"/>
                    </a:solidFill>
                  </a:tcPr>
                </a:tc>
              </a:tr>
              <a:tr h="457200">
                <a:tc>
                  <a:txBody>
                    <a:bodyPr/>
                    <a:lstStyle/>
                    <a:p>
                      <a:pPr indent="0" marL="0">
                        <a:buNone/>
                      </a:pPr>
                      <a:r>
                        <a:rPr lang="en-US" sz="1300" b="1" dirty="0">
                          <a:solidFill>
                            <a:srgbClr val="16211F"/>
                          </a:solidFill>
                          <a:latin typeface="Yu Gothic" pitchFamily="34" charset="0"/>
                          <a:ea typeface="Yu Gothic" pitchFamily="34" charset="-122"/>
                          <a:cs typeface="Yu Gothic" pitchFamily="34" charset="-120"/>
                        </a:rPr>
                        <a:t>説明</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FFFFF"/>
                    </a:solidFill>
                  </a:tcPr>
                </a:tc>
                <a:tc>
                  <a:txBody>
                    <a:bodyPr/>
                    <a:lstStyle/>
                    <a:p>
                      <a:pPr indent="0" marL="0">
                        <a:buNone/>
                      </a:pPr>
                      <a:r>
                        <a:rPr lang="en-US" sz="1300" dirty="0">
                          <a:solidFill>
                            <a:srgbClr val="16211F"/>
                          </a:solidFill>
                          <a:latin typeface="Yu Gothic" pitchFamily="34" charset="0"/>
                          <a:ea typeface="Yu Gothic" pitchFamily="34" charset="-122"/>
                          <a:cs typeface="Yu Gothic" pitchFamily="34" charset="-120"/>
                        </a:rPr>
                        <a:t>経緯の要約、文案、想定問答の下書き</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FFFFF"/>
                    </a:solidFill>
                  </a:tcPr>
                </a:tc>
                <a:tc>
                  <a:txBody>
                    <a:bodyPr/>
                    <a:lstStyle/>
                    <a:p>
                      <a:pPr indent="0" marL="0">
                        <a:buNone/>
                      </a:pPr>
                      <a:r>
                        <a:rPr lang="en-US" sz="1300" dirty="0">
                          <a:solidFill>
                            <a:srgbClr val="16211F"/>
                          </a:solidFill>
                          <a:latin typeface="Yu Gothic" pitchFamily="34" charset="0"/>
                          <a:ea typeface="Yu Gothic" pitchFamily="34" charset="-122"/>
                          <a:cs typeface="Yu Gothic" pitchFamily="34" charset="-120"/>
                        </a:rPr>
                        <a:t>何を、誰に、いつ出すか</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6211F"/>
                          </a:solidFill>
                          <a:latin typeface="Yu Gothic" pitchFamily="34" charset="0"/>
                          <a:ea typeface="Yu Gothic" pitchFamily="34" charset="-122"/>
                          <a:cs typeface="Yu Gothic" pitchFamily="34" charset="-120"/>
                        </a:rPr>
                        <a:t>復旧</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4F7F6"/>
                    </a:solidFill>
                  </a:tcPr>
                </a:tc>
                <a:tc>
                  <a:txBody>
                    <a:bodyPr/>
                    <a:lstStyle/>
                    <a:p>
                      <a:pPr indent="0" marL="0">
                        <a:buNone/>
                      </a:pPr>
                      <a:r>
                        <a:rPr lang="en-US" sz="1300" dirty="0">
                          <a:solidFill>
                            <a:srgbClr val="16211F"/>
                          </a:solidFill>
                          <a:latin typeface="Yu Gothic" pitchFamily="34" charset="0"/>
                          <a:ea typeface="Yu Gothic" pitchFamily="34" charset="-122"/>
                          <a:cs typeface="Yu Gothic" pitchFamily="34" charset="-120"/>
                        </a:rPr>
                        <a:t>バックアップの確認、手順の提示</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4F7F6"/>
                    </a:solidFill>
                  </a:tcPr>
                </a:tc>
                <a:tc>
                  <a:txBody>
                    <a:bodyPr/>
                    <a:lstStyle/>
                    <a:p>
                      <a:pPr indent="0" marL="0">
                        <a:buNone/>
                      </a:pPr>
                      <a:r>
                        <a:rPr lang="en-US" sz="1300" dirty="0">
                          <a:solidFill>
                            <a:srgbClr val="16211F"/>
                          </a:solidFill>
                          <a:latin typeface="Yu Gothic" pitchFamily="34" charset="0"/>
                          <a:ea typeface="Yu Gothic" pitchFamily="34" charset="-122"/>
                          <a:cs typeface="Yu Gothic" pitchFamily="34" charset="-120"/>
                        </a:rPr>
                        <a:t>何から戻すか、どこまで信用するか</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4F7F6"/>
                    </a:solidFill>
                  </a:tcPr>
                </a:tc>
              </a:tr>
            </a:tbl>
          </a:graphicData>
        </a:graphic>
      </p:graphicFrame>
      <p:sp>
        <p:nvSpPr>
          <p:cNvPr id="8" name="Shape 5"/>
          <p:cNvSpPr/>
          <p:nvPr/>
        </p:nvSpPr>
        <p:spPr>
          <a:xfrm>
            <a:off x="640080" y="4983480"/>
            <a:ext cx="10911535" cy="658368"/>
          </a:xfrm>
          <a:prstGeom prst="rect">
            <a:avLst/>
          </a:prstGeom>
          <a:solidFill>
            <a:srgbClr val="F6EBD8"/>
          </a:solidFill>
          <a:ln/>
        </p:spPr>
      </p:sp>
      <p:sp>
        <p:nvSpPr>
          <p:cNvPr id="9" name="Shape 6"/>
          <p:cNvSpPr/>
          <p:nvPr/>
        </p:nvSpPr>
        <p:spPr>
          <a:xfrm>
            <a:off x="640080" y="4983480"/>
            <a:ext cx="73152" cy="658368"/>
          </a:xfrm>
          <a:prstGeom prst="rect">
            <a:avLst/>
          </a:prstGeom>
          <a:solidFill>
            <a:srgbClr val="C9821A"/>
          </a:solidFill>
          <a:ln/>
        </p:spPr>
      </p:sp>
      <p:sp>
        <p:nvSpPr>
          <p:cNvPr id="10" name="Text 7"/>
          <p:cNvSpPr/>
          <p:nvPr/>
        </p:nvSpPr>
        <p:spPr>
          <a:xfrm>
            <a:off x="914400" y="5056632"/>
            <a:ext cx="10454335" cy="512064"/>
          </a:xfrm>
          <a:prstGeom prst="rect">
            <a:avLst/>
          </a:prstGeom>
          <a:noFill/>
          <a:ln/>
        </p:spPr>
        <p:txBody>
          <a:bodyPr wrap="square" lIns="0" tIns="0" rIns="0" bIns="0" rtlCol="0" anchor="ctr"/>
          <a:lstStyle/>
          <a:p>
            <a:pPr indent="0" marL="0">
              <a:buNone/>
            </a:pPr>
            <a:r>
              <a:rPr lang="en-US" sz="1400" b="1" dirty="0">
                <a:solidFill>
                  <a:srgbClr val="16211F"/>
                </a:solidFill>
                <a:latin typeface="Yu Gothic" pitchFamily="34" charset="0"/>
                <a:ea typeface="Yu Gothic" pitchFamily="34" charset="-122"/>
                <a:cs typeface="Yu Gothic" pitchFamily="34" charset="-120"/>
              </a:rPr>
              <a:t>夜通しがんばっているのは、多くの場合、真ん中の列です。ここをAIに渡して、人は右に集中します。</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2E7D6B"/>
          </a:solidFill>
          <a:ln/>
        </p:spPr>
      </p:sp>
      <p:sp>
        <p:nvSpPr>
          <p:cNvPr id="3" name="Shape 1"/>
          <p:cNvSpPr/>
          <p:nvPr/>
        </p:nvSpPr>
        <p:spPr>
          <a:xfrm>
            <a:off x="822960" y="5989320"/>
            <a:ext cx="10515600" cy="27432"/>
          </a:xfrm>
          <a:prstGeom prst="rect">
            <a:avLst/>
          </a:prstGeom>
          <a:solidFill>
            <a:srgbClr val="C9D5D1"/>
          </a:solidFill>
          <a:ln/>
        </p:spPr>
      </p:sp>
      <p:sp>
        <p:nvSpPr>
          <p:cNvPr id="4" name="Text 2"/>
          <p:cNvSpPr/>
          <p:nvPr/>
        </p:nvSpPr>
        <p:spPr>
          <a:xfrm>
            <a:off x="822960" y="2103120"/>
            <a:ext cx="3657600" cy="548640"/>
          </a:xfrm>
          <a:prstGeom prst="rect">
            <a:avLst/>
          </a:prstGeom>
          <a:noFill/>
          <a:ln/>
        </p:spPr>
        <p:txBody>
          <a:bodyPr wrap="square" lIns="0" tIns="0" rIns="0" bIns="0" rtlCol="0" anchor="ctr"/>
          <a:lstStyle/>
          <a:p>
            <a:pPr indent="0" marL="0">
              <a:buNone/>
            </a:pPr>
            <a:r>
              <a:rPr lang="en-US" sz="2400" b="1" dirty="0">
                <a:solidFill>
                  <a:srgbClr val="C9821A"/>
                </a:solidFill>
                <a:latin typeface="Yu Gothic" pitchFamily="34" charset="0"/>
                <a:ea typeface="Yu Gothic" pitchFamily="34" charset="-122"/>
                <a:cs typeface="Yu Gothic" pitchFamily="34" charset="-120"/>
              </a:rPr>
              <a:t>第2部</a:t>
            </a:r>
            <a:endParaRPr lang="en-US" sz="2400" dirty="0"/>
          </a:p>
        </p:txBody>
      </p:sp>
      <p:sp>
        <p:nvSpPr>
          <p:cNvPr id="5" name="Text 3"/>
          <p:cNvSpPr/>
          <p:nvPr/>
        </p:nvSpPr>
        <p:spPr>
          <a:xfrm>
            <a:off x="822960" y="2697480"/>
            <a:ext cx="10607040" cy="822960"/>
          </a:xfrm>
          <a:prstGeom prst="rect">
            <a:avLst/>
          </a:prstGeom>
          <a:noFill/>
          <a:ln/>
        </p:spPr>
        <p:txBody>
          <a:bodyPr wrap="square" lIns="0" tIns="0" rIns="0" bIns="0" rtlCol="0" anchor="ctr"/>
          <a:lstStyle/>
          <a:p>
            <a:pPr indent="0" marL="0">
              <a:buNone/>
            </a:pPr>
            <a:r>
              <a:rPr lang="en-US" sz="3800" b="1" dirty="0">
                <a:solidFill>
                  <a:srgbClr val="2E7D6B"/>
                </a:solidFill>
                <a:latin typeface="Yu Gothic" pitchFamily="34" charset="0"/>
                <a:ea typeface="Yu Gothic" pitchFamily="34" charset="-122"/>
                <a:cs typeface="Yu Gothic" pitchFamily="34" charset="-120"/>
              </a:rPr>
              <a:t>AIとともに判断する</a:t>
            </a:r>
            <a:endParaRPr lang="en-US" sz="3800" dirty="0"/>
          </a:p>
        </p:txBody>
      </p:sp>
      <p:sp>
        <p:nvSpPr>
          <p:cNvPr id="6" name="Text 4"/>
          <p:cNvSpPr/>
          <p:nvPr/>
        </p:nvSpPr>
        <p:spPr>
          <a:xfrm>
            <a:off x="822960" y="3657600"/>
            <a:ext cx="10607040" cy="457200"/>
          </a:xfrm>
          <a:prstGeom prst="rect">
            <a:avLst/>
          </a:prstGeom>
          <a:noFill/>
          <a:ln/>
        </p:spPr>
        <p:txBody>
          <a:bodyPr wrap="square" lIns="0" tIns="0" rIns="0" bIns="0" rtlCol="0" anchor="ctr"/>
          <a:lstStyle/>
          <a:p>
            <a:pPr indent="0" marL="0">
              <a:buNone/>
            </a:pPr>
            <a:r>
              <a:rPr lang="en-US" sz="1800" dirty="0">
                <a:solidFill>
                  <a:srgbClr val="5E6E6A"/>
                </a:solidFill>
                <a:latin typeface="Yu Gothic" pitchFamily="34" charset="0"/>
                <a:ea typeface="Yu Gothic" pitchFamily="34" charset="-122"/>
                <a:cs typeface="Yu Gothic" pitchFamily="34" charset="-120"/>
              </a:rPr>
              <a:t>AIは作業の道具から、判断の相手へ</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2E7D6B"/>
          </a:solidFill>
          <a:ln/>
        </p:spPr>
      </p:sp>
      <p:sp>
        <p:nvSpPr>
          <p:cNvPr id="3" name="Text 1"/>
          <p:cNvSpPr/>
          <p:nvPr/>
        </p:nvSpPr>
        <p:spPr>
          <a:xfrm>
            <a:off x="640080" y="292608"/>
            <a:ext cx="7772400" cy="274320"/>
          </a:xfrm>
          <a:prstGeom prst="rect">
            <a:avLst/>
          </a:prstGeom>
          <a:noFill/>
          <a:ln/>
        </p:spPr>
        <p:txBody>
          <a:bodyPr wrap="square" lIns="0" tIns="0" rIns="0" bIns="0" rtlCol="0" anchor="ctr"/>
          <a:lstStyle/>
          <a:p>
            <a:pPr indent="0" marL="0">
              <a:buNone/>
            </a:pPr>
            <a:r>
              <a:rPr lang="en-US" sz="1200" b="1" dirty="0">
                <a:solidFill>
                  <a:srgbClr val="2E7D6B"/>
                </a:solidFill>
                <a:latin typeface="Yu Gothic" pitchFamily="34" charset="0"/>
                <a:ea typeface="Yu Gothic" pitchFamily="34" charset="-122"/>
                <a:cs typeface="Yu Gothic" pitchFamily="34" charset="-120"/>
              </a:rPr>
              <a:t>第2部　提案①　AIを判断の相手にする</a:t>
            </a:r>
            <a:endParaRPr lang="en-US" sz="1200" dirty="0"/>
          </a:p>
        </p:txBody>
      </p:sp>
      <p:sp>
        <p:nvSpPr>
          <p:cNvPr id="4" name="Text 2"/>
          <p:cNvSpPr/>
          <p:nvPr/>
        </p:nvSpPr>
        <p:spPr>
          <a:xfrm>
            <a:off x="640080" y="621792"/>
            <a:ext cx="10911535" cy="685800"/>
          </a:xfrm>
          <a:prstGeom prst="rect">
            <a:avLst/>
          </a:prstGeom>
          <a:noFill/>
          <a:ln/>
        </p:spPr>
        <p:txBody>
          <a:bodyPr wrap="square" lIns="0" tIns="0" rIns="0" bIns="0" rtlCol="0" anchor="t"/>
          <a:lstStyle/>
          <a:p>
            <a:pPr indent="0" marL="0">
              <a:buNone/>
            </a:pPr>
            <a:r>
              <a:rPr lang="en-US" sz="2600" b="1" dirty="0">
                <a:solidFill>
                  <a:srgbClr val="16211F"/>
                </a:solidFill>
                <a:latin typeface="Yu Gothic" pitchFamily="34" charset="0"/>
                <a:ea typeface="Yu Gothic" pitchFamily="34" charset="-122"/>
                <a:cs typeface="Yu Gothic" pitchFamily="34" charset="-120"/>
              </a:rPr>
              <a:t>AIに作業だけでなく、判断の「相手」をさせます</a:t>
            </a:r>
            <a:endParaRPr lang="en-US" sz="2600" dirty="0"/>
          </a:p>
        </p:txBody>
      </p:sp>
      <p:sp>
        <p:nvSpPr>
          <p:cNvPr id="5" name="Text 3"/>
          <p:cNvSpPr/>
          <p:nvPr/>
        </p:nvSpPr>
        <p:spPr>
          <a:xfrm>
            <a:off x="10180015" y="6446520"/>
            <a:ext cx="1371600" cy="228600"/>
          </a:xfrm>
          <a:prstGeom prst="rect">
            <a:avLst/>
          </a:prstGeom>
          <a:noFill/>
          <a:ln/>
        </p:spPr>
        <p:txBody>
          <a:bodyPr wrap="square" lIns="0" tIns="0" rIns="0" bIns="0" rtlCol="0" anchor="ctr"/>
          <a:lstStyle/>
          <a:p>
            <a:pPr algn="r" indent="0" marL="0">
              <a:buNone/>
            </a:pPr>
            <a:r>
              <a:rPr lang="en-US" sz="900" dirty="0">
                <a:solidFill>
                  <a:srgbClr val="5E6E6A"/>
                </a:solidFill>
                <a:latin typeface="Yu Gothic" pitchFamily="34" charset="0"/>
                <a:ea typeface="Yu Gothic" pitchFamily="34" charset="-122"/>
                <a:cs typeface="Yu Gothic" pitchFamily="34" charset="-120"/>
              </a:rPr>
              <a:t>9 / 23</a:t>
            </a:r>
            <a:endParaRPr lang="en-US" sz="900" dirty="0"/>
          </a:p>
        </p:txBody>
      </p:sp>
      <p:sp>
        <p:nvSpPr>
          <p:cNvPr id="6" name="Text 4"/>
          <p:cNvSpPr/>
          <p:nvPr/>
        </p:nvSpPr>
        <p:spPr>
          <a:xfrm>
            <a:off x="640080" y="6446520"/>
            <a:ext cx="6400800" cy="228600"/>
          </a:xfrm>
          <a:prstGeom prst="rect">
            <a:avLst/>
          </a:prstGeom>
          <a:noFill/>
          <a:ln/>
        </p:spPr>
        <p:txBody>
          <a:bodyPr wrap="square" lIns="0" tIns="0" rIns="0" bIns="0" rtlCol="0" anchor="ctr"/>
          <a:lstStyle/>
          <a:p>
            <a:pPr indent="0" marL="0">
              <a:buNone/>
            </a:pPr>
            <a:r>
              <a:rPr lang="en-US" sz="900" dirty="0">
                <a:solidFill>
                  <a:srgbClr val="9FB2AD"/>
                </a:solidFill>
                <a:latin typeface="Yu Gothic" pitchFamily="34" charset="0"/>
                <a:ea typeface="Yu Gothic" pitchFamily="34" charset="-122"/>
                <a:cs typeface="Yu Gothic" pitchFamily="34" charset="-120"/>
              </a:rPr>
              <a:t>Security Days Fall 2026 Fukuoka　FB-05　小出 洋（九州大学）</a:t>
            </a:r>
            <a:endParaRPr lang="en-US" sz="900" dirty="0"/>
          </a:p>
        </p:txBody>
      </p:sp>
      <p:sp>
        <p:nvSpPr>
          <p:cNvPr id="7" name="Shape 5"/>
          <p:cNvSpPr/>
          <p:nvPr/>
        </p:nvSpPr>
        <p:spPr>
          <a:xfrm>
            <a:off x="640080" y="1554480"/>
            <a:ext cx="3503066" cy="3063240"/>
          </a:xfrm>
          <a:prstGeom prst="roundRect">
            <a:avLst>
              <a:gd name="adj" fmla="val 1493"/>
            </a:avLst>
          </a:prstGeom>
          <a:solidFill>
            <a:srgbClr val="EDF3F1"/>
          </a:solidFill>
          <a:ln w="9525">
            <a:solidFill>
              <a:srgbClr val="C9D5D1"/>
            </a:solidFill>
            <a:prstDash val="solid"/>
          </a:ln>
        </p:spPr>
      </p:sp>
      <p:sp>
        <p:nvSpPr>
          <p:cNvPr id="8" name="Text 6"/>
          <p:cNvSpPr/>
          <p:nvPr/>
        </p:nvSpPr>
        <p:spPr>
          <a:xfrm>
            <a:off x="822960" y="1700784"/>
            <a:ext cx="3137306" cy="411480"/>
          </a:xfrm>
          <a:prstGeom prst="rect">
            <a:avLst/>
          </a:prstGeom>
          <a:noFill/>
          <a:ln/>
        </p:spPr>
        <p:txBody>
          <a:bodyPr wrap="square" lIns="0" tIns="0" rIns="0" bIns="0" rtlCol="0" anchor="t"/>
          <a:lstStyle/>
          <a:p>
            <a:pPr indent="0" marL="0">
              <a:buNone/>
            </a:pPr>
            <a:r>
              <a:rPr lang="en-US" sz="1600" b="1" dirty="0">
                <a:solidFill>
                  <a:srgbClr val="2E7D6B"/>
                </a:solidFill>
                <a:latin typeface="Yu Gothic" pitchFamily="34" charset="0"/>
                <a:ea typeface="Yu Gothic" pitchFamily="34" charset="-122"/>
                <a:cs typeface="Yu Gothic" pitchFamily="34" charset="-120"/>
              </a:rPr>
              <a:t>選択肢を並べさせる</a:t>
            </a:r>
            <a:endParaRPr lang="en-US" sz="1600" dirty="0"/>
          </a:p>
        </p:txBody>
      </p:sp>
      <p:sp>
        <p:nvSpPr>
          <p:cNvPr id="9" name="Text 7"/>
          <p:cNvSpPr/>
          <p:nvPr/>
        </p:nvSpPr>
        <p:spPr>
          <a:xfrm>
            <a:off x="822960" y="2203704"/>
            <a:ext cx="3137306" cy="2304288"/>
          </a:xfrm>
          <a:prstGeom prst="rect">
            <a:avLst/>
          </a:prstGeom>
          <a:noFill/>
          <a:ln/>
        </p:spPr>
        <p:txBody>
          <a:bodyPr wrap="square" lIns="0" tIns="0" rIns="0" bIns="0" rtlCol="0" anchor="t"/>
          <a:lstStyle/>
          <a:p>
            <a:pPr indent="0" marL="0">
              <a:lnSpc>
                <a:spcPct val="115000"/>
              </a:lnSpc>
              <a:buNone/>
            </a:pPr>
            <a:r>
              <a:rPr lang="en-US" sz="1300" dirty="0">
                <a:solidFill>
                  <a:srgbClr val="16211F"/>
                </a:solidFill>
                <a:latin typeface="Yu Gothic" pitchFamily="34" charset="0"/>
                <a:ea typeface="Yu Gothic" pitchFamily="34" charset="-122"/>
                <a:cs typeface="Yu Gothic" pitchFamily="34" charset="-120"/>
              </a:rPr>
              <a:t>「止める／続ける／部分的に止める」を、それぞれの根拠・影響・取り消しやすさとともに並べさせます</a:t>
            </a:r>
            <a:endParaRPr lang="en-US" sz="1300" dirty="0"/>
          </a:p>
        </p:txBody>
      </p:sp>
      <p:sp>
        <p:nvSpPr>
          <p:cNvPr id="10" name="Shape 8"/>
          <p:cNvSpPr/>
          <p:nvPr/>
        </p:nvSpPr>
        <p:spPr>
          <a:xfrm>
            <a:off x="4344314" y="1554480"/>
            <a:ext cx="3503066" cy="3063240"/>
          </a:xfrm>
          <a:prstGeom prst="roundRect">
            <a:avLst>
              <a:gd name="adj" fmla="val 1493"/>
            </a:avLst>
          </a:prstGeom>
          <a:solidFill>
            <a:srgbClr val="EDF3F1"/>
          </a:solidFill>
          <a:ln w="9525">
            <a:solidFill>
              <a:srgbClr val="C9D5D1"/>
            </a:solidFill>
            <a:prstDash val="solid"/>
          </a:ln>
        </p:spPr>
      </p:sp>
      <p:sp>
        <p:nvSpPr>
          <p:cNvPr id="11" name="Text 9"/>
          <p:cNvSpPr/>
          <p:nvPr/>
        </p:nvSpPr>
        <p:spPr>
          <a:xfrm>
            <a:off x="4527194" y="1700784"/>
            <a:ext cx="3137306" cy="411480"/>
          </a:xfrm>
          <a:prstGeom prst="rect">
            <a:avLst/>
          </a:prstGeom>
          <a:noFill/>
          <a:ln/>
        </p:spPr>
        <p:txBody>
          <a:bodyPr wrap="square" lIns="0" tIns="0" rIns="0" bIns="0" rtlCol="0" anchor="t"/>
          <a:lstStyle/>
          <a:p>
            <a:pPr indent="0" marL="0">
              <a:buNone/>
            </a:pPr>
            <a:r>
              <a:rPr lang="en-US" sz="1600" b="1" dirty="0">
                <a:solidFill>
                  <a:srgbClr val="2E7D6B"/>
                </a:solidFill>
                <a:latin typeface="Yu Gothic" pitchFamily="34" charset="0"/>
                <a:ea typeface="Yu Gothic" pitchFamily="34" charset="-122"/>
                <a:cs typeface="Yu Gothic" pitchFamily="34" charset="-120"/>
              </a:rPr>
              <a:t>反対の立場から問わせる</a:t>
            </a:r>
            <a:endParaRPr lang="en-US" sz="1600" dirty="0"/>
          </a:p>
        </p:txBody>
      </p:sp>
      <p:sp>
        <p:nvSpPr>
          <p:cNvPr id="12" name="Text 10"/>
          <p:cNvSpPr/>
          <p:nvPr/>
        </p:nvSpPr>
        <p:spPr>
          <a:xfrm>
            <a:off x="4527194" y="2203704"/>
            <a:ext cx="3137306" cy="2304288"/>
          </a:xfrm>
          <a:prstGeom prst="rect">
            <a:avLst/>
          </a:prstGeom>
          <a:noFill/>
          <a:ln/>
        </p:spPr>
        <p:txBody>
          <a:bodyPr wrap="square" lIns="0" tIns="0" rIns="0" bIns="0" rtlCol="0" anchor="t"/>
          <a:lstStyle/>
          <a:p>
            <a:pPr indent="0" marL="0">
              <a:lnSpc>
                <a:spcPct val="115000"/>
              </a:lnSpc>
              <a:buNone/>
            </a:pPr>
            <a:r>
              <a:rPr lang="en-US" sz="1300" dirty="0">
                <a:solidFill>
                  <a:srgbClr val="16211F"/>
                </a:solidFill>
                <a:latin typeface="Yu Gothic" pitchFamily="34" charset="0"/>
                <a:ea typeface="Yu Gothic" pitchFamily="34" charset="-122"/>
                <a:cs typeface="Yu Gothic" pitchFamily="34" charset="-120"/>
              </a:rPr>
              <a:t>決めかけた案に対して、あえて反論させます。「止めない場合に一番困るのは誰か」</a:t>
            </a:r>
            <a:endParaRPr lang="en-US" sz="1300" dirty="0"/>
          </a:p>
        </p:txBody>
      </p:sp>
      <p:sp>
        <p:nvSpPr>
          <p:cNvPr id="13" name="Shape 11"/>
          <p:cNvSpPr/>
          <p:nvPr/>
        </p:nvSpPr>
        <p:spPr>
          <a:xfrm>
            <a:off x="8048549" y="1554480"/>
            <a:ext cx="3503066" cy="3063240"/>
          </a:xfrm>
          <a:prstGeom prst="roundRect">
            <a:avLst>
              <a:gd name="adj" fmla="val 1493"/>
            </a:avLst>
          </a:prstGeom>
          <a:solidFill>
            <a:srgbClr val="EDF3F1"/>
          </a:solidFill>
          <a:ln w="9525">
            <a:solidFill>
              <a:srgbClr val="C9D5D1"/>
            </a:solidFill>
            <a:prstDash val="solid"/>
          </a:ln>
        </p:spPr>
      </p:sp>
      <p:sp>
        <p:nvSpPr>
          <p:cNvPr id="14" name="Text 12"/>
          <p:cNvSpPr/>
          <p:nvPr/>
        </p:nvSpPr>
        <p:spPr>
          <a:xfrm>
            <a:off x="8231429" y="1700784"/>
            <a:ext cx="3137306" cy="411480"/>
          </a:xfrm>
          <a:prstGeom prst="rect">
            <a:avLst/>
          </a:prstGeom>
          <a:noFill/>
          <a:ln/>
        </p:spPr>
        <p:txBody>
          <a:bodyPr wrap="square" lIns="0" tIns="0" rIns="0" bIns="0" rtlCol="0" anchor="t"/>
          <a:lstStyle/>
          <a:p>
            <a:pPr indent="0" marL="0">
              <a:buNone/>
            </a:pPr>
            <a:r>
              <a:rPr lang="en-US" sz="1600" b="1" dirty="0">
                <a:solidFill>
                  <a:srgbClr val="2E7D6B"/>
                </a:solidFill>
                <a:latin typeface="Yu Gothic" pitchFamily="34" charset="0"/>
                <a:ea typeface="Yu Gothic" pitchFamily="34" charset="-122"/>
                <a:cs typeface="Yu Gothic" pitchFamily="34" charset="-120"/>
              </a:rPr>
              <a:t>見落とした前提を挙げさせる</a:t>
            </a:r>
            <a:endParaRPr lang="en-US" sz="1600" dirty="0"/>
          </a:p>
        </p:txBody>
      </p:sp>
      <p:sp>
        <p:nvSpPr>
          <p:cNvPr id="15" name="Text 13"/>
          <p:cNvSpPr/>
          <p:nvPr/>
        </p:nvSpPr>
        <p:spPr>
          <a:xfrm>
            <a:off x="8231429" y="2203704"/>
            <a:ext cx="3137306" cy="2304288"/>
          </a:xfrm>
          <a:prstGeom prst="rect">
            <a:avLst/>
          </a:prstGeom>
          <a:noFill/>
          <a:ln/>
        </p:spPr>
        <p:txBody>
          <a:bodyPr wrap="square" lIns="0" tIns="0" rIns="0" bIns="0" rtlCol="0" anchor="t"/>
          <a:lstStyle/>
          <a:p>
            <a:pPr indent="0" marL="0">
              <a:lnSpc>
                <a:spcPct val="115000"/>
              </a:lnSpc>
              <a:buNone/>
            </a:pPr>
            <a:r>
              <a:rPr lang="en-US" sz="1300" dirty="0">
                <a:solidFill>
                  <a:srgbClr val="16211F"/>
                </a:solidFill>
                <a:latin typeface="Yu Gothic" pitchFamily="34" charset="0"/>
                <a:ea typeface="Yu Gothic" pitchFamily="34" charset="-122"/>
                <a:cs typeface="Yu Gothic" pitchFamily="34" charset="-120"/>
              </a:rPr>
              <a:t>「この判断が間違っているとしたら、どの前提が崩れたときか」を挙げさせます</a:t>
            </a:r>
            <a:endParaRPr lang="en-US" sz="1300" dirty="0"/>
          </a:p>
        </p:txBody>
      </p:sp>
      <p:sp>
        <p:nvSpPr>
          <p:cNvPr id="16" name="Shape 14"/>
          <p:cNvSpPr/>
          <p:nvPr/>
        </p:nvSpPr>
        <p:spPr>
          <a:xfrm>
            <a:off x="640080" y="4892040"/>
            <a:ext cx="10911535" cy="658368"/>
          </a:xfrm>
          <a:prstGeom prst="rect">
            <a:avLst/>
          </a:prstGeom>
          <a:solidFill>
            <a:srgbClr val="F6EBD8"/>
          </a:solidFill>
          <a:ln/>
        </p:spPr>
      </p:sp>
      <p:sp>
        <p:nvSpPr>
          <p:cNvPr id="17" name="Shape 15"/>
          <p:cNvSpPr/>
          <p:nvPr/>
        </p:nvSpPr>
        <p:spPr>
          <a:xfrm>
            <a:off x="640080" y="4892040"/>
            <a:ext cx="73152" cy="658368"/>
          </a:xfrm>
          <a:prstGeom prst="rect">
            <a:avLst/>
          </a:prstGeom>
          <a:solidFill>
            <a:srgbClr val="C9821A"/>
          </a:solidFill>
          <a:ln/>
        </p:spPr>
      </p:sp>
      <p:sp>
        <p:nvSpPr>
          <p:cNvPr id="18" name="Text 16"/>
          <p:cNvSpPr/>
          <p:nvPr/>
        </p:nvSpPr>
        <p:spPr>
          <a:xfrm>
            <a:off x="914400" y="4965192"/>
            <a:ext cx="10454335" cy="512064"/>
          </a:xfrm>
          <a:prstGeom prst="rect">
            <a:avLst/>
          </a:prstGeom>
          <a:noFill/>
          <a:ln/>
        </p:spPr>
        <p:txBody>
          <a:bodyPr wrap="square" lIns="0" tIns="0" rIns="0" bIns="0" rtlCol="0" anchor="ctr"/>
          <a:lstStyle/>
          <a:p>
            <a:pPr indent="0" marL="0">
              <a:buNone/>
            </a:pPr>
            <a:r>
              <a:rPr lang="en-US" sz="1400" b="1" dirty="0">
                <a:solidFill>
                  <a:srgbClr val="16211F"/>
                </a:solidFill>
                <a:latin typeface="Yu Gothic" pitchFamily="34" charset="0"/>
                <a:ea typeface="Yu Gothic" pitchFamily="34" charset="-122"/>
                <a:cs typeface="Yu Gothic" pitchFamily="34" charset="-120"/>
              </a:rPr>
              <a:t>決めるのは人、責任を負うのも人です。AIは参謀であって、決裁者ではありません。</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2E7D6B"/>
          </a:solidFill>
          <a:ln/>
        </p:spPr>
      </p:sp>
      <p:sp>
        <p:nvSpPr>
          <p:cNvPr id="3" name="Text 1"/>
          <p:cNvSpPr/>
          <p:nvPr/>
        </p:nvSpPr>
        <p:spPr>
          <a:xfrm>
            <a:off x="640080" y="292608"/>
            <a:ext cx="7772400" cy="274320"/>
          </a:xfrm>
          <a:prstGeom prst="rect">
            <a:avLst/>
          </a:prstGeom>
          <a:noFill/>
          <a:ln/>
        </p:spPr>
        <p:txBody>
          <a:bodyPr wrap="square" lIns="0" tIns="0" rIns="0" bIns="0" rtlCol="0" anchor="ctr"/>
          <a:lstStyle/>
          <a:p>
            <a:pPr indent="0" marL="0">
              <a:buNone/>
            </a:pPr>
            <a:r>
              <a:rPr lang="en-US" sz="1200" b="1" dirty="0">
                <a:solidFill>
                  <a:srgbClr val="2E7D6B"/>
                </a:solidFill>
                <a:latin typeface="Yu Gothic" pitchFamily="34" charset="0"/>
                <a:ea typeface="Yu Gothic" pitchFamily="34" charset="-122"/>
                <a:cs typeface="Yu Gothic" pitchFamily="34" charset="-120"/>
              </a:rPr>
              <a:t>第2部　AIとともに判断する</a:t>
            </a:r>
            <a:endParaRPr lang="en-US" sz="1200" dirty="0"/>
          </a:p>
        </p:txBody>
      </p:sp>
      <p:sp>
        <p:nvSpPr>
          <p:cNvPr id="4" name="Text 2"/>
          <p:cNvSpPr/>
          <p:nvPr/>
        </p:nvSpPr>
        <p:spPr>
          <a:xfrm>
            <a:off x="640080" y="621792"/>
            <a:ext cx="10911535" cy="685800"/>
          </a:xfrm>
          <a:prstGeom prst="rect">
            <a:avLst/>
          </a:prstGeom>
          <a:noFill/>
          <a:ln/>
        </p:spPr>
        <p:txBody>
          <a:bodyPr wrap="square" lIns="0" tIns="0" rIns="0" bIns="0" rtlCol="0" anchor="t"/>
          <a:lstStyle/>
          <a:p>
            <a:pPr indent="0" marL="0">
              <a:buNone/>
            </a:pPr>
            <a:r>
              <a:rPr lang="en-US" sz="2600" b="1" dirty="0">
                <a:solidFill>
                  <a:srgbClr val="16211F"/>
                </a:solidFill>
                <a:latin typeface="Yu Gothic" pitchFamily="34" charset="0"/>
                <a:ea typeface="Yu Gothic" pitchFamily="34" charset="-122"/>
                <a:cs typeface="Yu Gothic" pitchFamily="34" charset="-120"/>
              </a:rPr>
              <a:t>AIの出力を受け取ったら、4つを問い直します</a:t>
            </a:r>
            <a:endParaRPr lang="en-US" sz="2600" dirty="0"/>
          </a:p>
        </p:txBody>
      </p:sp>
      <p:sp>
        <p:nvSpPr>
          <p:cNvPr id="5" name="Text 3"/>
          <p:cNvSpPr/>
          <p:nvPr/>
        </p:nvSpPr>
        <p:spPr>
          <a:xfrm>
            <a:off x="10180015" y="6446520"/>
            <a:ext cx="1371600" cy="228600"/>
          </a:xfrm>
          <a:prstGeom prst="rect">
            <a:avLst/>
          </a:prstGeom>
          <a:noFill/>
          <a:ln/>
        </p:spPr>
        <p:txBody>
          <a:bodyPr wrap="square" lIns="0" tIns="0" rIns="0" bIns="0" rtlCol="0" anchor="ctr"/>
          <a:lstStyle/>
          <a:p>
            <a:pPr algn="r" indent="0" marL="0">
              <a:buNone/>
            </a:pPr>
            <a:r>
              <a:rPr lang="en-US" sz="900" dirty="0">
                <a:solidFill>
                  <a:srgbClr val="5E6E6A"/>
                </a:solidFill>
                <a:latin typeface="Yu Gothic" pitchFamily="34" charset="0"/>
                <a:ea typeface="Yu Gothic" pitchFamily="34" charset="-122"/>
                <a:cs typeface="Yu Gothic" pitchFamily="34" charset="-120"/>
              </a:rPr>
              <a:t>10 / 23</a:t>
            </a:r>
            <a:endParaRPr lang="en-US" sz="900" dirty="0"/>
          </a:p>
        </p:txBody>
      </p:sp>
      <p:sp>
        <p:nvSpPr>
          <p:cNvPr id="6" name="Text 4"/>
          <p:cNvSpPr/>
          <p:nvPr/>
        </p:nvSpPr>
        <p:spPr>
          <a:xfrm>
            <a:off x="640080" y="6446520"/>
            <a:ext cx="6400800" cy="228600"/>
          </a:xfrm>
          <a:prstGeom prst="rect">
            <a:avLst/>
          </a:prstGeom>
          <a:noFill/>
          <a:ln/>
        </p:spPr>
        <p:txBody>
          <a:bodyPr wrap="square" lIns="0" tIns="0" rIns="0" bIns="0" rtlCol="0" anchor="ctr"/>
          <a:lstStyle/>
          <a:p>
            <a:pPr indent="0" marL="0">
              <a:buNone/>
            </a:pPr>
            <a:r>
              <a:rPr lang="en-US" sz="900" dirty="0">
                <a:solidFill>
                  <a:srgbClr val="9FB2AD"/>
                </a:solidFill>
                <a:latin typeface="Yu Gothic" pitchFamily="34" charset="0"/>
                <a:ea typeface="Yu Gothic" pitchFamily="34" charset="-122"/>
                <a:cs typeface="Yu Gothic" pitchFamily="34" charset="-120"/>
              </a:rPr>
              <a:t>Security Days Fall 2026 Fukuoka　FB-05　小出 洋（九州大学）</a:t>
            </a:r>
            <a:endParaRPr lang="en-US" sz="900" dirty="0"/>
          </a:p>
        </p:txBody>
      </p:sp>
      <p:sp>
        <p:nvSpPr>
          <p:cNvPr id="7" name="Text 5"/>
          <p:cNvSpPr/>
          <p:nvPr/>
        </p:nvSpPr>
        <p:spPr>
          <a:xfrm>
            <a:off x="640080" y="1417320"/>
            <a:ext cx="6766560" cy="274320"/>
          </a:xfrm>
          <a:prstGeom prst="rect">
            <a:avLst/>
          </a:prstGeom>
          <a:noFill/>
          <a:ln/>
        </p:spPr>
        <p:txBody>
          <a:bodyPr wrap="square" lIns="0" tIns="0" rIns="0" bIns="0" rtlCol="0" anchor="ctr"/>
          <a:lstStyle/>
          <a:p>
            <a:pPr indent="0" marL="0">
              <a:buNone/>
            </a:pPr>
            <a:r>
              <a:rPr lang="en-US" sz="1300" b="1" dirty="0">
                <a:solidFill>
                  <a:srgbClr val="5E6E6A"/>
                </a:solidFill>
                <a:latin typeface="Yu Gothic" pitchFamily="34" charset="0"/>
                <a:ea typeface="Yu Gothic" pitchFamily="34" charset="-122"/>
                <a:cs typeface="Yu Gothic" pitchFamily="34" charset="-120"/>
              </a:rPr>
              <a:t>AIが示した候補を、自社のシステムの構造へ戻して問い直す</a:t>
            </a:r>
            <a:endParaRPr lang="en-US" sz="1300" dirty="0"/>
          </a:p>
        </p:txBody>
      </p:sp>
      <p:sp>
        <p:nvSpPr>
          <p:cNvPr id="8" name="Shape 6"/>
          <p:cNvSpPr/>
          <p:nvPr/>
        </p:nvSpPr>
        <p:spPr>
          <a:xfrm>
            <a:off x="640080" y="1783080"/>
            <a:ext cx="3291840" cy="1234440"/>
          </a:xfrm>
          <a:prstGeom prst="roundRect">
            <a:avLst>
              <a:gd name="adj" fmla="val 3704"/>
            </a:avLst>
          </a:prstGeom>
          <a:solidFill>
            <a:srgbClr val="EDF3F1"/>
          </a:solidFill>
          <a:ln w="9525">
            <a:solidFill>
              <a:srgbClr val="C9D5D1"/>
            </a:solidFill>
            <a:prstDash val="solid"/>
          </a:ln>
        </p:spPr>
      </p:sp>
      <p:sp>
        <p:nvSpPr>
          <p:cNvPr id="9" name="Text 7"/>
          <p:cNvSpPr/>
          <p:nvPr/>
        </p:nvSpPr>
        <p:spPr>
          <a:xfrm>
            <a:off x="777240" y="1783080"/>
            <a:ext cx="3017520" cy="1234440"/>
          </a:xfrm>
          <a:prstGeom prst="rect">
            <a:avLst/>
          </a:prstGeom>
          <a:noFill/>
          <a:ln/>
        </p:spPr>
        <p:txBody>
          <a:bodyPr wrap="square" lIns="0" tIns="0" rIns="0" bIns="0" rtlCol="0" anchor="ctr"/>
          <a:lstStyle/>
          <a:p>
            <a:pPr algn="ctr" indent="0" marL="0">
              <a:buNone/>
            </a:pPr>
            <a:r>
              <a:rPr lang="en-US" sz="1700" b="1" dirty="0">
                <a:solidFill>
                  <a:srgbClr val="2E7D6B"/>
                </a:solidFill>
                <a:latin typeface="Yu Gothic" pitchFamily="34" charset="0"/>
                <a:ea typeface="Yu Gothic" pitchFamily="34" charset="-122"/>
                <a:cs typeface="Yu Gothic" pitchFamily="34" charset="-120"/>
              </a:rPr>
              <a:t>どの仮定が成り立っているか？</a:t>
            </a:r>
            <a:endParaRPr lang="en-US" sz="1700" dirty="0"/>
          </a:p>
        </p:txBody>
      </p:sp>
      <p:sp>
        <p:nvSpPr>
          <p:cNvPr id="10" name="Shape 8"/>
          <p:cNvSpPr/>
          <p:nvPr/>
        </p:nvSpPr>
        <p:spPr>
          <a:xfrm>
            <a:off x="4114800" y="1783080"/>
            <a:ext cx="3291840" cy="1234440"/>
          </a:xfrm>
          <a:prstGeom prst="roundRect">
            <a:avLst>
              <a:gd name="adj" fmla="val 3704"/>
            </a:avLst>
          </a:prstGeom>
          <a:solidFill>
            <a:srgbClr val="EDF3F1"/>
          </a:solidFill>
          <a:ln w="9525">
            <a:solidFill>
              <a:srgbClr val="C9D5D1"/>
            </a:solidFill>
            <a:prstDash val="solid"/>
          </a:ln>
        </p:spPr>
      </p:sp>
      <p:sp>
        <p:nvSpPr>
          <p:cNvPr id="11" name="Text 9"/>
          <p:cNvSpPr/>
          <p:nvPr/>
        </p:nvSpPr>
        <p:spPr>
          <a:xfrm>
            <a:off x="4251960" y="1783080"/>
            <a:ext cx="3017520" cy="1234440"/>
          </a:xfrm>
          <a:prstGeom prst="rect">
            <a:avLst/>
          </a:prstGeom>
          <a:noFill/>
          <a:ln/>
        </p:spPr>
        <p:txBody>
          <a:bodyPr wrap="square" lIns="0" tIns="0" rIns="0" bIns="0" rtlCol="0" anchor="ctr"/>
          <a:lstStyle/>
          <a:p>
            <a:pPr algn="ctr" indent="0" marL="0">
              <a:buNone/>
            </a:pPr>
            <a:r>
              <a:rPr lang="en-US" sz="1700" b="1" dirty="0">
                <a:solidFill>
                  <a:srgbClr val="2E7D6B"/>
                </a:solidFill>
                <a:latin typeface="Yu Gothic" pitchFamily="34" charset="0"/>
                <a:ea typeface="Yu Gothic" pitchFamily="34" charset="-122"/>
                <a:cs typeface="Yu Gothic" pitchFamily="34" charset="-120"/>
              </a:rPr>
              <a:t>どの証拠が足りないか？</a:t>
            </a:r>
            <a:endParaRPr lang="en-US" sz="1700" dirty="0"/>
          </a:p>
        </p:txBody>
      </p:sp>
      <p:sp>
        <p:nvSpPr>
          <p:cNvPr id="12" name="Shape 10"/>
          <p:cNvSpPr/>
          <p:nvPr/>
        </p:nvSpPr>
        <p:spPr>
          <a:xfrm>
            <a:off x="640080" y="3200400"/>
            <a:ext cx="3291840" cy="1234440"/>
          </a:xfrm>
          <a:prstGeom prst="roundRect">
            <a:avLst>
              <a:gd name="adj" fmla="val 3704"/>
            </a:avLst>
          </a:prstGeom>
          <a:solidFill>
            <a:srgbClr val="EDF3F1"/>
          </a:solidFill>
          <a:ln w="9525">
            <a:solidFill>
              <a:srgbClr val="C9D5D1"/>
            </a:solidFill>
            <a:prstDash val="solid"/>
          </a:ln>
        </p:spPr>
      </p:sp>
      <p:sp>
        <p:nvSpPr>
          <p:cNvPr id="13" name="Text 11"/>
          <p:cNvSpPr/>
          <p:nvPr/>
        </p:nvSpPr>
        <p:spPr>
          <a:xfrm>
            <a:off x="777240" y="3200400"/>
            <a:ext cx="3017520" cy="1234440"/>
          </a:xfrm>
          <a:prstGeom prst="rect">
            <a:avLst/>
          </a:prstGeom>
          <a:noFill/>
          <a:ln/>
        </p:spPr>
        <p:txBody>
          <a:bodyPr wrap="square" lIns="0" tIns="0" rIns="0" bIns="0" rtlCol="0" anchor="ctr"/>
          <a:lstStyle/>
          <a:p>
            <a:pPr algn="ctr" indent="0" marL="0">
              <a:buNone/>
            </a:pPr>
            <a:r>
              <a:rPr lang="en-US" sz="1700" b="1" dirty="0">
                <a:solidFill>
                  <a:srgbClr val="2E7D6B"/>
                </a:solidFill>
                <a:latin typeface="Yu Gothic" pitchFamily="34" charset="0"/>
                <a:ea typeface="Yu Gothic" pitchFamily="34" charset="-122"/>
                <a:cs typeface="Yu Gothic" pitchFamily="34" charset="-120"/>
              </a:rPr>
              <a:t>間違っていたら何が起きるか？</a:t>
            </a:r>
            <a:endParaRPr lang="en-US" sz="1700" dirty="0"/>
          </a:p>
        </p:txBody>
      </p:sp>
      <p:sp>
        <p:nvSpPr>
          <p:cNvPr id="14" name="Shape 12"/>
          <p:cNvSpPr/>
          <p:nvPr/>
        </p:nvSpPr>
        <p:spPr>
          <a:xfrm>
            <a:off x="4114800" y="3200400"/>
            <a:ext cx="3291840" cy="1234440"/>
          </a:xfrm>
          <a:prstGeom prst="roundRect">
            <a:avLst>
              <a:gd name="adj" fmla="val 3704"/>
            </a:avLst>
          </a:prstGeom>
          <a:solidFill>
            <a:srgbClr val="EDF3F1"/>
          </a:solidFill>
          <a:ln w="9525">
            <a:solidFill>
              <a:srgbClr val="C9D5D1"/>
            </a:solidFill>
            <a:prstDash val="solid"/>
          </a:ln>
        </p:spPr>
      </p:sp>
      <p:sp>
        <p:nvSpPr>
          <p:cNvPr id="15" name="Text 13"/>
          <p:cNvSpPr/>
          <p:nvPr/>
        </p:nvSpPr>
        <p:spPr>
          <a:xfrm>
            <a:off x="4251960" y="3200400"/>
            <a:ext cx="3017520" cy="1234440"/>
          </a:xfrm>
          <a:prstGeom prst="rect">
            <a:avLst/>
          </a:prstGeom>
          <a:noFill/>
          <a:ln/>
        </p:spPr>
        <p:txBody>
          <a:bodyPr wrap="square" lIns="0" tIns="0" rIns="0" bIns="0" rtlCol="0" anchor="ctr"/>
          <a:lstStyle/>
          <a:p>
            <a:pPr algn="ctr" indent="0" marL="0">
              <a:buNone/>
            </a:pPr>
            <a:r>
              <a:rPr lang="en-US" sz="1700" b="1" dirty="0">
                <a:solidFill>
                  <a:srgbClr val="2E7D6B"/>
                </a:solidFill>
                <a:latin typeface="Yu Gothic" pitchFamily="34" charset="0"/>
                <a:ea typeface="Yu Gothic" pitchFamily="34" charset="-122"/>
                <a:cs typeface="Yu Gothic" pitchFamily="34" charset="-120"/>
              </a:rPr>
              <a:t>組織の誰が決めるべきか？</a:t>
            </a:r>
            <a:endParaRPr lang="en-US" sz="1700" dirty="0"/>
          </a:p>
        </p:txBody>
      </p:sp>
      <p:sp>
        <p:nvSpPr>
          <p:cNvPr id="16" name="Shape 14"/>
          <p:cNvSpPr/>
          <p:nvPr/>
        </p:nvSpPr>
        <p:spPr>
          <a:xfrm>
            <a:off x="7680960" y="1783080"/>
            <a:ext cx="3870655" cy="2651760"/>
          </a:xfrm>
          <a:prstGeom prst="roundRect">
            <a:avLst>
              <a:gd name="adj" fmla="val 1724"/>
            </a:avLst>
          </a:prstGeom>
          <a:solidFill>
            <a:srgbClr val="F4F7F6"/>
          </a:solidFill>
          <a:ln w="9525">
            <a:solidFill>
              <a:srgbClr val="C9D5D1"/>
            </a:solidFill>
            <a:prstDash val="solid"/>
          </a:ln>
        </p:spPr>
      </p:sp>
      <p:sp>
        <p:nvSpPr>
          <p:cNvPr id="17" name="Text 15"/>
          <p:cNvSpPr/>
          <p:nvPr/>
        </p:nvSpPr>
        <p:spPr>
          <a:xfrm>
            <a:off x="7863840" y="1929384"/>
            <a:ext cx="3504895" cy="411480"/>
          </a:xfrm>
          <a:prstGeom prst="rect">
            <a:avLst/>
          </a:prstGeom>
          <a:noFill/>
          <a:ln/>
        </p:spPr>
        <p:txBody>
          <a:bodyPr wrap="square" lIns="0" tIns="0" rIns="0" bIns="0" rtlCol="0" anchor="t"/>
          <a:lstStyle/>
          <a:p>
            <a:pPr indent="0" marL="0">
              <a:buNone/>
            </a:pPr>
            <a:r>
              <a:rPr lang="en-US" sz="1600" b="1" dirty="0">
                <a:solidFill>
                  <a:srgbClr val="2E7D6B"/>
                </a:solidFill>
                <a:latin typeface="Yu Gothic" pitchFamily="34" charset="0"/>
                <a:ea typeface="Yu Gothic" pitchFamily="34" charset="-122"/>
                <a:cs typeface="Yu Gothic" pitchFamily="34" charset="-120"/>
              </a:rPr>
              <a:t>共通する姿勢</a:t>
            </a:r>
            <a:endParaRPr lang="en-US" sz="1600" dirty="0"/>
          </a:p>
        </p:txBody>
      </p:sp>
      <p:sp>
        <p:nvSpPr>
          <p:cNvPr id="18" name="Text 16"/>
          <p:cNvSpPr/>
          <p:nvPr/>
        </p:nvSpPr>
        <p:spPr>
          <a:xfrm>
            <a:off x="7863840" y="2432304"/>
            <a:ext cx="3504895" cy="1892808"/>
          </a:xfrm>
          <a:prstGeom prst="rect">
            <a:avLst/>
          </a:prstGeom>
          <a:noFill/>
          <a:ln/>
        </p:spPr>
        <p:txBody>
          <a:bodyPr wrap="square" lIns="0" tIns="0" rIns="0" bIns="0" rtlCol="0" anchor="t"/>
          <a:lstStyle/>
          <a:p>
            <a:pPr indent="0" marL="0">
              <a:lnSpc>
                <a:spcPct val="115000"/>
              </a:lnSpc>
              <a:buNone/>
            </a:pPr>
            <a:r>
              <a:rPr lang="en-US" sz="1350" dirty="0">
                <a:solidFill>
                  <a:srgbClr val="16211F"/>
                </a:solidFill>
                <a:latin typeface="Yu Gothic" pitchFamily="34" charset="0"/>
                <a:ea typeface="Yu Gothic" pitchFamily="34" charset="-122"/>
                <a:cs typeface="Yu Gothic" pitchFamily="34" charset="-120"/>
              </a:rPr>
              <a:t>確実な情報が少ない中で、判断を遅らせすぎず、かつAIを過信しない。</a:t>
            </a:r>
            <a:endParaRPr lang="en-US" sz="1350" dirty="0"/>
          </a:p>
          <a:p>
            <a:pPr indent="0" marL="0">
              <a:lnSpc>
                <a:spcPct val="115000"/>
              </a:lnSpc>
              <a:buNone/>
            </a:pPr>
            <a:endParaRPr lang="en-US" sz="1350" dirty="0"/>
          </a:p>
          <a:p>
            <a:pPr indent="0" marL="0">
              <a:lnSpc>
                <a:spcPct val="115000"/>
              </a:lnSpc>
              <a:buNone/>
            </a:pPr>
            <a:r>
              <a:rPr lang="en-US" sz="1350" dirty="0">
                <a:solidFill>
                  <a:srgbClr val="16211F"/>
                </a:solidFill>
                <a:latin typeface="Yu Gothic" pitchFamily="34" charset="0"/>
                <a:ea typeface="Yu Gothic" pitchFamily="34" charset="-122"/>
                <a:cs typeface="Yu Gothic" pitchFamily="34" charset="-120"/>
              </a:rPr>
              <a:t>AIの出力は「答え」ではなく「検証すべき仮説」です。</a:t>
            </a:r>
            <a:endParaRPr lang="en-US" sz="1350" dirty="0"/>
          </a:p>
        </p:txBody>
      </p:sp>
      <p:sp>
        <p:nvSpPr>
          <p:cNvPr id="19" name="Shape 17"/>
          <p:cNvSpPr/>
          <p:nvPr/>
        </p:nvSpPr>
        <p:spPr>
          <a:xfrm>
            <a:off x="640080" y="4892040"/>
            <a:ext cx="10911535" cy="658368"/>
          </a:xfrm>
          <a:prstGeom prst="rect">
            <a:avLst/>
          </a:prstGeom>
          <a:solidFill>
            <a:srgbClr val="F6EBD8"/>
          </a:solidFill>
          <a:ln/>
        </p:spPr>
      </p:sp>
      <p:sp>
        <p:nvSpPr>
          <p:cNvPr id="20" name="Shape 18"/>
          <p:cNvSpPr/>
          <p:nvPr/>
        </p:nvSpPr>
        <p:spPr>
          <a:xfrm>
            <a:off x="640080" y="4892040"/>
            <a:ext cx="73152" cy="658368"/>
          </a:xfrm>
          <a:prstGeom prst="rect">
            <a:avLst/>
          </a:prstGeom>
          <a:solidFill>
            <a:srgbClr val="C9821A"/>
          </a:solidFill>
          <a:ln/>
        </p:spPr>
      </p:sp>
      <p:sp>
        <p:nvSpPr>
          <p:cNvPr id="21" name="Text 19"/>
          <p:cNvSpPr/>
          <p:nvPr/>
        </p:nvSpPr>
        <p:spPr>
          <a:xfrm>
            <a:off x="914400" y="4965192"/>
            <a:ext cx="10454335" cy="512064"/>
          </a:xfrm>
          <a:prstGeom prst="rect">
            <a:avLst/>
          </a:prstGeom>
          <a:noFill/>
          <a:ln/>
        </p:spPr>
        <p:txBody>
          <a:bodyPr wrap="square" lIns="0" tIns="0" rIns="0" bIns="0" rtlCol="0" anchor="ctr"/>
          <a:lstStyle/>
          <a:p>
            <a:pPr indent="0" marL="0">
              <a:buNone/>
            </a:pPr>
            <a:r>
              <a:rPr lang="en-US" sz="1400" b="1" dirty="0">
                <a:solidFill>
                  <a:srgbClr val="16211F"/>
                </a:solidFill>
                <a:latin typeface="Yu Gothic" pitchFamily="34" charset="0"/>
                <a:ea typeface="Yu Gothic" pitchFamily="34" charset="-122"/>
                <a:cs typeface="Yu Gothic" pitchFamily="34" charset="-120"/>
              </a:rPr>
              <a:t>「AIを使いこなす」ことより、AIの出力を自社のシステムと組織の文脈に置き直すことが要です。</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2E7D6B"/>
          </a:solidFill>
          <a:ln/>
        </p:spPr>
      </p:sp>
      <p:sp>
        <p:nvSpPr>
          <p:cNvPr id="3" name="Text 1"/>
          <p:cNvSpPr/>
          <p:nvPr/>
        </p:nvSpPr>
        <p:spPr>
          <a:xfrm>
            <a:off x="640080" y="292608"/>
            <a:ext cx="7772400" cy="274320"/>
          </a:xfrm>
          <a:prstGeom prst="rect">
            <a:avLst/>
          </a:prstGeom>
          <a:noFill/>
          <a:ln/>
        </p:spPr>
        <p:txBody>
          <a:bodyPr wrap="square" lIns="0" tIns="0" rIns="0" bIns="0" rtlCol="0" anchor="ctr"/>
          <a:lstStyle/>
          <a:p>
            <a:pPr indent="0" marL="0">
              <a:buNone/>
            </a:pPr>
            <a:r>
              <a:rPr lang="en-US" sz="1200" b="1" dirty="0">
                <a:solidFill>
                  <a:srgbClr val="2E7D6B"/>
                </a:solidFill>
                <a:latin typeface="Yu Gothic" pitchFamily="34" charset="0"/>
                <a:ea typeface="Yu Gothic" pitchFamily="34" charset="-122"/>
                <a:cs typeface="Yu Gothic" pitchFamily="34" charset="-120"/>
              </a:rPr>
              <a:t>第2部　ミニ演習（会場参加）</a:t>
            </a:r>
            <a:endParaRPr lang="en-US" sz="1200" dirty="0"/>
          </a:p>
        </p:txBody>
      </p:sp>
      <p:sp>
        <p:nvSpPr>
          <p:cNvPr id="4" name="Text 2"/>
          <p:cNvSpPr/>
          <p:nvPr/>
        </p:nvSpPr>
        <p:spPr>
          <a:xfrm>
            <a:off x="640080" y="621792"/>
            <a:ext cx="10911535" cy="685800"/>
          </a:xfrm>
          <a:prstGeom prst="rect">
            <a:avLst/>
          </a:prstGeom>
          <a:noFill/>
          <a:ln/>
        </p:spPr>
        <p:txBody>
          <a:bodyPr wrap="square" lIns="0" tIns="0" rIns="0" bIns="0" rtlCol="0" anchor="t"/>
          <a:lstStyle/>
          <a:p>
            <a:pPr indent="0" marL="0">
              <a:buNone/>
            </a:pPr>
            <a:r>
              <a:rPr lang="en-US" sz="2600" b="1" dirty="0">
                <a:solidFill>
                  <a:srgbClr val="16211F"/>
                </a:solidFill>
                <a:latin typeface="Yu Gothic" pitchFamily="34" charset="0"/>
                <a:ea typeface="Yu Gothic" pitchFamily="34" charset="-122"/>
                <a:cs typeface="Yu Gothic" pitchFamily="34" charset="-120"/>
              </a:rPr>
              <a:t>ミニ演習：金曜17時、重大な脆弱性が公表されました</a:t>
            </a:r>
            <a:endParaRPr lang="en-US" sz="2600" dirty="0"/>
          </a:p>
        </p:txBody>
      </p:sp>
      <p:sp>
        <p:nvSpPr>
          <p:cNvPr id="5" name="Text 3"/>
          <p:cNvSpPr/>
          <p:nvPr/>
        </p:nvSpPr>
        <p:spPr>
          <a:xfrm>
            <a:off x="10180015" y="6446520"/>
            <a:ext cx="1371600" cy="228600"/>
          </a:xfrm>
          <a:prstGeom prst="rect">
            <a:avLst/>
          </a:prstGeom>
          <a:noFill/>
          <a:ln/>
        </p:spPr>
        <p:txBody>
          <a:bodyPr wrap="square" lIns="0" tIns="0" rIns="0" bIns="0" rtlCol="0" anchor="ctr"/>
          <a:lstStyle/>
          <a:p>
            <a:pPr algn="r" indent="0" marL="0">
              <a:buNone/>
            </a:pPr>
            <a:r>
              <a:rPr lang="en-US" sz="900" dirty="0">
                <a:solidFill>
                  <a:srgbClr val="5E6E6A"/>
                </a:solidFill>
                <a:latin typeface="Yu Gothic" pitchFamily="34" charset="0"/>
                <a:ea typeface="Yu Gothic" pitchFamily="34" charset="-122"/>
                <a:cs typeface="Yu Gothic" pitchFamily="34" charset="-120"/>
              </a:rPr>
              <a:t>11 / 23</a:t>
            </a:r>
            <a:endParaRPr lang="en-US" sz="900" dirty="0"/>
          </a:p>
        </p:txBody>
      </p:sp>
      <p:sp>
        <p:nvSpPr>
          <p:cNvPr id="6" name="Text 4"/>
          <p:cNvSpPr/>
          <p:nvPr/>
        </p:nvSpPr>
        <p:spPr>
          <a:xfrm>
            <a:off x="640080" y="6446520"/>
            <a:ext cx="6400800" cy="228600"/>
          </a:xfrm>
          <a:prstGeom prst="rect">
            <a:avLst/>
          </a:prstGeom>
          <a:noFill/>
          <a:ln/>
        </p:spPr>
        <p:txBody>
          <a:bodyPr wrap="square" lIns="0" tIns="0" rIns="0" bIns="0" rtlCol="0" anchor="ctr"/>
          <a:lstStyle/>
          <a:p>
            <a:pPr indent="0" marL="0">
              <a:buNone/>
            </a:pPr>
            <a:r>
              <a:rPr lang="en-US" sz="900" dirty="0">
                <a:solidFill>
                  <a:srgbClr val="9FB2AD"/>
                </a:solidFill>
                <a:latin typeface="Yu Gothic" pitchFamily="34" charset="0"/>
                <a:ea typeface="Yu Gothic" pitchFamily="34" charset="-122"/>
                <a:cs typeface="Yu Gothic" pitchFamily="34" charset="-120"/>
              </a:rPr>
              <a:t>Security Days Fall 2026 Fukuoka　FB-05　小出 洋（九州大学）</a:t>
            </a:r>
            <a:endParaRPr lang="en-US" sz="900" dirty="0"/>
          </a:p>
        </p:txBody>
      </p:sp>
      <p:sp>
        <p:nvSpPr>
          <p:cNvPr id="7" name="Text 5"/>
          <p:cNvSpPr/>
          <p:nvPr/>
        </p:nvSpPr>
        <p:spPr>
          <a:xfrm>
            <a:off x="640080" y="1417320"/>
            <a:ext cx="5760720" cy="274320"/>
          </a:xfrm>
          <a:prstGeom prst="rect">
            <a:avLst/>
          </a:prstGeom>
          <a:noFill/>
          <a:ln/>
        </p:spPr>
        <p:txBody>
          <a:bodyPr wrap="square" lIns="0" tIns="0" rIns="0" bIns="0" rtlCol="0" anchor="ctr"/>
          <a:lstStyle/>
          <a:p>
            <a:pPr indent="0" marL="0">
              <a:buNone/>
            </a:pPr>
            <a:r>
              <a:rPr lang="en-US" sz="1300" b="1" dirty="0">
                <a:solidFill>
                  <a:srgbClr val="2E7D6B"/>
                </a:solidFill>
                <a:latin typeface="Yu Gothic" pitchFamily="34" charset="0"/>
                <a:ea typeface="Yu Gothic" pitchFamily="34" charset="-122"/>
                <a:cs typeface="Yu Gothic" pitchFamily="34" charset="-120"/>
              </a:rPr>
              <a:t>前提</a:t>
            </a:r>
            <a:endParaRPr lang="en-US" sz="1300" dirty="0"/>
          </a:p>
        </p:txBody>
      </p:sp>
      <p:sp>
        <p:nvSpPr>
          <p:cNvPr id="8" name="Text 6"/>
          <p:cNvSpPr/>
          <p:nvPr/>
        </p:nvSpPr>
        <p:spPr>
          <a:xfrm>
            <a:off x="640080" y="1737360"/>
            <a:ext cx="5760720" cy="2011680"/>
          </a:xfrm>
          <a:prstGeom prst="rect">
            <a:avLst/>
          </a:prstGeom>
          <a:noFill/>
          <a:ln/>
        </p:spPr>
        <p:txBody>
          <a:bodyPr wrap="square" lIns="0" tIns="0" rIns="0" bIns="0" rtlCol="0" anchor="t"/>
          <a:lstStyle/>
          <a:p>
            <a:pPr indent="0" marL="0">
              <a:lnSpc>
                <a:spcPct val="125000"/>
              </a:lnSpc>
              <a:buNone/>
            </a:pPr>
            <a:r>
              <a:rPr lang="en-US" sz="1400" dirty="0">
                <a:solidFill>
                  <a:srgbClr val="16211F"/>
                </a:solidFill>
                <a:latin typeface="Yu Gothic" pitchFamily="34" charset="0"/>
                <a:ea typeface="Yu Gothic" pitchFamily="34" charset="-122"/>
                <a:cs typeface="Yu Gothic" pitchFamily="34" charset="-120"/>
              </a:rPr>
              <a:t>・自社の Web システムを複数の顧客企業が使っている</a:t>
            </a:r>
            <a:endParaRPr lang="en-US" sz="1400" dirty="0"/>
          </a:p>
          <a:p>
            <a:pPr indent="0" marL="0">
              <a:lnSpc>
                <a:spcPct val="125000"/>
              </a:lnSpc>
              <a:buNone/>
            </a:pPr>
            <a:r>
              <a:rPr lang="en-US" sz="1400" dirty="0">
                <a:solidFill>
                  <a:srgbClr val="16211F"/>
                </a:solidFill>
                <a:latin typeface="Yu Gothic" pitchFamily="34" charset="0"/>
                <a:ea typeface="Yu Gothic" pitchFamily="34" charset="-122"/>
                <a:cs typeface="Yu Gothic" pitchFamily="34" charset="-120"/>
              </a:rPr>
              <a:t>・利用しているフレームワークに重大な脆弱性。攻撃コードは公開済み</a:t>
            </a:r>
            <a:endParaRPr lang="en-US" sz="1400" dirty="0"/>
          </a:p>
          <a:p>
            <a:pPr indent="0" marL="0">
              <a:lnSpc>
                <a:spcPct val="125000"/>
              </a:lnSpc>
              <a:buNone/>
            </a:pPr>
            <a:r>
              <a:rPr lang="en-US" sz="1400" dirty="0">
                <a:solidFill>
                  <a:srgbClr val="16211F"/>
                </a:solidFill>
                <a:latin typeface="Yu Gothic" pitchFamily="34" charset="0"/>
                <a:ea typeface="Yu Gothic" pitchFamily="34" charset="-122"/>
                <a:cs typeface="Yu Gothic" pitchFamily="34" charset="-120"/>
              </a:rPr>
              <a:t>・脆弱な機能を実際に使っているかは未確認。攻撃の痕跡はまだない</a:t>
            </a:r>
            <a:endParaRPr lang="en-US" sz="1400" dirty="0"/>
          </a:p>
          <a:p>
            <a:pPr indent="0" marL="0">
              <a:lnSpc>
                <a:spcPct val="125000"/>
              </a:lnSpc>
              <a:buNone/>
            </a:pPr>
            <a:r>
              <a:rPr lang="en-US" sz="1400" dirty="0">
                <a:solidFill>
                  <a:srgbClr val="16211F"/>
                </a:solidFill>
                <a:latin typeface="Yu Gothic" pitchFamily="34" charset="0"/>
                <a:ea typeface="Yu Gothic" pitchFamily="34" charset="-122"/>
                <a:cs typeface="Yu Gothic" pitchFamily="34" charset="-120"/>
              </a:rPr>
              <a:t>・月曜午前に、大口顧客向けの機能リリースを予定している</a:t>
            </a:r>
            <a:endParaRPr lang="en-US" sz="1400" dirty="0"/>
          </a:p>
        </p:txBody>
      </p:sp>
      <p:sp>
        <p:nvSpPr>
          <p:cNvPr id="9" name="Shape 7"/>
          <p:cNvSpPr/>
          <p:nvPr/>
        </p:nvSpPr>
        <p:spPr>
          <a:xfrm>
            <a:off x="640080" y="3840480"/>
            <a:ext cx="5760720" cy="1325880"/>
          </a:xfrm>
          <a:prstGeom prst="roundRect">
            <a:avLst>
              <a:gd name="adj" fmla="val 3448"/>
            </a:avLst>
          </a:prstGeom>
          <a:solidFill>
            <a:srgbClr val="F6EBD8"/>
          </a:solidFill>
          <a:ln w="12700">
            <a:solidFill>
              <a:srgbClr val="C9821A"/>
            </a:solidFill>
            <a:prstDash val="solid"/>
          </a:ln>
        </p:spPr>
      </p:sp>
      <p:sp>
        <p:nvSpPr>
          <p:cNvPr id="10" name="Text 8"/>
          <p:cNvSpPr/>
          <p:nvPr/>
        </p:nvSpPr>
        <p:spPr>
          <a:xfrm>
            <a:off x="822960" y="3950208"/>
            <a:ext cx="5394960" cy="320040"/>
          </a:xfrm>
          <a:prstGeom prst="rect">
            <a:avLst/>
          </a:prstGeom>
          <a:noFill/>
          <a:ln/>
        </p:spPr>
        <p:txBody>
          <a:bodyPr wrap="square" lIns="0" tIns="0" rIns="0" bIns="0" rtlCol="0" anchor="ctr"/>
          <a:lstStyle/>
          <a:p>
            <a:pPr indent="0" marL="0">
              <a:buNone/>
            </a:pPr>
            <a:r>
              <a:rPr lang="en-US" sz="1400" b="1" dirty="0">
                <a:solidFill>
                  <a:srgbClr val="C9821A"/>
                </a:solidFill>
                <a:latin typeface="Yu Gothic" pitchFamily="34" charset="0"/>
                <a:ea typeface="Yu Gothic" pitchFamily="34" charset="-122"/>
                <a:cs typeface="Yu Gothic" pitchFamily="34" charset="-120"/>
              </a:rPr>
              <a:t>18時、AIエージェントの調査結果が届く</a:t>
            </a:r>
            <a:endParaRPr lang="en-US" sz="1400" dirty="0"/>
          </a:p>
        </p:txBody>
      </p:sp>
      <p:sp>
        <p:nvSpPr>
          <p:cNvPr id="11" name="Text 9"/>
          <p:cNvSpPr/>
          <p:nvPr/>
        </p:nvSpPr>
        <p:spPr>
          <a:xfrm>
            <a:off x="822960" y="4297680"/>
            <a:ext cx="5394960" cy="777240"/>
          </a:xfrm>
          <a:prstGeom prst="rect">
            <a:avLst/>
          </a:prstGeom>
          <a:noFill/>
          <a:ln/>
        </p:spPr>
        <p:txBody>
          <a:bodyPr wrap="square" lIns="0" tIns="0" rIns="0" bIns="0" rtlCol="0" anchor="t"/>
          <a:lstStyle/>
          <a:p>
            <a:pPr indent="0" marL="0">
              <a:buNone/>
            </a:pPr>
            <a:r>
              <a:rPr lang="en-US" sz="1350" dirty="0">
                <a:solidFill>
                  <a:srgbClr val="16211F"/>
                </a:solidFill>
                <a:latin typeface="Yu Gothic" pitchFamily="34" charset="0"/>
                <a:ea typeface="Yu Gothic" pitchFamily="34" charset="-122"/>
                <a:cs typeface="Yu Gothic" pitchFamily="34" charset="-120"/>
              </a:rPr>
              <a:t>「脆弱な機能は使われていない可能性が高い（コードの静的解析による）。リリースは予定どおりで問題ないと考えられる」</a:t>
            </a:r>
            <a:endParaRPr lang="en-US" sz="1350" dirty="0"/>
          </a:p>
        </p:txBody>
      </p:sp>
      <p:sp>
        <p:nvSpPr>
          <p:cNvPr id="12" name="Text 10"/>
          <p:cNvSpPr/>
          <p:nvPr/>
        </p:nvSpPr>
        <p:spPr>
          <a:xfrm>
            <a:off x="6720840" y="1417320"/>
            <a:ext cx="4830775" cy="274320"/>
          </a:xfrm>
          <a:prstGeom prst="rect">
            <a:avLst/>
          </a:prstGeom>
          <a:noFill/>
          <a:ln/>
        </p:spPr>
        <p:txBody>
          <a:bodyPr wrap="square" lIns="0" tIns="0" rIns="0" bIns="0" rtlCol="0" anchor="ctr"/>
          <a:lstStyle/>
          <a:p>
            <a:pPr indent="0" marL="0">
              <a:buNone/>
            </a:pPr>
            <a:r>
              <a:rPr lang="en-US" sz="1300" b="1" dirty="0">
                <a:solidFill>
                  <a:srgbClr val="2E7D6B"/>
                </a:solidFill>
                <a:latin typeface="Yu Gothic" pitchFamily="34" charset="0"/>
                <a:ea typeface="Yu Gothic" pitchFamily="34" charset="-122"/>
                <a:cs typeface="Yu Gothic" pitchFamily="34" charset="-120"/>
              </a:rPr>
              <a:t>判断してください</a:t>
            </a:r>
            <a:endParaRPr lang="en-US" sz="1300" dirty="0"/>
          </a:p>
        </p:txBody>
      </p:sp>
      <p:sp>
        <p:nvSpPr>
          <p:cNvPr id="13" name="Shape 11"/>
          <p:cNvSpPr/>
          <p:nvPr/>
        </p:nvSpPr>
        <p:spPr>
          <a:xfrm>
            <a:off x="6720840" y="1783080"/>
            <a:ext cx="4830775" cy="987552"/>
          </a:xfrm>
          <a:prstGeom prst="roundRect">
            <a:avLst>
              <a:gd name="adj" fmla="val 4630"/>
            </a:avLst>
          </a:prstGeom>
          <a:solidFill>
            <a:srgbClr val="EDF3F1"/>
          </a:solidFill>
          <a:ln w="9525">
            <a:solidFill>
              <a:srgbClr val="C9D5D1"/>
            </a:solidFill>
            <a:prstDash val="solid"/>
          </a:ln>
        </p:spPr>
      </p:sp>
      <p:sp>
        <p:nvSpPr>
          <p:cNvPr id="14" name="Shape 12"/>
          <p:cNvSpPr/>
          <p:nvPr/>
        </p:nvSpPr>
        <p:spPr>
          <a:xfrm>
            <a:off x="6885432" y="2029968"/>
            <a:ext cx="502920" cy="502920"/>
          </a:xfrm>
          <a:prstGeom prst="ellipse">
            <a:avLst/>
          </a:prstGeom>
          <a:solidFill>
            <a:srgbClr val="2E7D6B"/>
          </a:solidFill>
          <a:ln/>
        </p:spPr>
      </p:sp>
      <p:sp>
        <p:nvSpPr>
          <p:cNvPr id="15" name="Text 13"/>
          <p:cNvSpPr/>
          <p:nvPr/>
        </p:nvSpPr>
        <p:spPr>
          <a:xfrm>
            <a:off x="6885432" y="2029968"/>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A</a:t>
            </a:r>
            <a:endParaRPr lang="en-US" sz="1800" dirty="0"/>
          </a:p>
        </p:txBody>
      </p:sp>
      <p:sp>
        <p:nvSpPr>
          <p:cNvPr id="16" name="Text 14"/>
          <p:cNvSpPr/>
          <p:nvPr/>
        </p:nvSpPr>
        <p:spPr>
          <a:xfrm>
            <a:off x="7543800" y="1874520"/>
            <a:ext cx="3870655" cy="804672"/>
          </a:xfrm>
          <a:prstGeom prst="rect">
            <a:avLst/>
          </a:prstGeom>
          <a:noFill/>
          <a:ln/>
        </p:spPr>
        <p:txBody>
          <a:bodyPr wrap="square" lIns="0" tIns="0" rIns="0" bIns="0" rtlCol="0" anchor="ctr"/>
          <a:lstStyle/>
          <a:p>
            <a:pPr indent="0" marL="0">
              <a:buNone/>
            </a:pPr>
            <a:r>
              <a:rPr lang="en-US" sz="1500" dirty="0">
                <a:solidFill>
                  <a:srgbClr val="16211F"/>
                </a:solidFill>
                <a:latin typeface="Yu Gothic" pitchFamily="34" charset="0"/>
                <a:ea typeface="Yu Gothic" pitchFamily="34" charset="-122"/>
                <a:cs typeface="Yu Gothic" pitchFamily="34" charset="-120"/>
              </a:rPr>
              <a:t>リリース延期を即決し、週末に緊急対応する</a:t>
            </a:r>
            <a:endParaRPr lang="en-US" sz="1500" dirty="0"/>
          </a:p>
        </p:txBody>
      </p:sp>
      <p:sp>
        <p:nvSpPr>
          <p:cNvPr id="17" name="Shape 15"/>
          <p:cNvSpPr/>
          <p:nvPr/>
        </p:nvSpPr>
        <p:spPr>
          <a:xfrm>
            <a:off x="6720840" y="2926080"/>
            <a:ext cx="4830775" cy="987552"/>
          </a:xfrm>
          <a:prstGeom prst="roundRect">
            <a:avLst>
              <a:gd name="adj" fmla="val 4630"/>
            </a:avLst>
          </a:prstGeom>
          <a:solidFill>
            <a:srgbClr val="EDF3F1"/>
          </a:solidFill>
          <a:ln w="9525">
            <a:solidFill>
              <a:srgbClr val="C9D5D1"/>
            </a:solidFill>
            <a:prstDash val="solid"/>
          </a:ln>
        </p:spPr>
      </p:sp>
      <p:sp>
        <p:nvSpPr>
          <p:cNvPr id="18" name="Shape 16"/>
          <p:cNvSpPr/>
          <p:nvPr/>
        </p:nvSpPr>
        <p:spPr>
          <a:xfrm>
            <a:off x="6885432" y="3172968"/>
            <a:ext cx="502920" cy="502920"/>
          </a:xfrm>
          <a:prstGeom prst="ellipse">
            <a:avLst/>
          </a:prstGeom>
          <a:solidFill>
            <a:srgbClr val="2E7D6B"/>
          </a:solidFill>
          <a:ln/>
        </p:spPr>
      </p:sp>
      <p:sp>
        <p:nvSpPr>
          <p:cNvPr id="19" name="Text 17"/>
          <p:cNvSpPr/>
          <p:nvPr/>
        </p:nvSpPr>
        <p:spPr>
          <a:xfrm>
            <a:off x="6885432" y="3172968"/>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B</a:t>
            </a:r>
            <a:endParaRPr lang="en-US" sz="1800" dirty="0"/>
          </a:p>
        </p:txBody>
      </p:sp>
      <p:sp>
        <p:nvSpPr>
          <p:cNvPr id="20" name="Text 18"/>
          <p:cNvSpPr/>
          <p:nvPr/>
        </p:nvSpPr>
        <p:spPr>
          <a:xfrm>
            <a:off x="7543800" y="3017520"/>
            <a:ext cx="3870655" cy="804672"/>
          </a:xfrm>
          <a:prstGeom prst="rect">
            <a:avLst/>
          </a:prstGeom>
          <a:noFill/>
          <a:ln/>
        </p:spPr>
        <p:txBody>
          <a:bodyPr wrap="square" lIns="0" tIns="0" rIns="0" bIns="0" rtlCol="0" anchor="ctr"/>
          <a:lstStyle/>
          <a:p>
            <a:pPr indent="0" marL="0">
              <a:buNone/>
            </a:pPr>
            <a:r>
              <a:rPr lang="en-US" sz="1500" dirty="0">
                <a:solidFill>
                  <a:srgbClr val="16211F"/>
                </a:solidFill>
                <a:latin typeface="Yu Gothic" pitchFamily="34" charset="0"/>
                <a:ea typeface="Yu Gothic" pitchFamily="34" charset="-122"/>
                <a:cs typeface="Yu Gothic" pitchFamily="34" charset="-120"/>
              </a:rPr>
              <a:t>AIの結果を受けて、月曜リリースは予定どおり実施する</a:t>
            </a:r>
            <a:endParaRPr lang="en-US" sz="1500" dirty="0"/>
          </a:p>
        </p:txBody>
      </p:sp>
      <p:sp>
        <p:nvSpPr>
          <p:cNvPr id="21" name="Shape 19"/>
          <p:cNvSpPr/>
          <p:nvPr/>
        </p:nvSpPr>
        <p:spPr>
          <a:xfrm>
            <a:off x="6720840" y="4069080"/>
            <a:ext cx="4830775" cy="987552"/>
          </a:xfrm>
          <a:prstGeom prst="roundRect">
            <a:avLst>
              <a:gd name="adj" fmla="val 4630"/>
            </a:avLst>
          </a:prstGeom>
          <a:solidFill>
            <a:srgbClr val="EDF3F1"/>
          </a:solidFill>
          <a:ln w="9525">
            <a:solidFill>
              <a:srgbClr val="C9D5D1"/>
            </a:solidFill>
            <a:prstDash val="solid"/>
          </a:ln>
        </p:spPr>
      </p:sp>
      <p:sp>
        <p:nvSpPr>
          <p:cNvPr id="22" name="Shape 20"/>
          <p:cNvSpPr/>
          <p:nvPr/>
        </p:nvSpPr>
        <p:spPr>
          <a:xfrm>
            <a:off x="6885432" y="4315968"/>
            <a:ext cx="502920" cy="502920"/>
          </a:xfrm>
          <a:prstGeom prst="ellipse">
            <a:avLst/>
          </a:prstGeom>
          <a:solidFill>
            <a:srgbClr val="2E7D6B"/>
          </a:solidFill>
          <a:ln/>
        </p:spPr>
      </p:sp>
      <p:sp>
        <p:nvSpPr>
          <p:cNvPr id="23" name="Text 21"/>
          <p:cNvSpPr/>
          <p:nvPr/>
        </p:nvSpPr>
        <p:spPr>
          <a:xfrm>
            <a:off x="6885432" y="4315968"/>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C</a:t>
            </a:r>
            <a:endParaRPr lang="en-US" sz="1800" dirty="0"/>
          </a:p>
        </p:txBody>
      </p:sp>
      <p:sp>
        <p:nvSpPr>
          <p:cNvPr id="24" name="Text 22"/>
          <p:cNvSpPr/>
          <p:nvPr/>
        </p:nvSpPr>
        <p:spPr>
          <a:xfrm>
            <a:off x="7543800" y="4160520"/>
            <a:ext cx="3870655" cy="804672"/>
          </a:xfrm>
          <a:prstGeom prst="rect">
            <a:avLst/>
          </a:prstGeom>
          <a:noFill/>
          <a:ln/>
        </p:spPr>
        <p:txBody>
          <a:bodyPr wrap="square" lIns="0" tIns="0" rIns="0" bIns="0" rtlCol="0" anchor="ctr"/>
          <a:lstStyle/>
          <a:p>
            <a:pPr indent="0" marL="0">
              <a:buNone/>
            </a:pPr>
            <a:r>
              <a:rPr lang="en-US" sz="1500" dirty="0">
                <a:solidFill>
                  <a:srgbClr val="16211F"/>
                </a:solidFill>
                <a:latin typeface="Yu Gothic" pitchFamily="34" charset="0"/>
                <a:ea typeface="Yu Gothic" pitchFamily="34" charset="-122"/>
                <a:cs typeface="Yu Gothic" pitchFamily="34" charset="-120"/>
              </a:rPr>
              <a:t>今ある材料で暫定判断し、見直す時刻と条件を決めておく</a:t>
            </a:r>
            <a:endParaRPr lang="en-US" sz="1500" dirty="0"/>
          </a:p>
        </p:txBody>
      </p:sp>
      <p:sp>
        <p:nvSpPr>
          <p:cNvPr id="25" name="Text 23"/>
          <p:cNvSpPr/>
          <p:nvPr/>
        </p:nvSpPr>
        <p:spPr>
          <a:xfrm>
            <a:off x="640080" y="5440680"/>
            <a:ext cx="10911535" cy="320040"/>
          </a:xfrm>
          <a:prstGeom prst="rect">
            <a:avLst/>
          </a:prstGeom>
          <a:noFill/>
          <a:ln/>
        </p:spPr>
        <p:txBody>
          <a:bodyPr wrap="square" lIns="0" tIns="0" rIns="0" bIns="0" rtlCol="0" anchor="ctr"/>
          <a:lstStyle/>
          <a:p>
            <a:pPr indent="0" marL="0">
              <a:buNone/>
            </a:pPr>
            <a:r>
              <a:rPr lang="en-US" sz="1300" b="1" dirty="0">
                <a:solidFill>
                  <a:srgbClr val="5E6E6A"/>
                </a:solidFill>
                <a:latin typeface="Yu Gothic" pitchFamily="34" charset="0"/>
                <a:ea typeface="Yu Gothic" pitchFamily="34" charset="-122"/>
                <a:cs typeface="Yu Gothic" pitchFamily="34" charset="-120"/>
              </a:rPr>
              <a:t>正解はありません。ご自分の組織なら、どれを選ぶかを考えてください。</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2E7D6B"/>
          </a:solidFill>
          <a:ln/>
        </p:spPr>
      </p:sp>
      <p:sp>
        <p:nvSpPr>
          <p:cNvPr id="3" name="Text 1"/>
          <p:cNvSpPr/>
          <p:nvPr/>
        </p:nvSpPr>
        <p:spPr>
          <a:xfrm>
            <a:off x="640080" y="292608"/>
            <a:ext cx="7772400" cy="274320"/>
          </a:xfrm>
          <a:prstGeom prst="rect">
            <a:avLst/>
          </a:prstGeom>
          <a:noFill/>
          <a:ln/>
        </p:spPr>
        <p:txBody>
          <a:bodyPr wrap="square" lIns="0" tIns="0" rIns="0" bIns="0" rtlCol="0" anchor="ctr"/>
          <a:lstStyle/>
          <a:p>
            <a:pPr indent="0" marL="0">
              <a:buNone/>
            </a:pPr>
            <a:r>
              <a:rPr lang="en-US" sz="1200" b="1" dirty="0">
                <a:solidFill>
                  <a:srgbClr val="2E7D6B"/>
                </a:solidFill>
                <a:latin typeface="Yu Gothic" pitchFamily="34" charset="0"/>
                <a:ea typeface="Yu Gothic" pitchFamily="34" charset="-122"/>
                <a:cs typeface="Yu Gothic" pitchFamily="34" charset="-120"/>
              </a:rPr>
              <a:t>第2部　提案②　暫定判断</a:t>
            </a:r>
            <a:endParaRPr lang="en-US" sz="1200" dirty="0"/>
          </a:p>
        </p:txBody>
      </p:sp>
      <p:sp>
        <p:nvSpPr>
          <p:cNvPr id="4" name="Text 2"/>
          <p:cNvSpPr/>
          <p:nvPr/>
        </p:nvSpPr>
        <p:spPr>
          <a:xfrm>
            <a:off x="640080" y="621792"/>
            <a:ext cx="10911535" cy="685800"/>
          </a:xfrm>
          <a:prstGeom prst="rect">
            <a:avLst/>
          </a:prstGeom>
          <a:noFill/>
          <a:ln/>
        </p:spPr>
        <p:txBody>
          <a:bodyPr wrap="square" lIns="0" tIns="0" rIns="0" bIns="0" rtlCol="0" anchor="t"/>
          <a:lstStyle/>
          <a:p>
            <a:pPr indent="0" marL="0">
              <a:buNone/>
            </a:pPr>
            <a:r>
              <a:rPr lang="en-US" sz="2600" b="1" dirty="0">
                <a:solidFill>
                  <a:srgbClr val="16211F"/>
                </a:solidFill>
                <a:latin typeface="Yu Gothic" pitchFamily="34" charset="0"/>
                <a:ea typeface="Yu Gothic" pitchFamily="34" charset="-122"/>
                <a:cs typeface="Yu Gothic" pitchFamily="34" charset="-120"/>
              </a:rPr>
              <a:t>判断を遅らせすぎず、AIを過信しない ― 暫定判断</a:t>
            </a:r>
            <a:endParaRPr lang="en-US" sz="2600" dirty="0"/>
          </a:p>
        </p:txBody>
      </p:sp>
      <p:sp>
        <p:nvSpPr>
          <p:cNvPr id="5" name="Text 3"/>
          <p:cNvSpPr/>
          <p:nvPr/>
        </p:nvSpPr>
        <p:spPr>
          <a:xfrm>
            <a:off x="10180015" y="6446520"/>
            <a:ext cx="1371600" cy="228600"/>
          </a:xfrm>
          <a:prstGeom prst="rect">
            <a:avLst/>
          </a:prstGeom>
          <a:noFill/>
          <a:ln/>
        </p:spPr>
        <p:txBody>
          <a:bodyPr wrap="square" lIns="0" tIns="0" rIns="0" bIns="0" rtlCol="0" anchor="ctr"/>
          <a:lstStyle/>
          <a:p>
            <a:pPr algn="r" indent="0" marL="0">
              <a:buNone/>
            </a:pPr>
            <a:r>
              <a:rPr lang="en-US" sz="900" dirty="0">
                <a:solidFill>
                  <a:srgbClr val="5E6E6A"/>
                </a:solidFill>
                <a:latin typeface="Yu Gothic" pitchFamily="34" charset="0"/>
                <a:ea typeface="Yu Gothic" pitchFamily="34" charset="-122"/>
                <a:cs typeface="Yu Gothic" pitchFamily="34" charset="-120"/>
              </a:rPr>
              <a:t>12 / 23</a:t>
            </a:r>
            <a:endParaRPr lang="en-US" sz="900" dirty="0"/>
          </a:p>
        </p:txBody>
      </p:sp>
      <p:sp>
        <p:nvSpPr>
          <p:cNvPr id="6" name="Text 4"/>
          <p:cNvSpPr/>
          <p:nvPr/>
        </p:nvSpPr>
        <p:spPr>
          <a:xfrm>
            <a:off x="640080" y="6446520"/>
            <a:ext cx="6400800" cy="228600"/>
          </a:xfrm>
          <a:prstGeom prst="rect">
            <a:avLst/>
          </a:prstGeom>
          <a:noFill/>
          <a:ln/>
        </p:spPr>
        <p:txBody>
          <a:bodyPr wrap="square" lIns="0" tIns="0" rIns="0" bIns="0" rtlCol="0" anchor="ctr"/>
          <a:lstStyle/>
          <a:p>
            <a:pPr indent="0" marL="0">
              <a:buNone/>
            </a:pPr>
            <a:r>
              <a:rPr lang="en-US" sz="900" dirty="0">
                <a:solidFill>
                  <a:srgbClr val="9FB2AD"/>
                </a:solidFill>
                <a:latin typeface="Yu Gothic" pitchFamily="34" charset="0"/>
                <a:ea typeface="Yu Gothic" pitchFamily="34" charset="-122"/>
                <a:cs typeface="Yu Gothic" pitchFamily="34" charset="-120"/>
              </a:rPr>
              <a:t>Security Days Fall 2026 Fukuoka　FB-05　小出 洋（九州大学）</a:t>
            </a:r>
            <a:endParaRPr lang="en-US" sz="900" dirty="0"/>
          </a:p>
        </p:txBody>
      </p:sp>
      <p:sp>
        <p:nvSpPr>
          <p:cNvPr id="7" name="Shape 5"/>
          <p:cNvSpPr/>
          <p:nvPr/>
        </p:nvSpPr>
        <p:spPr>
          <a:xfrm>
            <a:off x="640080" y="1508760"/>
            <a:ext cx="5318608" cy="3246120"/>
          </a:xfrm>
          <a:prstGeom prst="roundRect">
            <a:avLst>
              <a:gd name="adj" fmla="val 1408"/>
            </a:avLst>
          </a:prstGeom>
          <a:solidFill>
            <a:srgbClr val="EDF3F1"/>
          </a:solidFill>
          <a:ln w="9525">
            <a:solidFill>
              <a:srgbClr val="C9D5D1"/>
            </a:solidFill>
            <a:prstDash val="solid"/>
          </a:ln>
        </p:spPr>
      </p:sp>
      <p:sp>
        <p:nvSpPr>
          <p:cNvPr id="8" name="Text 6"/>
          <p:cNvSpPr/>
          <p:nvPr/>
        </p:nvSpPr>
        <p:spPr>
          <a:xfrm>
            <a:off x="822960" y="1655064"/>
            <a:ext cx="4952848" cy="411480"/>
          </a:xfrm>
          <a:prstGeom prst="rect">
            <a:avLst/>
          </a:prstGeom>
          <a:noFill/>
          <a:ln/>
        </p:spPr>
        <p:txBody>
          <a:bodyPr wrap="square" lIns="0" tIns="0" rIns="0" bIns="0" rtlCol="0" anchor="t"/>
          <a:lstStyle/>
          <a:p>
            <a:pPr indent="0" marL="0">
              <a:buNone/>
            </a:pPr>
            <a:r>
              <a:rPr lang="en-US" sz="1600" b="1" dirty="0">
                <a:solidFill>
                  <a:srgbClr val="2E7D6B"/>
                </a:solidFill>
                <a:latin typeface="Yu Gothic" pitchFamily="34" charset="0"/>
                <a:ea typeface="Yu Gothic" pitchFamily="34" charset="-122"/>
                <a:cs typeface="Yu Gothic" pitchFamily="34" charset="-120"/>
              </a:rPr>
              <a:t>不確実なときの2つの失敗</a:t>
            </a:r>
            <a:endParaRPr lang="en-US" sz="1600" dirty="0"/>
          </a:p>
        </p:txBody>
      </p:sp>
      <p:sp>
        <p:nvSpPr>
          <p:cNvPr id="9" name="Text 7"/>
          <p:cNvSpPr/>
          <p:nvPr/>
        </p:nvSpPr>
        <p:spPr>
          <a:xfrm>
            <a:off x="822960" y="2157984"/>
            <a:ext cx="4952848" cy="2487168"/>
          </a:xfrm>
          <a:prstGeom prst="rect">
            <a:avLst/>
          </a:prstGeom>
          <a:noFill/>
          <a:ln/>
        </p:spPr>
        <p:txBody>
          <a:bodyPr wrap="square" lIns="0" tIns="0" rIns="0" bIns="0" rtlCol="0" anchor="t"/>
          <a:lstStyle/>
          <a:p>
            <a:pPr indent="0" marL="0">
              <a:lnSpc>
                <a:spcPct val="115000"/>
              </a:lnSpc>
              <a:buNone/>
            </a:pPr>
            <a:r>
              <a:rPr lang="en-US" sz="1400" dirty="0">
                <a:solidFill>
                  <a:srgbClr val="16211F"/>
                </a:solidFill>
                <a:latin typeface="Yu Gothic" pitchFamily="34" charset="0"/>
                <a:ea typeface="Yu Gothic" pitchFamily="34" charset="-122"/>
                <a:cs typeface="Yu Gothic" pitchFamily="34" charset="-120"/>
              </a:rPr>
              <a:t>過信：AIのもっともらしい結論をそのまま採用する（ミニ演習の B）</a:t>
            </a:r>
            <a:endParaRPr lang="en-US" sz="1400" dirty="0"/>
          </a:p>
          <a:p>
            <a:pPr indent="0" marL="0">
              <a:lnSpc>
                <a:spcPct val="115000"/>
              </a:lnSpc>
              <a:buNone/>
            </a:pPr>
            <a:endParaRPr lang="en-US" sz="1400" dirty="0"/>
          </a:p>
          <a:p>
            <a:pPr indent="0" marL="0">
              <a:lnSpc>
                <a:spcPct val="115000"/>
              </a:lnSpc>
              <a:buNone/>
            </a:pPr>
            <a:r>
              <a:rPr lang="en-US" sz="1400" dirty="0">
                <a:solidFill>
                  <a:srgbClr val="16211F"/>
                </a:solidFill>
                <a:latin typeface="Yu Gothic" pitchFamily="34" charset="0"/>
                <a:ea typeface="Yu Gothic" pitchFamily="34" charset="-122"/>
                <a:cs typeface="Yu Gothic" pitchFamily="34" charset="-120"/>
              </a:rPr>
              <a:t>先送り：情報がそろうまで決めない。その間に悪用と問い合わせが広がる</a:t>
            </a:r>
            <a:endParaRPr lang="en-US" sz="1400" dirty="0"/>
          </a:p>
          <a:p>
            <a:pPr indent="0" marL="0">
              <a:lnSpc>
                <a:spcPct val="115000"/>
              </a:lnSpc>
              <a:buNone/>
            </a:pPr>
            <a:r>
              <a:rPr lang="en-US" sz="1400" dirty="0">
                <a:solidFill>
                  <a:srgbClr val="16211F"/>
                </a:solidFill>
                <a:latin typeface="Yu Gothic" pitchFamily="34" charset="0"/>
                <a:ea typeface="Yu Gothic" pitchFamily="34" charset="-122"/>
                <a:cs typeface="Yu Gothic" pitchFamily="34" charset="-120"/>
              </a:rPr>
              <a:t>（AIの出力を一律に信じない「過剰な拒否」もこちら）</a:t>
            </a:r>
            <a:endParaRPr lang="en-US" sz="1400" dirty="0"/>
          </a:p>
        </p:txBody>
      </p:sp>
      <p:sp>
        <p:nvSpPr>
          <p:cNvPr id="10" name="Shape 8"/>
          <p:cNvSpPr/>
          <p:nvPr/>
        </p:nvSpPr>
        <p:spPr>
          <a:xfrm>
            <a:off x="6233008" y="1508760"/>
            <a:ext cx="5318608" cy="3246120"/>
          </a:xfrm>
          <a:prstGeom prst="roundRect">
            <a:avLst>
              <a:gd name="adj" fmla="val 1408"/>
            </a:avLst>
          </a:prstGeom>
          <a:solidFill>
            <a:srgbClr val="FFFFFF"/>
          </a:solidFill>
          <a:ln w="25400">
            <a:solidFill>
              <a:srgbClr val="2E7D6B"/>
            </a:solidFill>
            <a:prstDash val="solid"/>
          </a:ln>
        </p:spPr>
      </p:sp>
      <p:sp>
        <p:nvSpPr>
          <p:cNvPr id="11" name="Text 9"/>
          <p:cNvSpPr/>
          <p:nvPr/>
        </p:nvSpPr>
        <p:spPr>
          <a:xfrm>
            <a:off x="6415888" y="1655064"/>
            <a:ext cx="4952848" cy="411480"/>
          </a:xfrm>
          <a:prstGeom prst="rect">
            <a:avLst/>
          </a:prstGeom>
          <a:noFill/>
          <a:ln/>
        </p:spPr>
        <p:txBody>
          <a:bodyPr wrap="square" lIns="0" tIns="0" rIns="0" bIns="0" rtlCol="0" anchor="t"/>
          <a:lstStyle/>
          <a:p>
            <a:pPr indent="0" marL="0">
              <a:buNone/>
            </a:pPr>
            <a:r>
              <a:rPr lang="en-US" sz="1600" b="1" dirty="0">
                <a:solidFill>
                  <a:srgbClr val="2E7D6B"/>
                </a:solidFill>
                <a:latin typeface="Yu Gothic" pitchFamily="34" charset="0"/>
                <a:ea typeface="Yu Gothic" pitchFamily="34" charset="-122"/>
                <a:cs typeface="Yu Gothic" pitchFamily="34" charset="-120"/>
              </a:rPr>
              <a:t>暫定で決め、見直す時刻を決める</a:t>
            </a:r>
            <a:endParaRPr lang="en-US" sz="1600" dirty="0"/>
          </a:p>
        </p:txBody>
      </p:sp>
      <p:sp>
        <p:nvSpPr>
          <p:cNvPr id="12" name="Text 10"/>
          <p:cNvSpPr/>
          <p:nvPr/>
        </p:nvSpPr>
        <p:spPr>
          <a:xfrm>
            <a:off x="6415888" y="2157984"/>
            <a:ext cx="4952848" cy="2487168"/>
          </a:xfrm>
          <a:prstGeom prst="rect">
            <a:avLst/>
          </a:prstGeom>
          <a:noFill/>
          <a:ln/>
        </p:spPr>
        <p:txBody>
          <a:bodyPr wrap="square" lIns="0" tIns="0" rIns="0" bIns="0" rtlCol="0" anchor="t"/>
          <a:lstStyle/>
          <a:p>
            <a:pPr indent="0" marL="0">
              <a:lnSpc>
                <a:spcPct val="115000"/>
              </a:lnSpc>
              <a:buNone/>
            </a:pPr>
            <a:r>
              <a:rPr lang="en-US" sz="1400" dirty="0">
                <a:solidFill>
                  <a:srgbClr val="16211F"/>
                </a:solidFill>
                <a:latin typeface="Yu Gothic" pitchFamily="34" charset="0"/>
                <a:ea typeface="Yu Gothic" pitchFamily="34" charset="-122"/>
                <a:cs typeface="Yu Gothic" pitchFamily="34" charset="-120"/>
              </a:rPr>
              <a:t>「今の材料では、リリースは保留。顧客に暫定の連絡を入れる」</a:t>
            </a:r>
            <a:endParaRPr lang="en-US" sz="1400" dirty="0"/>
          </a:p>
          <a:p>
            <a:pPr indent="0" marL="0">
              <a:lnSpc>
                <a:spcPct val="115000"/>
              </a:lnSpc>
              <a:buNone/>
            </a:pPr>
            <a:r>
              <a:rPr lang="en-US" sz="1400" dirty="0">
                <a:solidFill>
                  <a:srgbClr val="16211F"/>
                </a:solidFill>
                <a:latin typeface="Yu Gothic" pitchFamily="34" charset="0"/>
                <a:ea typeface="Yu Gothic" pitchFamily="34" charset="-122"/>
                <a:cs typeface="Yu Gothic" pitchFamily="34" charset="-120"/>
              </a:rPr>
              <a:t>「日曜12時に、実際の動作での確認結果を見て見直す」</a:t>
            </a:r>
            <a:endParaRPr lang="en-US" sz="1400" dirty="0"/>
          </a:p>
          <a:p>
            <a:pPr indent="0" marL="0">
              <a:lnSpc>
                <a:spcPct val="115000"/>
              </a:lnSpc>
              <a:buNone/>
            </a:pPr>
            <a:r>
              <a:rPr lang="en-US" sz="1400" dirty="0">
                <a:solidFill>
                  <a:srgbClr val="16211F"/>
                </a:solidFill>
                <a:latin typeface="Yu Gothic" pitchFamily="34" charset="0"/>
                <a:ea typeface="Yu Gothic" pitchFamily="34" charset="-122"/>
                <a:cs typeface="Yu Gothic" pitchFamily="34" charset="-120"/>
              </a:rPr>
              <a:t>「脆弱な機能の利用が否定できれば、予定どおり出す」</a:t>
            </a:r>
            <a:endParaRPr lang="en-US" sz="1400" dirty="0"/>
          </a:p>
          <a:p>
            <a:pPr indent="0" marL="0">
              <a:lnSpc>
                <a:spcPct val="115000"/>
              </a:lnSpc>
              <a:buNone/>
            </a:pPr>
            <a:endParaRPr lang="en-US" sz="1400" dirty="0"/>
          </a:p>
          <a:p>
            <a:pPr indent="0" marL="0">
              <a:lnSpc>
                <a:spcPct val="115000"/>
              </a:lnSpc>
              <a:buNone/>
            </a:pPr>
            <a:r>
              <a:rPr lang="en-US" sz="1400" dirty="0">
                <a:solidFill>
                  <a:srgbClr val="16211F"/>
                </a:solidFill>
                <a:latin typeface="Yu Gothic" pitchFamily="34" charset="0"/>
                <a:ea typeface="Yu Gothic" pitchFamily="34" charset="-122"/>
                <a:cs typeface="Yu Gothic" pitchFamily="34" charset="-120"/>
              </a:rPr>
              <a:t>この3点を、決めた人の名前と時刻とともに記録します。</a:t>
            </a:r>
            <a:endParaRPr lang="en-US" sz="1400" dirty="0"/>
          </a:p>
        </p:txBody>
      </p:sp>
      <p:sp>
        <p:nvSpPr>
          <p:cNvPr id="13" name="Shape 11"/>
          <p:cNvSpPr/>
          <p:nvPr/>
        </p:nvSpPr>
        <p:spPr>
          <a:xfrm>
            <a:off x="640080" y="4983480"/>
            <a:ext cx="10911535" cy="658368"/>
          </a:xfrm>
          <a:prstGeom prst="rect">
            <a:avLst/>
          </a:prstGeom>
          <a:solidFill>
            <a:srgbClr val="F6EBD8"/>
          </a:solidFill>
          <a:ln/>
        </p:spPr>
      </p:sp>
      <p:sp>
        <p:nvSpPr>
          <p:cNvPr id="14" name="Shape 12"/>
          <p:cNvSpPr/>
          <p:nvPr/>
        </p:nvSpPr>
        <p:spPr>
          <a:xfrm>
            <a:off x="640080" y="4983480"/>
            <a:ext cx="73152" cy="658368"/>
          </a:xfrm>
          <a:prstGeom prst="rect">
            <a:avLst/>
          </a:prstGeom>
          <a:solidFill>
            <a:srgbClr val="C9821A"/>
          </a:solidFill>
          <a:ln/>
        </p:spPr>
      </p:sp>
      <p:sp>
        <p:nvSpPr>
          <p:cNvPr id="15" name="Text 13"/>
          <p:cNvSpPr/>
          <p:nvPr/>
        </p:nvSpPr>
        <p:spPr>
          <a:xfrm>
            <a:off x="914400" y="5056632"/>
            <a:ext cx="10454335" cy="512064"/>
          </a:xfrm>
          <a:prstGeom prst="rect">
            <a:avLst/>
          </a:prstGeom>
          <a:noFill/>
          <a:ln/>
        </p:spPr>
        <p:txBody>
          <a:bodyPr wrap="square" lIns="0" tIns="0" rIns="0" bIns="0" rtlCol="0" anchor="ctr"/>
          <a:lstStyle/>
          <a:p>
            <a:pPr indent="0" marL="0">
              <a:buNone/>
            </a:pPr>
            <a:r>
              <a:rPr lang="en-US" sz="1400" b="1" dirty="0">
                <a:solidFill>
                  <a:srgbClr val="16211F"/>
                </a:solidFill>
                <a:latin typeface="Yu Gothic" pitchFamily="34" charset="0"/>
                <a:ea typeface="Yu Gothic" pitchFamily="34" charset="-122"/>
                <a:cs typeface="Yu Gothic" pitchFamily="34" charset="-120"/>
              </a:rPr>
              <a:t>完全な情報は来ません。決め直せる形で早く決めることが、不確実な状況での判断の型です。</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2E7D6B"/>
          </a:solidFill>
          <a:ln/>
        </p:spPr>
      </p:sp>
      <p:sp>
        <p:nvSpPr>
          <p:cNvPr id="3" name="Shape 1"/>
          <p:cNvSpPr/>
          <p:nvPr/>
        </p:nvSpPr>
        <p:spPr>
          <a:xfrm>
            <a:off x="822960" y="5989320"/>
            <a:ext cx="10515600" cy="27432"/>
          </a:xfrm>
          <a:prstGeom prst="rect">
            <a:avLst/>
          </a:prstGeom>
          <a:solidFill>
            <a:srgbClr val="C9D5D1"/>
          </a:solidFill>
          <a:ln/>
        </p:spPr>
      </p:sp>
      <p:sp>
        <p:nvSpPr>
          <p:cNvPr id="4" name="Text 2"/>
          <p:cNvSpPr/>
          <p:nvPr/>
        </p:nvSpPr>
        <p:spPr>
          <a:xfrm>
            <a:off x="822960" y="2103120"/>
            <a:ext cx="3657600" cy="548640"/>
          </a:xfrm>
          <a:prstGeom prst="rect">
            <a:avLst/>
          </a:prstGeom>
          <a:noFill/>
          <a:ln/>
        </p:spPr>
        <p:txBody>
          <a:bodyPr wrap="square" lIns="0" tIns="0" rIns="0" bIns="0" rtlCol="0" anchor="ctr"/>
          <a:lstStyle/>
          <a:p>
            <a:pPr indent="0" marL="0">
              <a:buNone/>
            </a:pPr>
            <a:r>
              <a:rPr lang="en-US" sz="2400" b="1" dirty="0">
                <a:solidFill>
                  <a:srgbClr val="C9821A"/>
                </a:solidFill>
                <a:latin typeface="Yu Gothic" pitchFamily="34" charset="0"/>
                <a:ea typeface="Yu Gothic" pitchFamily="34" charset="-122"/>
                <a:cs typeface="Yu Gothic" pitchFamily="34" charset="-120"/>
              </a:rPr>
              <a:t>第3部</a:t>
            </a:r>
            <a:endParaRPr lang="en-US" sz="2400" dirty="0"/>
          </a:p>
        </p:txBody>
      </p:sp>
      <p:sp>
        <p:nvSpPr>
          <p:cNvPr id="5" name="Text 3"/>
          <p:cNvSpPr/>
          <p:nvPr/>
        </p:nvSpPr>
        <p:spPr>
          <a:xfrm>
            <a:off x="822960" y="2697480"/>
            <a:ext cx="10607040" cy="822960"/>
          </a:xfrm>
          <a:prstGeom prst="rect">
            <a:avLst/>
          </a:prstGeom>
          <a:noFill/>
          <a:ln/>
        </p:spPr>
        <p:txBody>
          <a:bodyPr wrap="square" lIns="0" tIns="0" rIns="0" bIns="0" rtlCol="0" anchor="ctr"/>
          <a:lstStyle/>
          <a:p>
            <a:pPr indent="0" marL="0">
              <a:buNone/>
            </a:pPr>
            <a:r>
              <a:rPr lang="en-US" sz="3800" b="1" dirty="0">
                <a:solidFill>
                  <a:srgbClr val="2E7D6B"/>
                </a:solidFill>
                <a:latin typeface="Yu Gothic" pitchFamily="34" charset="0"/>
                <a:ea typeface="Yu Gothic" pitchFamily="34" charset="-122"/>
                <a:cs typeface="Yu Gothic" pitchFamily="34" charset="-120"/>
              </a:rPr>
              <a:t>限られた人員で回す</a:t>
            </a:r>
            <a:endParaRPr lang="en-US" sz="3800" dirty="0"/>
          </a:p>
        </p:txBody>
      </p:sp>
      <p:sp>
        <p:nvSpPr>
          <p:cNvPr id="6" name="Text 4"/>
          <p:cNvSpPr/>
          <p:nvPr/>
        </p:nvSpPr>
        <p:spPr>
          <a:xfrm>
            <a:off x="822960" y="3657600"/>
            <a:ext cx="10607040" cy="457200"/>
          </a:xfrm>
          <a:prstGeom prst="rect">
            <a:avLst/>
          </a:prstGeom>
          <a:noFill/>
          <a:ln/>
        </p:spPr>
        <p:txBody>
          <a:bodyPr wrap="square" lIns="0" tIns="0" rIns="0" bIns="0" rtlCol="0" anchor="ctr"/>
          <a:lstStyle/>
          <a:p>
            <a:pPr indent="0" marL="0">
              <a:buNone/>
            </a:pPr>
            <a:r>
              <a:rPr lang="en-US" sz="1800" dirty="0">
                <a:solidFill>
                  <a:srgbClr val="5E6E6A"/>
                </a:solidFill>
                <a:latin typeface="Yu Gothic" pitchFamily="34" charset="0"/>
                <a:ea typeface="Yu Gothic" pitchFamily="34" charset="-122"/>
                <a:cs typeface="Yu Gothic" pitchFamily="34" charset="-120"/>
              </a:rPr>
              <a:t>「あの人がいないと動かない」をなくす</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2E7D6B"/>
          </a:solidFill>
          <a:ln/>
        </p:spPr>
      </p:sp>
      <p:sp>
        <p:nvSpPr>
          <p:cNvPr id="3" name="Text 1"/>
          <p:cNvSpPr/>
          <p:nvPr/>
        </p:nvSpPr>
        <p:spPr>
          <a:xfrm>
            <a:off x="640080" y="292608"/>
            <a:ext cx="7772400" cy="274320"/>
          </a:xfrm>
          <a:prstGeom prst="rect">
            <a:avLst/>
          </a:prstGeom>
          <a:noFill/>
          <a:ln/>
        </p:spPr>
        <p:txBody>
          <a:bodyPr wrap="square" lIns="0" tIns="0" rIns="0" bIns="0" rtlCol="0" anchor="ctr"/>
          <a:lstStyle/>
          <a:p>
            <a:pPr indent="0" marL="0">
              <a:buNone/>
            </a:pPr>
            <a:r>
              <a:rPr lang="en-US" sz="1200" b="1" dirty="0">
                <a:solidFill>
                  <a:srgbClr val="2E7D6B"/>
                </a:solidFill>
                <a:latin typeface="Yu Gothic" pitchFamily="34" charset="0"/>
                <a:ea typeface="Yu Gothic" pitchFamily="34" charset="-122"/>
                <a:cs typeface="Yu Gothic" pitchFamily="34" charset="-120"/>
              </a:rPr>
              <a:t>第3部　限られた人員で回す</a:t>
            </a:r>
            <a:endParaRPr lang="en-US" sz="1200" dirty="0"/>
          </a:p>
        </p:txBody>
      </p:sp>
      <p:sp>
        <p:nvSpPr>
          <p:cNvPr id="4" name="Text 2"/>
          <p:cNvSpPr/>
          <p:nvPr/>
        </p:nvSpPr>
        <p:spPr>
          <a:xfrm>
            <a:off x="640080" y="621792"/>
            <a:ext cx="10911535" cy="685800"/>
          </a:xfrm>
          <a:prstGeom prst="rect">
            <a:avLst/>
          </a:prstGeom>
          <a:noFill/>
          <a:ln/>
        </p:spPr>
        <p:txBody>
          <a:bodyPr wrap="square" lIns="0" tIns="0" rIns="0" bIns="0" rtlCol="0" anchor="t"/>
          <a:lstStyle/>
          <a:p>
            <a:pPr indent="0" marL="0">
              <a:buNone/>
            </a:pPr>
            <a:r>
              <a:rPr lang="en-US" sz="2600" b="1" dirty="0">
                <a:solidFill>
                  <a:srgbClr val="16211F"/>
                </a:solidFill>
                <a:latin typeface="Yu Gothic" pitchFamily="34" charset="0"/>
                <a:ea typeface="Yu Gothic" pitchFamily="34" charset="-122"/>
                <a:cs typeface="Yu Gothic" pitchFamily="34" charset="-120"/>
              </a:rPr>
              <a:t>「ひとががんばる」体制の弱さは、判断が人に貼りついていること</a:t>
            </a:r>
            <a:endParaRPr lang="en-US" sz="2600" dirty="0"/>
          </a:p>
        </p:txBody>
      </p:sp>
      <p:sp>
        <p:nvSpPr>
          <p:cNvPr id="5" name="Text 3"/>
          <p:cNvSpPr/>
          <p:nvPr/>
        </p:nvSpPr>
        <p:spPr>
          <a:xfrm>
            <a:off x="10180015" y="6446520"/>
            <a:ext cx="1371600" cy="228600"/>
          </a:xfrm>
          <a:prstGeom prst="rect">
            <a:avLst/>
          </a:prstGeom>
          <a:noFill/>
          <a:ln/>
        </p:spPr>
        <p:txBody>
          <a:bodyPr wrap="square" lIns="0" tIns="0" rIns="0" bIns="0" rtlCol="0" anchor="ctr"/>
          <a:lstStyle/>
          <a:p>
            <a:pPr algn="r" indent="0" marL="0">
              <a:buNone/>
            </a:pPr>
            <a:r>
              <a:rPr lang="en-US" sz="900" dirty="0">
                <a:solidFill>
                  <a:srgbClr val="5E6E6A"/>
                </a:solidFill>
                <a:latin typeface="Yu Gothic" pitchFamily="34" charset="0"/>
                <a:ea typeface="Yu Gothic" pitchFamily="34" charset="-122"/>
                <a:cs typeface="Yu Gothic" pitchFamily="34" charset="-120"/>
              </a:rPr>
              <a:t>14 / 23</a:t>
            </a:r>
            <a:endParaRPr lang="en-US" sz="900" dirty="0"/>
          </a:p>
        </p:txBody>
      </p:sp>
      <p:sp>
        <p:nvSpPr>
          <p:cNvPr id="6" name="Text 4"/>
          <p:cNvSpPr/>
          <p:nvPr/>
        </p:nvSpPr>
        <p:spPr>
          <a:xfrm>
            <a:off x="640080" y="6446520"/>
            <a:ext cx="6400800" cy="228600"/>
          </a:xfrm>
          <a:prstGeom prst="rect">
            <a:avLst/>
          </a:prstGeom>
          <a:noFill/>
          <a:ln/>
        </p:spPr>
        <p:txBody>
          <a:bodyPr wrap="square" lIns="0" tIns="0" rIns="0" bIns="0" rtlCol="0" anchor="ctr"/>
          <a:lstStyle/>
          <a:p>
            <a:pPr indent="0" marL="0">
              <a:buNone/>
            </a:pPr>
            <a:r>
              <a:rPr lang="en-US" sz="900" dirty="0">
                <a:solidFill>
                  <a:srgbClr val="9FB2AD"/>
                </a:solidFill>
                <a:latin typeface="Yu Gothic" pitchFamily="34" charset="0"/>
                <a:ea typeface="Yu Gothic" pitchFamily="34" charset="-122"/>
                <a:cs typeface="Yu Gothic" pitchFamily="34" charset="-120"/>
              </a:rPr>
              <a:t>Security Days Fall 2026 Fukuoka　FB-05　小出 洋（九州大学）</a:t>
            </a:r>
            <a:endParaRPr lang="en-US" sz="900" dirty="0"/>
          </a:p>
        </p:txBody>
      </p:sp>
      <p:sp>
        <p:nvSpPr>
          <p:cNvPr id="7" name="Shape 5"/>
          <p:cNvSpPr/>
          <p:nvPr/>
        </p:nvSpPr>
        <p:spPr>
          <a:xfrm>
            <a:off x="640080" y="1508760"/>
            <a:ext cx="5318608" cy="3246120"/>
          </a:xfrm>
          <a:prstGeom prst="roundRect">
            <a:avLst>
              <a:gd name="adj" fmla="val 1408"/>
            </a:avLst>
          </a:prstGeom>
          <a:solidFill>
            <a:srgbClr val="EDF3F1"/>
          </a:solidFill>
          <a:ln w="9525">
            <a:solidFill>
              <a:srgbClr val="C9D5D1"/>
            </a:solidFill>
            <a:prstDash val="solid"/>
          </a:ln>
        </p:spPr>
      </p:sp>
      <p:sp>
        <p:nvSpPr>
          <p:cNvPr id="8" name="Text 6"/>
          <p:cNvSpPr/>
          <p:nvPr/>
        </p:nvSpPr>
        <p:spPr>
          <a:xfrm>
            <a:off x="822960" y="1655064"/>
            <a:ext cx="4952848" cy="411480"/>
          </a:xfrm>
          <a:prstGeom prst="rect">
            <a:avLst/>
          </a:prstGeom>
          <a:noFill/>
          <a:ln/>
        </p:spPr>
        <p:txBody>
          <a:bodyPr wrap="square" lIns="0" tIns="0" rIns="0" bIns="0" rtlCol="0" anchor="t"/>
          <a:lstStyle/>
          <a:p>
            <a:pPr indent="0" marL="0">
              <a:buNone/>
            </a:pPr>
            <a:r>
              <a:rPr lang="en-US" sz="1600" b="1" dirty="0">
                <a:solidFill>
                  <a:srgbClr val="2E7D6B"/>
                </a:solidFill>
                <a:latin typeface="Yu Gothic" pitchFamily="34" charset="0"/>
                <a:ea typeface="Yu Gothic" pitchFamily="34" charset="-122"/>
                <a:cs typeface="Yu Gothic" pitchFamily="34" charset="-120"/>
              </a:rPr>
              <a:t>よくある状態</a:t>
            </a:r>
            <a:endParaRPr lang="en-US" sz="1600" dirty="0"/>
          </a:p>
        </p:txBody>
      </p:sp>
      <p:sp>
        <p:nvSpPr>
          <p:cNvPr id="9" name="Text 7"/>
          <p:cNvSpPr/>
          <p:nvPr/>
        </p:nvSpPr>
        <p:spPr>
          <a:xfrm>
            <a:off x="822960" y="2157984"/>
            <a:ext cx="4952848" cy="2487168"/>
          </a:xfrm>
          <a:prstGeom prst="rect">
            <a:avLst/>
          </a:prstGeom>
          <a:noFill/>
          <a:ln/>
        </p:spPr>
        <p:txBody>
          <a:bodyPr wrap="square" lIns="0" tIns="0" rIns="0" bIns="0" rtlCol="0" anchor="t"/>
          <a:lstStyle/>
          <a:p>
            <a:pPr indent="0" marL="0">
              <a:lnSpc>
                <a:spcPct val="115000"/>
              </a:lnSpc>
              <a:buNone/>
            </a:pPr>
            <a:r>
              <a:rPr lang="en-US" sz="1400" dirty="0">
                <a:solidFill>
                  <a:srgbClr val="16211F"/>
                </a:solidFill>
                <a:latin typeface="Yu Gothic" pitchFamily="34" charset="0"/>
                <a:ea typeface="Yu Gothic" pitchFamily="34" charset="-122"/>
                <a:cs typeface="Yu Gothic" pitchFamily="34" charset="-120"/>
              </a:rPr>
              <a:t>・判断できる人が1〜2人に集中している</a:t>
            </a:r>
            <a:endParaRPr lang="en-US" sz="1400" dirty="0"/>
          </a:p>
          <a:p>
            <a:pPr indent="0" marL="0">
              <a:lnSpc>
                <a:spcPct val="115000"/>
              </a:lnSpc>
              <a:buNone/>
            </a:pPr>
            <a:r>
              <a:rPr lang="en-US" sz="1400" dirty="0">
                <a:solidFill>
                  <a:srgbClr val="16211F"/>
                </a:solidFill>
                <a:latin typeface="Yu Gothic" pitchFamily="34" charset="0"/>
                <a:ea typeface="Yu Gothic" pitchFamily="34" charset="-122"/>
                <a:cs typeface="Yu Gothic" pitchFamily="34" charset="-120"/>
              </a:rPr>
              <a:t>・夜間・休日・長期戦で、その人が倒れる</a:t>
            </a:r>
            <a:endParaRPr lang="en-US" sz="1400" dirty="0"/>
          </a:p>
          <a:p>
            <a:pPr indent="0" marL="0">
              <a:lnSpc>
                <a:spcPct val="115000"/>
              </a:lnSpc>
              <a:buNone/>
            </a:pPr>
            <a:r>
              <a:rPr lang="en-US" sz="1400" dirty="0">
                <a:solidFill>
                  <a:srgbClr val="16211F"/>
                </a:solidFill>
                <a:latin typeface="Yu Gothic" pitchFamily="34" charset="0"/>
                <a:ea typeface="Yu Gothic" pitchFamily="34" charset="-122"/>
                <a:cs typeface="Yu Gothic" pitchFamily="34" charset="-120"/>
              </a:rPr>
              <a:t>・判断の根拠が頭の中にあり、記録に残らない</a:t>
            </a:r>
            <a:endParaRPr lang="en-US" sz="1400" dirty="0"/>
          </a:p>
        </p:txBody>
      </p:sp>
      <p:sp>
        <p:nvSpPr>
          <p:cNvPr id="10" name="Shape 8"/>
          <p:cNvSpPr/>
          <p:nvPr/>
        </p:nvSpPr>
        <p:spPr>
          <a:xfrm>
            <a:off x="6233008" y="1508760"/>
            <a:ext cx="5318608" cy="3246120"/>
          </a:xfrm>
          <a:prstGeom prst="roundRect">
            <a:avLst>
              <a:gd name="adj" fmla="val 1408"/>
            </a:avLst>
          </a:prstGeom>
          <a:solidFill>
            <a:srgbClr val="FFFFFF"/>
          </a:solidFill>
          <a:ln w="25400">
            <a:solidFill>
              <a:srgbClr val="2E7D6B"/>
            </a:solidFill>
            <a:prstDash val="solid"/>
          </a:ln>
        </p:spPr>
      </p:sp>
      <p:sp>
        <p:nvSpPr>
          <p:cNvPr id="11" name="Text 9"/>
          <p:cNvSpPr/>
          <p:nvPr/>
        </p:nvSpPr>
        <p:spPr>
          <a:xfrm>
            <a:off x="6415888" y="1655064"/>
            <a:ext cx="4952848" cy="411480"/>
          </a:xfrm>
          <a:prstGeom prst="rect">
            <a:avLst/>
          </a:prstGeom>
          <a:noFill/>
          <a:ln/>
        </p:spPr>
        <p:txBody>
          <a:bodyPr wrap="square" lIns="0" tIns="0" rIns="0" bIns="0" rtlCol="0" anchor="t"/>
          <a:lstStyle/>
          <a:p>
            <a:pPr indent="0" marL="0">
              <a:buNone/>
            </a:pPr>
            <a:r>
              <a:rPr lang="en-US" sz="1600" b="1" dirty="0">
                <a:solidFill>
                  <a:srgbClr val="2E7D6B"/>
                </a:solidFill>
                <a:latin typeface="Yu Gothic" pitchFamily="34" charset="0"/>
                <a:ea typeface="Yu Gothic" pitchFamily="34" charset="-122"/>
                <a:cs typeface="Yu Gothic" pitchFamily="34" charset="-120"/>
              </a:rPr>
              <a:t>規模の小さい組織ではさらに</a:t>
            </a:r>
            <a:endParaRPr lang="en-US" sz="1600" dirty="0"/>
          </a:p>
        </p:txBody>
      </p:sp>
      <p:sp>
        <p:nvSpPr>
          <p:cNvPr id="12" name="Text 10"/>
          <p:cNvSpPr/>
          <p:nvPr/>
        </p:nvSpPr>
        <p:spPr>
          <a:xfrm>
            <a:off x="6415888" y="2157984"/>
            <a:ext cx="4952848" cy="2487168"/>
          </a:xfrm>
          <a:prstGeom prst="rect">
            <a:avLst/>
          </a:prstGeom>
          <a:noFill/>
          <a:ln/>
        </p:spPr>
        <p:txBody>
          <a:bodyPr wrap="square" lIns="0" tIns="0" rIns="0" bIns="0" rtlCol="0" anchor="t"/>
          <a:lstStyle/>
          <a:p>
            <a:pPr indent="0" marL="0">
              <a:lnSpc>
                <a:spcPct val="115000"/>
              </a:lnSpc>
              <a:buNone/>
            </a:pPr>
            <a:r>
              <a:rPr lang="en-US" sz="1400" dirty="0">
                <a:solidFill>
                  <a:srgbClr val="16211F"/>
                </a:solidFill>
                <a:latin typeface="Yu Gothic" pitchFamily="34" charset="0"/>
                <a:ea typeface="Yu Gothic" pitchFamily="34" charset="-122"/>
                <a:cs typeface="Yu Gothic" pitchFamily="34" charset="-120"/>
              </a:rPr>
              <a:t>・情シスが1人、または兼務</a:t>
            </a:r>
            <a:endParaRPr lang="en-US" sz="1400" dirty="0"/>
          </a:p>
          <a:p>
            <a:pPr indent="0" marL="0">
              <a:lnSpc>
                <a:spcPct val="115000"/>
              </a:lnSpc>
              <a:buNone/>
            </a:pPr>
            <a:r>
              <a:rPr lang="en-US" sz="1400" dirty="0">
                <a:solidFill>
                  <a:srgbClr val="16211F"/>
                </a:solidFill>
                <a:latin typeface="Yu Gothic" pitchFamily="34" charset="0"/>
                <a:ea typeface="Yu Gothic" pitchFamily="34" charset="-122"/>
                <a:cs typeface="Yu Gothic" pitchFamily="34" charset="-120"/>
              </a:rPr>
              <a:t>・経営層が「ITの問題」と捉えている</a:t>
            </a:r>
            <a:endParaRPr lang="en-US" sz="1400" dirty="0"/>
          </a:p>
          <a:p>
            <a:pPr indent="0" marL="0">
              <a:lnSpc>
                <a:spcPct val="115000"/>
              </a:lnSpc>
              <a:buNone/>
            </a:pPr>
            <a:r>
              <a:rPr lang="en-US" sz="1400" dirty="0">
                <a:solidFill>
                  <a:srgbClr val="16211F"/>
                </a:solidFill>
                <a:latin typeface="Yu Gothic" pitchFamily="34" charset="0"/>
                <a:ea typeface="Yu Gothic" pitchFamily="34" charset="-122"/>
                <a:cs typeface="Yu Gothic" pitchFamily="34" charset="-120"/>
              </a:rPr>
              <a:t>・反対意見を言ってくれる同僚がいない</a:t>
            </a:r>
            <a:endParaRPr lang="en-US" sz="1400" dirty="0"/>
          </a:p>
          <a:p>
            <a:pPr indent="0" marL="0">
              <a:lnSpc>
                <a:spcPct val="115000"/>
              </a:lnSpc>
              <a:buNone/>
            </a:pPr>
            <a:r>
              <a:rPr lang="en-US" sz="1400" dirty="0">
                <a:solidFill>
                  <a:srgbClr val="16211F"/>
                </a:solidFill>
                <a:latin typeface="Yu Gothic" pitchFamily="34" charset="0"/>
                <a:ea typeface="Yu Gothic" pitchFamily="34" charset="-122"/>
                <a:cs typeface="Yu Gothic" pitchFamily="34" charset="-120"/>
              </a:rPr>
              <a:t>・頼る先を、事故が起きてから探す</a:t>
            </a:r>
            <a:endParaRPr lang="en-US" sz="1400" dirty="0"/>
          </a:p>
        </p:txBody>
      </p:sp>
      <p:sp>
        <p:nvSpPr>
          <p:cNvPr id="13" name="Shape 11"/>
          <p:cNvSpPr/>
          <p:nvPr/>
        </p:nvSpPr>
        <p:spPr>
          <a:xfrm>
            <a:off x="640080" y="4983480"/>
            <a:ext cx="10911535" cy="658368"/>
          </a:xfrm>
          <a:prstGeom prst="rect">
            <a:avLst/>
          </a:prstGeom>
          <a:solidFill>
            <a:srgbClr val="F6EBD8"/>
          </a:solidFill>
          <a:ln/>
        </p:spPr>
      </p:sp>
      <p:sp>
        <p:nvSpPr>
          <p:cNvPr id="14" name="Shape 12"/>
          <p:cNvSpPr/>
          <p:nvPr/>
        </p:nvSpPr>
        <p:spPr>
          <a:xfrm>
            <a:off x="640080" y="4983480"/>
            <a:ext cx="73152" cy="658368"/>
          </a:xfrm>
          <a:prstGeom prst="rect">
            <a:avLst/>
          </a:prstGeom>
          <a:solidFill>
            <a:srgbClr val="C9821A"/>
          </a:solidFill>
          <a:ln/>
        </p:spPr>
      </p:sp>
      <p:sp>
        <p:nvSpPr>
          <p:cNvPr id="15" name="Text 13"/>
          <p:cNvSpPr/>
          <p:nvPr/>
        </p:nvSpPr>
        <p:spPr>
          <a:xfrm>
            <a:off x="914400" y="5056632"/>
            <a:ext cx="10454335" cy="512064"/>
          </a:xfrm>
          <a:prstGeom prst="rect">
            <a:avLst/>
          </a:prstGeom>
          <a:noFill/>
          <a:ln/>
        </p:spPr>
        <p:txBody>
          <a:bodyPr wrap="square" lIns="0" tIns="0" rIns="0" bIns="0" rtlCol="0" anchor="ctr"/>
          <a:lstStyle/>
          <a:p>
            <a:pPr indent="0" marL="0">
              <a:buNone/>
            </a:pPr>
            <a:r>
              <a:rPr lang="en-US" sz="1400" b="1" dirty="0">
                <a:solidFill>
                  <a:srgbClr val="16211F"/>
                </a:solidFill>
                <a:latin typeface="Yu Gothic" pitchFamily="34" charset="0"/>
                <a:ea typeface="Yu Gothic" pitchFamily="34" charset="-122"/>
                <a:cs typeface="Yu Gothic" pitchFamily="34" charset="-120"/>
              </a:rPr>
              <a:t>人を増やすのは難しい。変えられるのは、判断を人から仕組みへ移すことです。</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2E7D6B"/>
          </a:solidFill>
          <a:ln/>
        </p:spPr>
      </p:sp>
      <p:sp>
        <p:nvSpPr>
          <p:cNvPr id="3" name="Text 1"/>
          <p:cNvSpPr/>
          <p:nvPr/>
        </p:nvSpPr>
        <p:spPr>
          <a:xfrm>
            <a:off x="640080" y="292608"/>
            <a:ext cx="7772400" cy="274320"/>
          </a:xfrm>
          <a:prstGeom prst="rect">
            <a:avLst/>
          </a:prstGeom>
          <a:noFill/>
          <a:ln/>
        </p:spPr>
        <p:txBody>
          <a:bodyPr wrap="square" lIns="0" tIns="0" rIns="0" bIns="0" rtlCol="0" anchor="ctr"/>
          <a:lstStyle/>
          <a:p>
            <a:pPr indent="0" marL="0">
              <a:buNone/>
            </a:pPr>
            <a:r>
              <a:rPr lang="en-US" sz="1200" b="1" dirty="0">
                <a:solidFill>
                  <a:srgbClr val="2E7D6B"/>
                </a:solidFill>
                <a:latin typeface="Yu Gothic" pitchFamily="34" charset="0"/>
                <a:ea typeface="Yu Gothic" pitchFamily="34" charset="-122"/>
                <a:cs typeface="Yu Gothic" pitchFamily="34" charset="-120"/>
              </a:rPr>
              <a:t>第3部　提案③　任せ方を決めておく</a:t>
            </a:r>
            <a:endParaRPr lang="en-US" sz="1200" dirty="0"/>
          </a:p>
        </p:txBody>
      </p:sp>
      <p:sp>
        <p:nvSpPr>
          <p:cNvPr id="4" name="Text 2"/>
          <p:cNvSpPr/>
          <p:nvPr/>
        </p:nvSpPr>
        <p:spPr>
          <a:xfrm>
            <a:off x="640080" y="621792"/>
            <a:ext cx="10911535" cy="685800"/>
          </a:xfrm>
          <a:prstGeom prst="rect">
            <a:avLst/>
          </a:prstGeom>
          <a:noFill/>
          <a:ln/>
        </p:spPr>
        <p:txBody>
          <a:bodyPr wrap="square" lIns="0" tIns="0" rIns="0" bIns="0" rtlCol="0" anchor="t"/>
          <a:lstStyle/>
          <a:p>
            <a:pPr indent="0" marL="0">
              <a:buNone/>
            </a:pPr>
            <a:r>
              <a:rPr lang="en-US" sz="2600" b="1" dirty="0">
                <a:solidFill>
                  <a:srgbClr val="16211F"/>
                </a:solidFill>
                <a:latin typeface="Yu Gothic" pitchFamily="34" charset="0"/>
                <a:ea typeface="Yu Gothic" pitchFamily="34" charset="-122"/>
                <a:cs typeface="Yu Gothic" pitchFamily="34" charset="-120"/>
              </a:rPr>
              <a:t>AIへの任せ方は、3つの問いで3段階に分けておきます</a:t>
            </a:r>
            <a:endParaRPr lang="en-US" sz="2600" dirty="0"/>
          </a:p>
        </p:txBody>
      </p:sp>
      <p:sp>
        <p:nvSpPr>
          <p:cNvPr id="5" name="Text 3"/>
          <p:cNvSpPr/>
          <p:nvPr/>
        </p:nvSpPr>
        <p:spPr>
          <a:xfrm>
            <a:off x="10180015" y="6446520"/>
            <a:ext cx="1371600" cy="228600"/>
          </a:xfrm>
          <a:prstGeom prst="rect">
            <a:avLst/>
          </a:prstGeom>
          <a:noFill/>
          <a:ln/>
        </p:spPr>
        <p:txBody>
          <a:bodyPr wrap="square" lIns="0" tIns="0" rIns="0" bIns="0" rtlCol="0" anchor="ctr"/>
          <a:lstStyle/>
          <a:p>
            <a:pPr algn="r" indent="0" marL="0">
              <a:buNone/>
            </a:pPr>
            <a:r>
              <a:rPr lang="en-US" sz="900" dirty="0">
                <a:solidFill>
                  <a:srgbClr val="5E6E6A"/>
                </a:solidFill>
                <a:latin typeface="Yu Gothic" pitchFamily="34" charset="0"/>
                <a:ea typeface="Yu Gothic" pitchFamily="34" charset="-122"/>
                <a:cs typeface="Yu Gothic" pitchFamily="34" charset="-120"/>
              </a:rPr>
              <a:t>15 / 23</a:t>
            </a:r>
            <a:endParaRPr lang="en-US" sz="900" dirty="0"/>
          </a:p>
        </p:txBody>
      </p:sp>
      <p:sp>
        <p:nvSpPr>
          <p:cNvPr id="6" name="Text 4"/>
          <p:cNvSpPr/>
          <p:nvPr/>
        </p:nvSpPr>
        <p:spPr>
          <a:xfrm>
            <a:off x="640080" y="6446520"/>
            <a:ext cx="6400800" cy="228600"/>
          </a:xfrm>
          <a:prstGeom prst="rect">
            <a:avLst/>
          </a:prstGeom>
          <a:noFill/>
          <a:ln/>
        </p:spPr>
        <p:txBody>
          <a:bodyPr wrap="square" lIns="0" tIns="0" rIns="0" bIns="0" rtlCol="0" anchor="ctr"/>
          <a:lstStyle/>
          <a:p>
            <a:pPr indent="0" marL="0">
              <a:buNone/>
            </a:pPr>
            <a:r>
              <a:rPr lang="en-US" sz="900" dirty="0">
                <a:solidFill>
                  <a:srgbClr val="9FB2AD"/>
                </a:solidFill>
                <a:latin typeface="Yu Gothic" pitchFamily="34" charset="0"/>
                <a:ea typeface="Yu Gothic" pitchFamily="34" charset="-122"/>
                <a:cs typeface="Yu Gothic" pitchFamily="34" charset="-120"/>
              </a:rPr>
              <a:t>Security Days Fall 2026 Fukuoka　FB-05　小出 洋（九州大学）</a:t>
            </a:r>
            <a:endParaRPr lang="en-US" sz="9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1463040"/>
          <a:ext cx="10911535" cy="914400"/>
        </p:xfrm>
        <a:graphic>
          <a:graphicData uri="http://schemas.openxmlformats.org/drawingml/2006/table">
            <a:tbl>
              <a:tblPr/>
              <a:tblGrid>
                <a:gridCol w="2103120"/>
                <a:gridCol w="2834640"/>
                <a:gridCol w="2926080"/>
                <a:gridCol w="2926080"/>
              </a:tblGrid>
              <a:tr h="512064">
                <a:tc>
                  <a:txBody>
                    <a:bodyPr/>
                    <a:lstStyle/>
                    <a:p>
                      <a:pPr indent="0" marL="0">
                        <a:buNone/>
                      </a:pPr>
                      <a:r>
                        <a:rPr lang="en-US" sz="1300" b="1" dirty="0">
                          <a:solidFill>
                            <a:srgbClr val="FFFFFF"/>
                          </a:solidFill>
                          <a:latin typeface="Yu Gothic" pitchFamily="34" charset="0"/>
                          <a:ea typeface="Yu Gothic" pitchFamily="34" charset="-122"/>
                          <a:cs typeface="Yu Gothic" pitchFamily="34" charset="-120"/>
                        </a:rPr>
                        <a:t>問い</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2E7D6B"/>
                    </a:solidFill>
                  </a:tcPr>
                </a:tc>
                <a:tc>
                  <a:txBody>
                    <a:bodyPr/>
                    <a:lstStyle/>
                    <a:p>
                      <a:pPr indent="0" marL="0">
                        <a:buNone/>
                      </a:pPr>
                      <a:r>
                        <a:rPr lang="en-US" sz="1300" b="1" dirty="0">
                          <a:solidFill>
                            <a:srgbClr val="FFFFFF"/>
                          </a:solidFill>
                          <a:latin typeface="Yu Gothic" pitchFamily="34" charset="0"/>
                          <a:ea typeface="Yu Gothic" pitchFamily="34" charset="-122"/>
                          <a:cs typeface="Yu Gothic" pitchFamily="34" charset="-120"/>
                        </a:rPr>
                        <a:t>自動でよい</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2E7D6B"/>
                    </a:solidFill>
                  </a:tcPr>
                </a:tc>
                <a:tc>
                  <a:txBody>
                    <a:bodyPr/>
                    <a:lstStyle/>
                    <a:p>
                      <a:pPr indent="0" marL="0">
                        <a:buNone/>
                      </a:pPr>
                      <a:r>
                        <a:rPr lang="en-US" sz="1300" b="1" dirty="0">
                          <a:solidFill>
                            <a:srgbClr val="FFFFFF"/>
                          </a:solidFill>
                          <a:latin typeface="Yu Gothic" pitchFamily="34" charset="0"/>
                          <a:ea typeface="Yu Gothic" pitchFamily="34" charset="-122"/>
                          <a:cs typeface="Yu Gothic" pitchFamily="34" charset="-120"/>
                        </a:rPr>
                        <a:t>人の承認つき</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2E7D6B"/>
                    </a:solidFill>
                  </a:tcPr>
                </a:tc>
                <a:tc>
                  <a:txBody>
                    <a:bodyPr/>
                    <a:lstStyle/>
                    <a:p>
                      <a:pPr indent="0" marL="0">
                        <a:buNone/>
                      </a:pPr>
                      <a:r>
                        <a:rPr lang="en-US" sz="1300" b="1" dirty="0">
                          <a:solidFill>
                            <a:srgbClr val="FFFFFF"/>
                          </a:solidFill>
                          <a:latin typeface="Yu Gothic" pitchFamily="34" charset="0"/>
                          <a:ea typeface="Yu Gothic" pitchFamily="34" charset="-122"/>
                          <a:cs typeface="Yu Gothic" pitchFamily="34" charset="-120"/>
                        </a:rPr>
                        <a:t>人が決める</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C9821A"/>
                    </a:solidFill>
                  </a:tcPr>
                </a:tc>
              </a:tr>
              <a:tr h="512064">
                <a:tc>
                  <a:txBody>
                    <a:bodyPr/>
                    <a:lstStyle/>
                    <a:p>
                      <a:pPr indent="0" marL="0">
                        <a:buNone/>
                      </a:pPr>
                      <a:r>
                        <a:rPr lang="en-US" sz="1300" b="1" dirty="0">
                          <a:solidFill>
                            <a:srgbClr val="16211F"/>
                          </a:solidFill>
                          <a:latin typeface="Yu Gothic" pitchFamily="34" charset="0"/>
                          <a:ea typeface="Yu Gothic" pitchFamily="34" charset="-122"/>
                          <a:cs typeface="Yu Gothic" pitchFamily="34" charset="-120"/>
                        </a:rPr>
                        <a:t>取り消せるか</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4F7F6"/>
                    </a:solidFill>
                  </a:tcPr>
                </a:tc>
                <a:tc>
                  <a:txBody>
                    <a:bodyPr/>
                    <a:lstStyle/>
                    <a:p>
                      <a:pPr indent="0" marL="0">
                        <a:buNone/>
                      </a:pPr>
                      <a:r>
                        <a:rPr lang="en-US" sz="1300" dirty="0">
                          <a:solidFill>
                            <a:srgbClr val="16211F"/>
                          </a:solidFill>
                          <a:latin typeface="Yu Gothic" pitchFamily="34" charset="0"/>
                          <a:ea typeface="Yu Gothic" pitchFamily="34" charset="-122"/>
                          <a:cs typeface="Yu Gothic" pitchFamily="34" charset="-120"/>
                        </a:rPr>
                        <a:t>すぐ戻せる</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4F7F6"/>
                    </a:solidFill>
                  </a:tcPr>
                </a:tc>
                <a:tc>
                  <a:txBody>
                    <a:bodyPr/>
                    <a:lstStyle/>
                    <a:p>
                      <a:pPr indent="0" marL="0">
                        <a:buNone/>
                      </a:pPr>
                      <a:r>
                        <a:rPr lang="en-US" sz="1300" dirty="0">
                          <a:solidFill>
                            <a:srgbClr val="16211F"/>
                          </a:solidFill>
                          <a:latin typeface="Yu Gothic" pitchFamily="34" charset="0"/>
                          <a:ea typeface="Yu Gothic" pitchFamily="34" charset="-122"/>
                          <a:cs typeface="Yu Gothic" pitchFamily="34" charset="-120"/>
                        </a:rPr>
                        <a:t>手間はかかるが戻せる</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4F7F6"/>
                    </a:solidFill>
                  </a:tcPr>
                </a:tc>
                <a:tc>
                  <a:txBody>
                    <a:bodyPr/>
                    <a:lstStyle/>
                    <a:p>
                      <a:pPr indent="0" marL="0">
                        <a:buNone/>
                      </a:pPr>
                      <a:r>
                        <a:rPr lang="en-US" sz="1300" dirty="0">
                          <a:solidFill>
                            <a:srgbClr val="16211F"/>
                          </a:solidFill>
                          <a:latin typeface="Yu Gothic" pitchFamily="34" charset="0"/>
                          <a:ea typeface="Yu Gothic" pitchFamily="34" charset="-122"/>
                          <a:cs typeface="Yu Gothic" pitchFamily="34" charset="-120"/>
                        </a:rPr>
                        <a:t>戻せない</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6EBD8"/>
                    </a:solidFill>
                  </a:tcPr>
                </a:tc>
              </a:tr>
              <a:tr h="512064">
                <a:tc>
                  <a:txBody>
                    <a:bodyPr/>
                    <a:lstStyle/>
                    <a:p>
                      <a:pPr indent="0" marL="0">
                        <a:buNone/>
                      </a:pPr>
                      <a:r>
                        <a:rPr lang="en-US" sz="1300" b="1" dirty="0">
                          <a:solidFill>
                            <a:srgbClr val="16211F"/>
                          </a:solidFill>
                          <a:latin typeface="Yu Gothic" pitchFamily="34" charset="0"/>
                          <a:ea typeface="Yu Gothic" pitchFamily="34" charset="-122"/>
                          <a:cs typeface="Yu Gothic" pitchFamily="34" charset="-120"/>
                        </a:rPr>
                        <a:t>影響はどこまでか</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FFFFF"/>
                    </a:solidFill>
                  </a:tcPr>
                </a:tc>
                <a:tc>
                  <a:txBody>
                    <a:bodyPr/>
                    <a:lstStyle/>
                    <a:p>
                      <a:pPr indent="0" marL="0">
                        <a:buNone/>
                      </a:pPr>
                      <a:r>
                        <a:rPr lang="en-US" sz="1300" dirty="0">
                          <a:solidFill>
                            <a:srgbClr val="16211F"/>
                          </a:solidFill>
                          <a:latin typeface="Yu Gothic" pitchFamily="34" charset="0"/>
                          <a:ea typeface="Yu Gothic" pitchFamily="34" charset="-122"/>
                          <a:cs typeface="Yu Gothic" pitchFamily="34" charset="-120"/>
                        </a:rPr>
                        <a:t>一部の端末・利用者</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FFFFF"/>
                    </a:solidFill>
                  </a:tcPr>
                </a:tc>
                <a:tc>
                  <a:txBody>
                    <a:bodyPr/>
                    <a:lstStyle/>
                    <a:p>
                      <a:pPr indent="0" marL="0">
                        <a:buNone/>
                      </a:pPr>
                      <a:r>
                        <a:rPr lang="en-US" sz="1300" dirty="0">
                          <a:solidFill>
                            <a:srgbClr val="16211F"/>
                          </a:solidFill>
                          <a:latin typeface="Yu Gothic" pitchFamily="34" charset="0"/>
                          <a:ea typeface="Yu Gothic" pitchFamily="34" charset="-122"/>
                          <a:cs typeface="Yu Gothic" pitchFamily="34" charset="-120"/>
                        </a:rPr>
                        <a:t>一つの部署・サービス</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FFFFF"/>
                    </a:solidFill>
                  </a:tcPr>
                </a:tc>
                <a:tc>
                  <a:txBody>
                    <a:bodyPr/>
                    <a:lstStyle/>
                    <a:p>
                      <a:pPr indent="0" marL="0">
                        <a:buNone/>
                      </a:pPr>
                      <a:r>
                        <a:rPr lang="en-US" sz="1300" dirty="0">
                          <a:solidFill>
                            <a:srgbClr val="16211F"/>
                          </a:solidFill>
                          <a:latin typeface="Yu Gothic" pitchFamily="34" charset="0"/>
                          <a:ea typeface="Yu Gothic" pitchFamily="34" charset="-122"/>
                          <a:cs typeface="Yu Gothic" pitchFamily="34" charset="-120"/>
                        </a:rPr>
                        <a:t>全社・顧客・社会</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6EBD8"/>
                    </a:solidFill>
                  </a:tcPr>
                </a:tc>
              </a:tr>
              <a:tr h="512064">
                <a:tc>
                  <a:txBody>
                    <a:bodyPr/>
                    <a:lstStyle/>
                    <a:p>
                      <a:pPr indent="0" marL="0">
                        <a:buNone/>
                      </a:pPr>
                      <a:r>
                        <a:rPr lang="en-US" sz="1300" b="1" dirty="0">
                          <a:solidFill>
                            <a:srgbClr val="16211F"/>
                          </a:solidFill>
                          <a:latin typeface="Yu Gothic" pitchFamily="34" charset="0"/>
                          <a:ea typeface="Yu Gothic" pitchFamily="34" charset="-122"/>
                          <a:cs typeface="Yu Gothic" pitchFamily="34" charset="-120"/>
                        </a:rPr>
                        <a:t>後で説明できるか</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4F7F6"/>
                    </a:solidFill>
                  </a:tcPr>
                </a:tc>
                <a:tc>
                  <a:txBody>
                    <a:bodyPr/>
                    <a:lstStyle/>
                    <a:p>
                      <a:pPr indent="0" marL="0">
                        <a:buNone/>
                      </a:pPr>
                      <a:r>
                        <a:rPr lang="en-US" sz="1300" dirty="0">
                          <a:solidFill>
                            <a:srgbClr val="16211F"/>
                          </a:solidFill>
                          <a:latin typeface="Yu Gothic" pitchFamily="34" charset="0"/>
                          <a:ea typeface="Yu Gothic" pitchFamily="34" charset="-122"/>
                          <a:cs typeface="Yu Gothic" pitchFamily="34" charset="-120"/>
                        </a:rPr>
                        <a:t>根拠が記録に残る</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4F7F6"/>
                    </a:solidFill>
                  </a:tcPr>
                </a:tc>
                <a:tc>
                  <a:txBody>
                    <a:bodyPr/>
                    <a:lstStyle/>
                    <a:p>
                      <a:pPr indent="0" marL="0">
                        <a:buNone/>
                      </a:pPr>
                      <a:r>
                        <a:rPr lang="en-US" sz="1300" dirty="0">
                          <a:solidFill>
                            <a:srgbClr val="16211F"/>
                          </a:solidFill>
                          <a:latin typeface="Yu Gothic" pitchFamily="34" charset="0"/>
                          <a:ea typeface="Yu Gothic" pitchFamily="34" charset="-122"/>
                          <a:cs typeface="Yu Gothic" pitchFamily="34" charset="-120"/>
                        </a:rPr>
                        <a:t>根拠を人が確かめられる</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4F7F6"/>
                    </a:solidFill>
                  </a:tcPr>
                </a:tc>
                <a:tc>
                  <a:txBody>
                    <a:bodyPr/>
                    <a:lstStyle/>
                    <a:p>
                      <a:pPr indent="0" marL="0">
                        <a:buNone/>
                      </a:pPr>
                      <a:r>
                        <a:rPr lang="en-US" sz="1300" dirty="0">
                          <a:solidFill>
                            <a:srgbClr val="16211F"/>
                          </a:solidFill>
                          <a:latin typeface="Yu Gothic" pitchFamily="34" charset="0"/>
                          <a:ea typeface="Yu Gothic" pitchFamily="34" charset="-122"/>
                          <a:cs typeface="Yu Gothic" pitchFamily="34" charset="-120"/>
                        </a:rPr>
                        <a:t>説明責任を人が負う</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6EBD8"/>
                    </a:solidFill>
                  </a:tcPr>
                </a:tc>
              </a:tr>
              <a:tr h="512064">
                <a:tc>
                  <a:txBody>
                    <a:bodyPr/>
                    <a:lstStyle/>
                    <a:p>
                      <a:pPr indent="0" marL="0">
                        <a:buNone/>
                      </a:pPr>
                      <a:r>
                        <a:rPr lang="en-US" sz="1300" b="1" dirty="0">
                          <a:solidFill>
                            <a:srgbClr val="16211F"/>
                          </a:solidFill>
                          <a:latin typeface="Yu Gothic" pitchFamily="34" charset="0"/>
                          <a:ea typeface="Yu Gothic" pitchFamily="34" charset="-122"/>
                          <a:cs typeface="Yu Gothic" pitchFamily="34" charset="-120"/>
                        </a:rPr>
                        <a:t>例</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FFFFF"/>
                    </a:solidFill>
                  </a:tcPr>
                </a:tc>
                <a:tc>
                  <a:txBody>
                    <a:bodyPr/>
                    <a:lstStyle/>
                    <a:p>
                      <a:pPr indent="0" marL="0">
                        <a:buNone/>
                      </a:pPr>
                      <a:r>
                        <a:rPr lang="en-US" sz="1300" dirty="0">
                          <a:solidFill>
                            <a:srgbClr val="16211F"/>
                          </a:solidFill>
                          <a:latin typeface="Yu Gothic" pitchFamily="34" charset="0"/>
                          <a:ea typeface="Yu Gothic" pitchFamily="34" charset="-122"/>
                          <a:cs typeface="Yu Gothic" pitchFamily="34" charset="-120"/>
                        </a:rPr>
                        <a:t>不審な端末の隔離</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FFFFF"/>
                    </a:solidFill>
                  </a:tcPr>
                </a:tc>
                <a:tc>
                  <a:txBody>
                    <a:bodyPr/>
                    <a:lstStyle/>
                    <a:p>
                      <a:pPr indent="0" marL="0">
                        <a:buNone/>
                      </a:pPr>
                      <a:r>
                        <a:rPr lang="en-US" sz="1300" dirty="0">
                          <a:solidFill>
                            <a:srgbClr val="16211F"/>
                          </a:solidFill>
                          <a:latin typeface="Yu Gothic" pitchFamily="34" charset="0"/>
                          <a:ea typeface="Yu Gothic" pitchFamily="34" charset="-122"/>
                          <a:cs typeface="Yu Gothic" pitchFamily="34" charset="-120"/>
                        </a:rPr>
                        <a:t>一部サービスの一時停止</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FFFFF"/>
                    </a:solidFill>
                  </a:tcPr>
                </a:tc>
                <a:tc>
                  <a:txBody>
                    <a:bodyPr/>
                    <a:lstStyle/>
                    <a:p>
                      <a:pPr indent="0" marL="0">
                        <a:buNone/>
                      </a:pPr>
                      <a:r>
                        <a:rPr lang="en-US" sz="1300" dirty="0">
                          <a:solidFill>
                            <a:srgbClr val="16211F"/>
                          </a:solidFill>
                          <a:latin typeface="Yu Gothic" pitchFamily="34" charset="0"/>
                          <a:ea typeface="Yu Gothic" pitchFamily="34" charset="-122"/>
                          <a:cs typeface="Yu Gothic" pitchFamily="34" charset="-120"/>
                        </a:rPr>
                        <a:t>リリース延期、公表、身代金</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6EBD8"/>
                    </a:solidFill>
                  </a:tcPr>
                </a:tc>
              </a:tr>
            </a:tbl>
          </a:graphicData>
        </a:graphic>
      </p:graphicFrame>
      <p:sp>
        <p:nvSpPr>
          <p:cNvPr id="8" name="Shape 5"/>
          <p:cNvSpPr/>
          <p:nvPr/>
        </p:nvSpPr>
        <p:spPr>
          <a:xfrm>
            <a:off x="640080" y="4983480"/>
            <a:ext cx="10911535" cy="658368"/>
          </a:xfrm>
          <a:prstGeom prst="rect">
            <a:avLst/>
          </a:prstGeom>
          <a:solidFill>
            <a:srgbClr val="F6EBD8"/>
          </a:solidFill>
          <a:ln/>
        </p:spPr>
      </p:sp>
      <p:sp>
        <p:nvSpPr>
          <p:cNvPr id="9" name="Shape 6"/>
          <p:cNvSpPr/>
          <p:nvPr/>
        </p:nvSpPr>
        <p:spPr>
          <a:xfrm>
            <a:off x="640080" y="4983480"/>
            <a:ext cx="73152" cy="658368"/>
          </a:xfrm>
          <a:prstGeom prst="rect">
            <a:avLst/>
          </a:prstGeom>
          <a:solidFill>
            <a:srgbClr val="C9821A"/>
          </a:solidFill>
          <a:ln/>
        </p:spPr>
      </p:sp>
      <p:sp>
        <p:nvSpPr>
          <p:cNvPr id="10" name="Text 7"/>
          <p:cNvSpPr/>
          <p:nvPr/>
        </p:nvSpPr>
        <p:spPr>
          <a:xfrm>
            <a:off x="914400" y="5056632"/>
            <a:ext cx="10454335" cy="512064"/>
          </a:xfrm>
          <a:prstGeom prst="rect">
            <a:avLst/>
          </a:prstGeom>
          <a:noFill/>
          <a:ln/>
        </p:spPr>
        <p:txBody>
          <a:bodyPr wrap="square" lIns="0" tIns="0" rIns="0" bIns="0" rtlCol="0" anchor="ctr"/>
          <a:lstStyle/>
          <a:p>
            <a:pPr indent="0" marL="0">
              <a:buNone/>
            </a:pPr>
            <a:r>
              <a:rPr lang="en-US" sz="1400" b="1" dirty="0">
                <a:solidFill>
                  <a:srgbClr val="16211F"/>
                </a:solidFill>
                <a:latin typeface="Yu Gothic" pitchFamily="34" charset="0"/>
                <a:ea typeface="Yu Gothic" pitchFamily="34" charset="-122"/>
                <a:cs typeface="Yu Gothic" pitchFamily="34" charset="-120"/>
              </a:rPr>
              <a:t>3つのうち1つでも右に寄れば、右の段階に置きます。AIエージェントのリスクは「賢さ」より「権限」にあります。</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2E7D6B"/>
          </a:solidFill>
          <a:ln/>
        </p:spPr>
      </p:sp>
      <p:sp>
        <p:nvSpPr>
          <p:cNvPr id="3" name="Text 1"/>
          <p:cNvSpPr/>
          <p:nvPr/>
        </p:nvSpPr>
        <p:spPr>
          <a:xfrm>
            <a:off x="640080" y="292608"/>
            <a:ext cx="7772400" cy="274320"/>
          </a:xfrm>
          <a:prstGeom prst="rect">
            <a:avLst/>
          </a:prstGeom>
          <a:noFill/>
          <a:ln/>
        </p:spPr>
        <p:txBody>
          <a:bodyPr wrap="square" lIns="0" tIns="0" rIns="0" bIns="0" rtlCol="0" anchor="ctr"/>
          <a:lstStyle/>
          <a:p>
            <a:pPr indent="0" marL="0">
              <a:buNone/>
            </a:pPr>
            <a:r>
              <a:rPr lang="en-US" sz="1200" b="1" dirty="0">
                <a:solidFill>
                  <a:srgbClr val="2E7D6B"/>
                </a:solidFill>
                <a:latin typeface="Yu Gothic" pitchFamily="34" charset="0"/>
                <a:ea typeface="Yu Gothic" pitchFamily="34" charset="-122"/>
                <a:cs typeface="Yu Gothic" pitchFamily="34" charset="-120"/>
              </a:rPr>
              <a:t>第3部　提案④　判断カード</a:t>
            </a:r>
            <a:endParaRPr lang="en-US" sz="1200" dirty="0"/>
          </a:p>
        </p:txBody>
      </p:sp>
      <p:sp>
        <p:nvSpPr>
          <p:cNvPr id="4" name="Text 2"/>
          <p:cNvSpPr/>
          <p:nvPr/>
        </p:nvSpPr>
        <p:spPr>
          <a:xfrm>
            <a:off x="640080" y="621792"/>
            <a:ext cx="10911535" cy="685800"/>
          </a:xfrm>
          <a:prstGeom prst="rect">
            <a:avLst/>
          </a:prstGeom>
          <a:noFill/>
          <a:ln/>
        </p:spPr>
        <p:txBody>
          <a:bodyPr wrap="square" lIns="0" tIns="0" rIns="0" bIns="0" rtlCol="0" anchor="t"/>
          <a:lstStyle/>
          <a:p>
            <a:pPr indent="0" marL="0">
              <a:buNone/>
            </a:pPr>
            <a:r>
              <a:rPr lang="en-US" sz="2600" b="1" dirty="0">
                <a:solidFill>
                  <a:srgbClr val="16211F"/>
                </a:solidFill>
                <a:latin typeface="Yu Gothic" pitchFamily="34" charset="0"/>
                <a:ea typeface="Yu Gothic" pitchFamily="34" charset="-122"/>
                <a:cs typeface="Yu Gothic" pitchFamily="34" charset="-120"/>
              </a:rPr>
              <a:t>5つの判断を、1枚ずつ「判断カード」にしておきます</a:t>
            </a:r>
            <a:endParaRPr lang="en-US" sz="2600" dirty="0"/>
          </a:p>
        </p:txBody>
      </p:sp>
      <p:sp>
        <p:nvSpPr>
          <p:cNvPr id="5" name="Text 3"/>
          <p:cNvSpPr/>
          <p:nvPr/>
        </p:nvSpPr>
        <p:spPr>
          <a:xfrm>
            <a:off x="10180015" y="6446520"/>
            <a:ext cx="1371600" cy="228600"/>
          </a:xfrm>
          <a:prstGeom prst="rect">
            <a:avLst/>
          </a:prstGeom>
          <a:noFill/>
          <a:ln/>
        </p:spPr>
        <p:txBody>
          <a:bodyPr wrap="square" lIns="0" tIns="0" rIns="0" bIns="0" rtlCol="0" anchor="ctr"/>
          <a:lstStyle/>
          <a:p>
            <a:pPr algn="r" indent="0" marL="0">
              <a:buNone/>
            </a:pPr>
            <a:r>
              <a:rPr lang="en-US" sz="900" dirty="0">
                <a:solidFill>
                  <a:srgbClr val="5E6E6A"/>
                </a:solidFill>
                <a:latin typeface="Yu Gothic" pitchFamily="34" charset="0"/>
                <a:ea typeface="Yu Gothic" pitchFamily="34" charset="-122"/>
                <a:cs typeface="Yu Gothic" pitchFamily="34" charset="-120"/>
              </a:rPr>
              <a:t>16 / 23</a:t>
            </a:r>
            <a:endParaRPr lang="en-US" sz="900" dirty="0"/>
          </a:p>
        </p:txBody>
      </p:sp>
      <p:sp>
        <p:nvSpPr>
          <p:cNvPr id="6" name="Text 4"/>
          <p:cNvSpPr/>
          <p:nvPr/>
        </p:nvSpPr>
        <p:spPr>
          <a:xfrm>
            <a:off x="640080" y="6446520"/>
            <a:ext cx="6400800" cy="228600"/>
          </a:xfrm>
          <a:prstGeom prst="rect">
            <a:avLst/>
          </a:prstGeom>
          <a:noFill/>
          <a:ln/>
        </p:spPr>
        <p:txBody>
          <a:bodyPr wrap="square" lIns="0" tIns="0" rIns="0" bIns="0" rtlCol="0" anchor="ctr"/>
          <a:lstStyle/>
          <a:p>
            <a:pPr indent="0" marL="0">
              <a:buNone/>
            </a:pPr>
            <a:r>
              <a:rPr lang="en-US" sz="900" dirty="0">
                <a:solidFill>
                  <a:srgbClr val="9FB2AD"/>
                </a:solidFill>
                <a:latin typeface="Yu Gothic" pitchFamily="34" charset="0"/>
                <a:ea typeface="Yu Gothic" pitchFamily="34" charset="-122"/>
                <a:cs typeface="Yu Gothic" pitchFamily="34" charset="-120"/>
              </a:rPr>
              <a:t>Security Days Fall 2026 Fukuoka　FB-05　小出 洋（九州大学）</a:t>
            </a:r>
            <a:endParaRPr lang="en-US" sz="9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1463040"/>
          <a:ext cx="10911535" cy="914400"/>
        </p:xfrm>
        <a:graphic>
          <a:graphicData uri="http://schemas.openxmlformats.org/drawingml/2006/table">
            <a:tbl>
              <a:tblPr/>
              <a:tblGrid>
                <a:gridCol w="2743200"/>
                <a:gridCol w="8046720"/>
              </a:tblGrid>
              <a:tr h="438912">
                <a:tc>
                  <a:txBody>
                    <a:bodyPr/>
                    <a:lstStyle/>
                    <a:p>
                      <a:pPr indent="0" marL="0">
                        <a:buNone/>
                      </a:pPr>
                      <a:r>
                        <a:rPr lang="en-US" sz="1300" b="1" dirty="0">
                          <a:solidFill>
                            <a:srgbClr val="FFFFFF"/>
                          </a:solidFill>
                          <a:latin typeface="Yu Gothic" pitchFamily="34" charset="0"/>
                          <a:ea typeface="Yu Gothic" pitchFamily="34" charset="-122"/>
                          <a:cs typeface="Yu Gothic" pitchFamily="34" charset="-120"/>
                        </a:rPr>
                        <a:t>項目</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2E7D6B"/>
                    </a:solidFill>
                  </a:tcPr>
                </a:tc>
                <a:tc>
                  <a:txBody>
                    <a:bodyPr/>
                    <a:lstStyle/>
                    <a:p>
                      <a:pPr indent="0" marL="0">
                        <a:buNone/>
                      </a:pPr>
                      <a:r>
                        <a:rPr lang="en-US" sz="1300" b="1" dirty="0">
                          <a:solidFill>
                            <a:srgbClr val="FFFFFF"/>
                          </a:solidFill>
                          <a:latin typeface="Yu Gothic" pitchFamily="34" charset="0"/>
                          <a:ea typeface="Yu Gothic" pitchFamily="34" charset="-122"/>
                          <a:cs typeface="Yu Gothic" pitchFamily="34" charset="-120"/>
                        </a:rPr>
                        <a:t>記入例：「リリース・サービスを止めるか」</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2E7D6B"/>
                    </a:solidFill>
                  </a:tcPr>
                </a:tc>
              </a:tr>
              <a:tr h="438912">
                <a:tc>
                  <a:txBody>
                    <a:bodyPr/>
                    <a:lstStyle/>
                    <a:p>
                      <a:pPr indent="0" marL="0">
                        <a:buNone/>
                      </a:pPr>
                      <a:r>
                        <a:rPr lang="en-US" sz="1300" b="1" dirty="0">
                          <a:solidFill>
                            <a:srgbClr val="16211F"/>
                          </a:solidFill>
                          <a:latin typeface="Yu Gothic" pitchFamily="34" charset="0"/>
                          <a:ea typeface="Yu Gothic" pitchFamily="34" charset="-122"/>
                          <a:cs typeface="Yu Gothic" pitchFamily="34" charset="-120"/>
                        </a:rPr>
                        <a:t>決める人／代わりの人</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4F7F6"/>
                    </a:solidFill>
                  </a:tcPr>
                </a:tc>
                <a:tc>
                  <a:txBody>
                    <a:bodyPr/>
                    <a:lstStyle/>
                    <a:p>
                      <a:pPr indent="0" marL="0">
                        <a:buNone/>
                      </a:pPr>
                      <a:r>
                        <a:rPr lang="en-US" sz="1300" dirty="0">
                          <a:solidFill>
                            <a:srgbClr val="16211F"/>
                          </a:solidFill>
                          <a:latin typeface="Yu Gothic" pitchFamily="34" charset="0"/>
                          <a:ea typeface="Yu Gothic" pitchFamily="34" charset="-122"/>
                          <a:cs typeface="Yu Gothic" pitchFamily="34" charset="-120"/>
                        </a:rPr>
                        <a:t>事業部長 ／ 不在時は情報システム部長（連絡がつかなければ当番責任者）</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4F7F6"/>
                    </a:solidFill>
                  </a:tcPr>
                </a:tc>
              </a:tr>
              <a:tr h="438912">
                <a:tc>
                  <a:txBody>
                    <a:bodyPr/>
                    <a:lstStyle/>
                    <a:p>
                      <a:pPr indent="0" marL="0">
                        <a:buNone/>
                      </a:pPr>
                      <a:r>
                        <a:rPr lang="en-US" sz="1300" b="1" dirty="0">
                          <a:solidFill>
                            <a:srgbClr val="16211F"/>
                          </a:solidFill>
                          <a:latin typeface="Yu Gothic" pitchFamily="34" charset="0"/>
                          <a:ea typeface="Yu Gothic" pitchFamily="34" charset="-122"/>
                          <a:cs typeface="Yu Gothic" pitchFamily="34" charset="-120"/>
                        </a:rPr>
                        <a:t>確認する順番</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FFFFF"/>
                    </a:solidFill>
                  </a:tcPr>
                </a:tc>
                <a:tc>
                  <a:txBody>
                    <a:bodyPr/>
                    <a:lstStyle/>
                    <a:p>
                      <a:pPr indent="0" marL="0">
                        <a:buNone/>
                      </a:pPr>
                      <a:r>
                        <a:rPr lang="en-US" sz="1300" dirty="0">
                          <a:solidFill>
                            <a:srgbClr val="16211F"/>
                          </a:solidFill>
                          <a:latin typeface="Yu Gothic" pitchFamily="34" charset="0"/>
                          <a:ea typeface="Yu Gothic" pitchFamily="34" charset="-122"/>
                          <a:cs typeface="Yu Gothic" pitchFamily="34" charset="-120"/>
                        </a:rPr>
                        <a:t>外から届くか → 実際に使っているか → 顧客・業務への影響 → 止める以外の緩和策</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rgbClr val="16211F"/>
                          </a:solidFill>
                          <a:latin typeface="Yu Gothic" pitchFamily="34" charset="0"/>
                          <a:ea typeface="Yu Gothic" pitchFamily="34" charset="-122"/>
                          <a:cs typeface="Yu Gothic" pitchFamily="34" charset="-120"/>
                        </a:rPr>
                        <a:t>AIに出させるもの</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4F7F6"/>
                    </a:solidFill>
                  </a:tcPr>
                </a:tc>
                <a:tc>
                  <a:txBody>
                    <a:bodyPr/>
                    <a:lstStyle/>
                    <a:p>
                      <a:pPr indent="0" marL="0">
                        <a:buNone/>
                      </a:pPr>
                      <a:r>
                        <a:rPr lang="en-US" sz="1300" dirty="0">
                          <a:solidFill>
                            <a:srgbClr val="16211F"/>
                          </a:solidFill>
                          <a:latin typeface="Yu Gothic" pitchFamily="34" charset="0"/>
                          <a:ea typeface="Yu Gothic" pitchFamily="34" charset="-122"/>
                          <a:cs typeface="Yu Gothic" pitchFamily="34" charset="-120"/>
                        </a:rPr>
                        <a:t>影響範囲の候補、選択肢とその根拠、反対の立場からの指摘</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4F7F6"/>
                    </a:solidFill>
                  </a:tcPr>
                </a:tc>
              </a:tr>
              <a:tr h="438912">
                <a:tc>
                  <a:txBody>
                    <a:bodyPr/>
                    <a:lstStyle/>
                    <a:p>
                      <a:pPr indent="0" marL="0">
                        <a:buNone/>
                      </a:pPr>
                      <a:r>
                        <a:rPr lang="en-US" sz="1300" b="1" dirty="0">
                          <a:solidFill>
                            <a:srgbClr val="16211F"/>
                          </a:solidFill>
                          <a:latin typeface="Yu Gothic" pitchFamily="34" charset="0"/>
                          <a:ea typeface="Yu Gothic" pitchFamily="34" charset="-122"/>
                          <a:cs typeface="Yu Gothic" pitchFamily="34" charset="-120"/>
                        </a:rPr>
                        <a:t>期限と見直し</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FFFFF"/>
                    </a:solidFill>
                  </a:tcPr>
                </a:tc>
                <a:tc>
                  <a:txBody>
                    <a:bodyPr/>
                    <a:lstStyle/>
                    <a:p>
                      <a:pPr indent="0" marL="0">
                        <a:buNone/>
                      </a:pPr>
                      <a:r>
                        <a:rPr lang="en-US" sz="1300" dirty="0">
                          <a:solidFill>
                            <a:srgbClr val="16211F"/>
                          </a:solidFill>
                          <a:latin typeface="Yu Gothic" pitchFamily="34" charset="0"/>
                          <a:ea typeface="Yu Gothic" pitchFamily="34" charset="-122"/>
                          <a:cs typeface="Yu Gothic" pitchFamily="34" charset="-120"/>
                        </a:rPr>
                        <a:t>公表から○時間以内に暫定判断。○時間ごとに見直す。覆す条件</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rgbClr val="16211F"/>
                          </a:solidFill>
                          <a:latin typeface="Yu Gothic" pitchFamily="34" charset="0"/>
                          <a:ea typeface="Yu Gothic" pitchFamily="34" charset="-122"/>
                          <a:cs typeface="Yu Gothic" pitchFamily="34" charset="-120"/>
                        </a:rPr>
                        <a:t>伝える先</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4F7F6"/>
                    </a:solidFill>
                  </a:tcPr>
                </a:tc>
                <a:tc>
                  <a:txBody>
                    <a:bodyPr/>
                    <a:lstStyle/>
                    <a:p>
                      <a:pPr indent="0" marL="0">
                        <a:buNone/>
                      </a:pPr>
                      <a:r>
                        <a:rPr lang="en-US" sz="1300" dirty="0">
                          <a:solidFill>
                            <a:srgbClr val="16211F"/>
                          </a:solidFill>
                          <a:latin typeface="Yu Gothic" pitchFamily="34" charset="0"/>
                          <a:ea typeface="Yu Gothic" pitchFamily="34" charset="-122"/>
                          <a:cs typeface="Yu Gothic" pitchFamily="34" charset="-120"/>
                        </a:rPr>
                        <a:t>経営層、広報、主要顧客の窓口、委託先</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4F7F6"/>
                    </a:solidFill>
                  </a:tcPr>
                </a:tc>
              </a:tr>
              <a:tr h="438912">
                <a:tc>
                  <a:txBody>
                    <a:bodyPr/>
                    <a:lstStyle/>
                    <a:p>
                      <a:pPr indent="0" marL="0">
                        <a:buNone/>
                      </a:pPr>
                      <a:r>
                        <a:rPr lang="en-US" sz="1300" b="1" dirty="0">
                          <a:solidFill>
                            <a:srgbClr val="16211F"/>
                          </a:solidFill>
                          <a:latin typeface="Yu Gothic" pitchFamily="34" charset="0"/>
                          <a:ea typeface="Yu Gothic" pitchFamily="34" charset="-122"/>
                          <a:cs typeface="Yu Gothic" pitchFamily="34" charset="-120"/>
                        </a:rPr>
                        <a:t>頼る先</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FFFFF"/>
                    </a:solidFill>
                  </a:tcPr>
                </a:tc>
                <a:tc>
                  <a:txBody>
                    <a:bodyPr/>
                    <a:lstStyle/>
                    <a:p>
                      <a:pPr indent="0" marL="0">
                        <a:buNone/>
                      </a:pPr>
                      <a:r>
                        <a:rPr lang="en-US" sz="1300" dirty="0">
                          <a:solidFill>
                            <a:srgbClr val="16211F"/>
                          </a:solidFill>
                          <a:latin typeface="Yu Gothic" pitchFamily="34" charset="0"/>
                          <a:ea typeface="Yu Gothic" pitchFamily="34" charset="-122"/>
                          <a:cs typeface="Yu Gothic" pitchFamily="34" charset="-120"/>
                        </a:rPr>
                        <a:t>保守ベンダー、インシデント対応事業者、保険、警察の相談窓口、地域の協議会</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FFFFF"/>
                    </a:solidFill>
                  </a:tcPr>
                </a:tc>
              </a:tr>
            </a:tbl>
          </a:graphicData>
        </a:graphic>
      </p:graphicFrame>
      <p:sp>
        <p:nvSpPr>
          <p:cNvPr id="8" name="Shape 5"/>
          <p:cNvSpPr/>
          <p:nvPr/>
        </p:nvSpPr>
        <p:spPr>
          <a:xfrm>
            <a:off x="640080" y="4983480"/>
            <a:ext cx="10911535" cy="658368"/>
          </a:xfrm>
          <a:prstGeom prst="rect">
            <a:avLst/>
          </a:prstGeom>
          <a:solidFill>
            <a:srgbClr val="F6EBD8"/>
          </a:solidFill>
          <a:ln/>
        </p:spPr>
      </p:sp>
      <p:sp>
        <p:nvSpPr>
          <p:cNvPr id="9" name="Shape 6"/>
          <p:cNvSpPr/>
          <p:nvPr/>
        </p:nvSpPr>
        <p:spPr>
          <a:xfrm>
            <a:off x="640080" y="4983480"/>
            <a:ext cx="73152" cy="658368"/>
          </a:xfrm>
          <a:prstGeom prst="rect">
            <a:avLst/>
          </a:prstGeom>
          <a:solidFill>
            <a:srgbClr val="C9821A"/>
          </a:solidFill>
          <a:ln/>
        </p:spPr>
      </p:sp>
      <p:sp>
        <p:nvSpPr>
          <p:cNvPr id="10" name="Text 7"/>
          <p:cNvSpPr/>
          <p:nvPr/>
        </p:nvSpPr>
        <p:spPr>
          <a:xfrm>
            <a:off x="914400" y="5056632"/>
            <a:ext cx="10454335" cy="512064"/>
          </a:xfrm>
          <a:prstGeom prst="rect">
            <a:avLst/>
          </a:prstGeom>
          <a:noFill/>
          <a:ln/>
        </p:spPr>
        <p:txBody>
          <a:bodyPr wrap="square" lIns="0" tIns="0" rIns="0" bIns="0" rtlCol="0" anchor="ctr"/>
          <a:lstStyle/>
          <a:p>
            <a:pPr indent="0" marL="0">
              <a:buNone/>
            </a:pPr>
            <a:r>
              <a:rPr lang="en-US" sz="1400" b="1" dirty="0">
                <a:solidFill>
                  <a:srgbClr val="16211F"/>
                </a:solidFill>
                <a:latin typeface="Yu Gothic" pitchFamily="34" charset="0"/>
                <a:ea typeface="Yu Gothic" pitchFamily="34" charset="-122"/>
                <a:cs typeface="Yu Gothic" pitchFamily="34" charset="-120"/>
              </a:rPr>
              <a:t>判断を「その場で作らない」ための1枚です。5つの判断 × 1枚、A4 で5枚から始められます。</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2E7D6B"/>
          </a:solidFill>
          <a:ln/>
        </p:spPr>
      </p:sp>
      <p:sp>
        <p:nvSpPr>
          <p:cNvPr id="3" name="Shape 1"/>
          <p:cNvSpPr/>
          <p:nvPr/>
        </p:nvSpPr>
        <p:spPr>
          <a:xfrm>
            <a:off x="822960" y="5989320"/>
            <a:ext cx="10515600" cy="27432"/>
          </a:xfrm>
          <a:prstGeom prst="rect">
            <a:avLst/>
          </a:prstGeom>
          <a:solidFill>
            <a:srgbClr val="C9D5D1"/>
          </a:solidFill>
          <a:ln/>
        </p:spPr>
      </p:sp>
      <p:sp>
        <p:nvSpPr>
          <p:cNvPr id="4" name="Text 2"/>
          <p:cNvSpPr/>
          <p:nvPr/>
        </p:nvSpPr>
        <p:spPr>
          <a:xfrm>
            <a:off x="822960" y="2103120"/>
            <a:ext cx="3657600" cy="548640"/>
          </a:xfrm>
          <a:prstGeom prst="rect">
            <a:avLst/>
          </a:prstGeom>
          <a:noFill/>
          <a:ln/>
        </p:spPr>
        <p:txBody>
          <a:bodyPr wrap="square" lIns="0" tIns="0" rIns="0" bIns="0" rtlCol="0" anchor="ctr"/>
          <a:lstStyle/>
          <a:p>
            <a:pPr indent="0" marL="0">
              <a:buNone/>
            </a:pPr>
            <a:r>
              <a:rPr lang="en-US" sz="2400" b="1" dirty="0">
                <a:solidFill>
                  <a:srgbClr val="C9821A"/>
                </a:solidFill>
                <a:latin typeface="Yu Gothic" pitchFamily="34" charset="0"/>
                <a:ea typeface="Yu Gothic" pitchFamily="34" charset="-122"/>
                <a:cs typeface="Yu Gothic" pitchFamily="34" charset="-120"/>
              </a:rPr>
              <a:t>第4部</a:t>
            </a:r>
            <a:endParaRPr lang="en-US" sz="2400" dirty="0"/>
          </a:p>
        </p:txBody>
      </p:sp>
      <p:sp>
        <p:nvSpPr>
          <p:cNvPr id="5" name="Text 3"/>
          <p:cNvSpPr/>
          <p:nvPr/>
        </p:nvSpPr>
        <p:spPr>
          <a:xfrm>
            <a:off x="822960" y="2697480"/>
            <a:ext cx="10607040" cy="822960"/>
          </a:xfrm>
          <a:prstGeom prst="rect">
            <a:avLst/>
          </a:prstGeom>
          <a:noFill/>
          <a:ln/>
        </p:spPr>
        <p:txBody>
          <a:bodyPr wrap="square" lIns="0" tIns="0" rIns="0" bIns="0" rtlCol="0" anchor="ctr"/>
          <a:lstStyle/>
          <a:p>
            <a:pPr indent="0" marL="0">
              <a:buNone/>
            </a:pPr>
            <a:r>
              <a:rPr lang="en-US" sz="3800" b="1" dirty="0">
                <a:solidFill>
                  <a:srgbClr val="2E7D6B"/>
                </a:solidFill>
                <a:latin typeface="Yu Gothic" pitchFamily="34" charset="0"/>
                <a:ea typeface="Yu Gothic" pitchFamily="34" charset="-122"/>
                <a:cs typeface="Yu Gothic" pitchFamily="34" charset="-120"/>
              </a:rPr>
              <a:t>平時に判断を練習する</a:t>
            </a:r>
            <a:endParaRPr lang="en-US" sz="3800" dirty="0"/>
          </a:p>
        </p:txBody>
      </p:sp>
      <p:sp>
        <p:nvSpPr>
          <p:cNvPr id="6" name="Text 4"/>
          <p:cNvSpPr/>
          <p:nvPr/>
        </p:nvSpPr>
        <p:spPr>
          <a:xfrm>
            <a:off x="822960" y="3657600"/>
            <a:ext cx="10607040" cy="457200"/>
          </a:xfrm>
          <a:prstGeom prst="rect">
            <a:avLst/>
          </a:prstGeom>
          <a:noFill/>
          <a:ln/>
        </p:spPr>
        <p:txBody>
          <a:bodyPr wrap="square" lIns="0" tIns="0" rIns="0" bIns="0" rtlCol="0" anchor="ctr"/>
          <a:lstStyle/>
          <a:p>
            <a:pPr indent="0" marL="0">
              <a:buNone/>
            </a:pPr>
            <a:r>
              <a:rPr lang="en-US" sz="1800" dirty="0">
                <a:solidFill>
                  <a:srgbClr val="5E6E6A"/>
                </a:solidFill>
                <a:latin typeface="Yu Gothic" pitchFamily="34" charset="0"/>
                <a:ea typeface="Yu Gothic" pitchFamily="34" charset="-122"/>
                <a:cs typeface="Yu Gothic" pitchFamily="34" charset="-120"/>
              </a:rPr>
              <a:t>一度も決めたことのない判断は、当日も決められません</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2E7D6B"/>
          </a:solidFill>
          <a:ln/>
        </p:spPr>
      </p:sp>
      <p:sp>
        <p:nvSpPr>
          <p:cNvPr id="3" name="Text 1"/>
          <p:cNvSpPr/>
          <p:nvPr/>
        </p:nvSpPr>
        <p:spPr>
          <a:xfrm>
            <a:off x="640080" y="292608"/>
            <a:ext cx="7772400" cy="274320"/>
          </a:xfrm>
          <a:prstGeom prst="rect">
            <a:avLst/>
          </a:prstGeom>
          <a:noFill/>
          <a:ln/>
        </p:spPr>
        <p:txBody>
          <a:bodyPr wrap="square" lIns="0" tIns="0" rIns="0" bIns="0" rtlCol="0" anchor="ctr"/>
          <a:lstStyle/>
          <a:p>
            <a:pPr indent="0" marL="0">
              <a:buNone/>
            </a:pPr>
            <a:r>
              <a:rPr lang="en-US" sz="1200" b="1" dirty="0">
                <a:solidFill>
                  <a:srgbClr val="2E7D6B"/>
                </a:solidFill>
                <a:latin typeface="Yu Gothic" pitchFamily="34" charset="0"/>
                <a:ea typeface="Yu Gothic" pitchFamily="34" charset="-122"/>
                <a:cs typeface="Yu Gothic" pitchFamily="34" charset="-120"/>
              </a:rPr>
              <a:t>第4部　提案⑤　AIを入れた演習</a:t>
            </a:r>
            <a:endParaRPr lang="en-US" sz="1200" dirty="0"/>
          </a:p>
        </p:txBody>
      </p:sp>
      <p:sp>
        <p:nvSpPr>
          <p:cNvPr id="4" name="Text 2"/>
          <p:cNvSpPr/>
          <p:nvPr/>
        </p:nvSpPr>
        <p:spPr>
          <a:xfrm>
            <a:off x="640080" y="621792"/>
            <a:ext cx="10911535" cy="685800"/>
          </a:xfrm>
          <a:prstGeom prst="rect">
            <a:avLst/>
          </a:prstGeom>
          <a:noFill/>
          <a:ln/>
        </p:spPr>
        <p:txBody>
          <a:bodyPr wrap="square" lIns="0" tIns="0" rIns="0" bIns="0" rtlCol="0" anchor="t"/>
          <a:lstStyle/>
          <a:p>
            <a:pPr indent="0" marL="0">
              <a:buNone/>
            </a:pPr>
            <a:r>
              <a:rPr lang="en-US" sz="2600" b="1" dirty="0">
                <a:solidFill>
                  <a:srgbClr val="16211F"/>
                </a:solidFill>
                <a:latin typeface="Yu Gothic" pitchFamily="34" charset="0"/>
                <a:ea typeface="Yu Gothic" pitchFamily="34" charset="-122"/>
                <a:cs typeface="Yu Gothic" pitchFamily="34" charset="-120"/>
              </a:rPr>
              <a:t>机上演習に、AIを「3つの役」で入れます</a:t>
            </a:r>
            <a:endParaRPr lang="en-US" sz="2600" dirty="0"/>
          </a:p>
        </p:txBody>
      </p:sp>
      <p:sp>
        <p:nvSpPr>
          <p:cNvPr id="5" name="Text 3"/>
          <p:cNvSpPr/>
          <p:nvPr/>
        </p:nvSpPr>
        <p:spPr>
          <a:xfrm>
            <a:off x="10180015" y="6446520"/>
            <a:ext cx="1371600" cy="228600"/>
          </a:xfrm>
          <a:prstGeom prst="rect">
            <a:avLst/>
          </a:prstGeom>
          <a:noFill/>
          <a:ln/>
        </p:spPr>
        <p:txBody>
          <a:bodyPr wrap="square" lIns="0" tIns="0" rIns="0" bIns="0" rtlCol="0" anchor="ctr"/>
          <a:lstStyle/>
          <a:p>
            <a:pPr algn="r" indent="0" marL="0">
              <a:buNone/>
            </a:pPr>
            <a:r>
              <a:rPr lang="en-US" sz="900" dirty="0">
                <a:solidFill>
                  <a:srgbClr val="5E6E6A"/>
                </a:solidFill>
                <a:latin typeface="Yu Gothic" pitchFamily="34" charset="0"/>
                <a:ea typeface="Yu Gothic" pitchFamily="34" charset="-122"/>
                <a:cs typeface="Yu Gothic" pitchFamily="34" charset="-120"/>
              </a:rPr>
              <a:t>18 / 23</a:t>
            </a:r>
            <a:endParaRPr lang="en-US" sz="900" dirty="0"/>
          </a:p>
        </p:txBody>
      </p:sp>
      <p:sp>
        <p:nvSpPr>
          <p:cNvPr id="6" name="Text 4"/>
          <p:cNvSpPr/>
          <p:nvPr/>
        </p:nvSpPr>
        <p:spPr>
          <a:xfrm>
            <a:off x="640080" y="6446520"/>
            <a:ext cx="6400800" cy="228600"/>
          </a:xfrm>
          <a:prstGeom prst="rect">
            <a:avLst/>
          </a:prstGeom>
          <a:noFill/>
          <a:ln/>
        </p:spPr>
        <p:txBody>
          <a:bodyPr wrap="square" lIns="0" tIns="0" rIns="0" bIns="0" rtlCol="0" anchor="ctr"/>
          <a:lstStyle/>
          <a:p>
            <a:pPr indent="0" marL="0">
              <a:buNone/>
            </a:pPr>
            <a:r>
              <a:rPr lang="en-US" sz="900" dirty="0">
                <a:solidFill>
                  <a:srgbClr val="9FB2AD"/>
                </a:solidFill>
                <a:latin typeface="Yu Gothic" pitchFamily="34" charset="0"/>
                <a:ea typeface="Yu Gothic" pitchFamily="34" charset="-122"/>
                <a:cs typeface="Yu Gothic" pitchFamily="34" charset="-120"/>
              </a:rPr>
              <a:t>Security Days Fall 2026 Fukuoka　FB-05　小出 洋（九州大学）</a:t>
            </a:r>
            <a:endParaRPr lang="en-US" sz="900" dirty="0"/>
          </a:p>
        </p:txBody>
      </p:sp>
      <p:sp>
        <p:nvSpPr>
          <p:cNvPr id="7" name="Shape 5"/>
          <p:cNvSpPr/>
          <p:nvPr/>
        </p:nvSpPr>
        <p:spPr>
          <a:xfrm>
            <a:off x="640080" y="1554480"/>
            <a:ext cx="3503066" cy="3063240"/>
          </a:xfrm>
          <a:prstGeom prst="roundRect">
            <a:avLst>
              <a:gd name="adj" fmla="val 1493"/>
            </a:avLst>
          </a:prstGeom>
          <a:solidFill>
            <a:srgbClr val="EDF3F1"/>
          </a:solidFill>
          <a:ln w="9525">
            <a:solidFill>
              <a:srgbClr val="C9D5D1"/>
            </a:solidFill>
            <a:prstDash val="solid"/>
          </a:ln>
        </p:spPr>
      </p:sp>
      <p:sp>
        <p:nvSpPr>
          <p:cNvPr id="8" name="Text 6"/>
          <p:cNvSpPr/>
          <p:nvPr/>
        </p:nvSpPr>
        <p:spPr>
          <a:xfrm>
            <a:off x="822960" y="1700784"/>
            <a:ext cx="3137306" cy="411480"/>
          </a:xfrm>
          <a:prstGeom prst="rect">
            <a:avLst/>
          </a:prstGeom>
          <a:noFill/>
          <a:ln/>
        </p:spPr>
        <p:txBody>
          <a:bodyPr wrap="square" lIns="0" tIns="0" rIns="0" bIns="0" rtlCol="0" anchor="t"/>
          <a:lstStyle/>
          <a:p>
            <a:pPr indent="0" marL="0">
              <a:buNone/>
            </a:pPr>
            <a:r>
              <a:rPr lang="en-US" sz="1600" b="1" dirty="0">
                <a:solidFill>
                  <a:srgbClr val="2E7D6B"/>
                </a:solidFill>
                <a:latin typeface="Yu Gothic" pitchFamily="34" charset="0"/>
                <a:ea typeface="Yu Gothic" pitchFamily="34" charset="-122"/>
                <a:cs typeface="Yu Gothic" pitchFamily="34" charset="-120"/>
              </a:rPr>
              <a:t>状況をまとめる役</a:t>
            </a:r>
            <a:endParaRPr lang="en-US" sz="1600" dirty="0"/>
          </a:p>
        </p:txBody>
      </p:sp>
      <p:sp>
        <p:nvSpPr>
          <p:cNvPr id="9" name="Text 7"/>
          <p:cNvSpPr/>
          <p:nvPr/>
        </p:nvSpPr>
        <p:spPr>
          <a:xfrm>
            <a:off x="822960" y="2203704"/>
            <a:ext cx="3137306" cy="2304288"/>
          </a:xfrm>
          <a:prstGeom prst="rect">
            <a:avLst/>
          </a:prstGeom>
          <a:noFill/>
          <a:ln/>
        </p:spPr>
        <p:txBody>
          <a:bodyPr wrap="square" lIns="0" tIns="0" rIns="0" bIns="0" rtlCol="0" anchor="t"/>
          <a:lstStyle/>
          <a:p>
            <a:pPr indent="0" marL="0">
              <a:lnSpc>
                <a:spcPct val="115000"/>
              </a:lnSpc>
              <a:buNone/>
            </a:pPr>
            <a:r>
              <a:rPr lang="en-US" sz="1300" dirty="0">
                <a:solidFill>
                  <a:srgbClr val="16211F"/>
                </a:solidFill>
                <a:latin typeface="Yu Gothic" pitchFamily="34" charset="0"/>
                <a:ea typeface="Yu Gothic" pitchFamily="34" charset="-122"/>
                <a:cs typeface="Yu Gothic" pitchFamily="34" charset="-120"/>
              </a:rPr>
              <a:t>次々に入る情報を AI が整理し、判断する人に要約を渡します。参加者がそれを鵜呑みにしないかも見ます</a:t>
            </a:r>
            <a:endParaRPr lang="en-US" sz="1300" dirty="0"/>
          </a:p>
        </p:txBody>
      </p:sp>
      <p:sp>
        <p:nvSpPr>
          <p:cNvPr id="10" name="Shape 8"/>
          <p:cNvSpPr/>
          <p:nvPr/>
        </p:nvSpPr>
        <p:spPr>
          <a:xfrm>
            <a:off x="4344314" y="1554480"/>
            <a:ext cx="3503066" cy="3063240"/>
          </a:xfrm>
          <a:prstGeom prst="roundRect">
            <a:avLst>
              <a:gd name="adj" fmla="val 1493"/>
            </a:avLst>
          </a:prstGeom>
          <a:solidFill>
            <a:srgbClr val="EDF3F1"/>
          </a:solidFill>
          <a:ln w="9525">
            <a:solidFill>
              <a:srgbClr val="C9D5D1"/>
            </a:solidFill>
            <a:prstDash val="solid"/>
          </a:ln>
        </p:spPr>
      </p:sp>
      <p:sp>
        <p:nvSpPr>
          <p:cNvPr id="11" name="Text 9"/>
          <p:cNvSpPr/>
          <p:nvPr/>
        </p:nvSpPr>
        <p:spPr>
          <a:xfrm>
            <a:off x="4527194" y="1700784"/>
            <a:ext cx="3137306" cy="411480"/>
          </a:xfrm>
          <a:prstGeom prst="rect">
            <a:avLst/>
          </a:prstGeom>
          <a:noFill/>
          <a:ln/>
        </p:spPr>
        <p:txBody>
          <a:bodyPr wrap="square" lIns="0" tIns="0" rIns="0" bIns="0" rtlCol="0" anchor="t"/>
          <a:lstStyle/>
          <a:p>
            <a:pPr indent="0" marL="0">
              <a:buNone/>
            </a:pPr>
            <a:r>
              <a:rPr lang="en-US" sz="1600" b="1" dirty="0">
                <a:solidFill>
                  <a:srgbClr val="2E7D6B"/>
                </a:solidFill>
                <a:latin typeface="Yu Gothic" pitchFamily="34" charset="0"/>
                <a:ea typeface="Yu Gothic" pitchFamily="34" charset="-122"/>
                <a:cs typeface="Yu Gothic" pitchFamily="34" charset="-120"/>
              </a:rPr>
              <a:t>状況を揺さぶる役</a:t>
            </a:r>
            <a:endParaRPr lang="en-US" sz="1600" dirty="0"/>
          </a:p>
        </p:txBody>
      </p:sp>
      <p:sp>
        <p:nvSpPr>
          <p:cNvPr id="12" name="Text 10"/>
          <p:cNvSpPr/>
          <p:nvPr/>
        </p:nvSpPr>
        <p:spPr>
          <a:xfrm>
            <a:off x="4527194" y="2203704"/>
            <a:ext cx="3137306" cy="2304288"/>
          </a:xfrm>
          <a:prstGeom prst="rect">
            <a:avLst/>
          </a:prstGeom>
          <a:noFill/>
          <a:ln/>
        </p:spPr>
        <p:txBody>
          <a:bodyPr wrap="square" lIns="0" tIns="0" rIns="0" bIns="0" rtlCol="0" anchor="t"/>
          <a:lstStyle/>
          <a:p>
            <a:pPr indent="0" marL="0">
              <a:lnSpc>
                <a:spcPct val="115000"/>
              </a:lnSpc>
              <a:buNone/>
            </a:pPr>
            <a:r>
              <a:rPr lang="en-US" sz="1300" dirty="0">
                <a:solidFill>
                  <a:srgbClr val="16211F"/>
                </a:solidFill>
                <a:latin typeface="Yu Gothic" pitchFamily="34" charset="0"/>
                <a:ea typeface="Yu Gothic" pitchFamily="34" charset="-122"/>
                <a:cs typeface="Yu Gothic" pitchFamily="34" charset="-120"/>
              </a:rPr>
              <a:t>誤った要約や、自信過剰な提案、想定外の問い合わせを AI が差し込みます。毎回違う演習になります</a:t>
            </a:r>
            <a:endParaRPr lang="en-US" sz="1300" dirty="0"/>
          </a:p>
        </p:txBody>
      </p:sp>
      <p:sp>
        <p:nvSpPr>
          <p:cNvPr id="13" name="Shape 11"/>
          <p:cNvSpPr/>
          <p:nvPr/>
        </p:nvSpPr>
        <p:spPr>
          <a:xfrm>
            <a:off x="8048549" y="1554480"/>
            <a:ext cx="3503066" cy="3063240"/>
          </a:xfrm>
          <a:prstGeom prst="roundRect">
            <a:avLst>
              <a:gd name="adj" fmla="val 1493"/>
            </a:avLst>
          </a:prstGeom>
          <a:solidFill>
            <a:srgbClr val="EDF3F1"/>
          </a:solidFill>
          <a:ln w="9525">
            <a:solidFill>
              <a:srgbClr val="C9D5D1"/>
            </a:solidFill>
            <a:prstDash val="solid"/>
          </a:ln>
        </p:spPr>
      </p:sp>
      <p:sp>
        <p:nvSpPr>
          <p:cNvPr id="14" name="Text 12"/>
          <p:cNvSpPr/>
          <p:nvPr/>
        </p:nvSpPr>
        <p:spPr>
          <a:xfrm>
            <a:off x="8231429" y="1700784"/>
            <a:ext cx="3137306" cy="411480"/>
          </a:xfrm>
          <a:prstGeom prst="rect">
            <a:avLst/>
          </a:prstGeom>
          <a:noFill/>
          <a:ln/>
        </p:spPr>
        <p:txBody>
          <a:bodyPr wrap="square" lIns="0" tIns="0" rIns="0" bIns="0" rtlCol="0" anchor="t"/>
          <a:lstStyle/>
          <a:p>
            <a:pPr indent="0" marL="0">
              <a:buNone/>
            </a:pPr>
            <a:r>
              <a:rPr lang="en-US" sz="1600" b="1" dirty="0">
                <a:solidFill>
                  <a:srgbClr val="2E7D6B"/>
                </a:solidFill>
                <a:latin typeface="Yu Gothic" pitchFamily="34" charset="0"/>
                <a:ea typeface="Yu Gothic" pitchFamily="34" charset="-122"/>
                <a:cs typeface="Yu Gothic" pitchFamily="34" charset="-120"/>
              </a:rPr>
              <a:t>記録を残す役</a:t>
            </a:r>
            <a:endParaRPr lang="en-US" sz="1600" dirty="0"/>
          </a:p>
        </p:txBody>
      </p:sp>
      <p:sp>
        <p:nvSpPr>
          <p:cNvPr id="15" name="Text 13"/>
          <p:cNvSpPr/>
          <p:nvPr/>
        </p:nvSpPr>
        <p:spPr>
          <a:xfrm>
            <a:off x="8231429" y="2203704"/>
            <a:ext cx="3137306" cy="2304288"/>
          </a:xfrm>
          <a:prstGeom prst="rect">
            <a:avLst/>
          </a:prstGeom>
          <a:noFill/>
          <a:ln/>
        </p:spPr>
        <p:txBody>
          <a:bodyPr wrap="square" lIns="0" tIns="0" rIns="0" bIns="0" rtlCol="0" anchor="t"/>
          <a:lstStyle/>
          <a:p>
            <a:pPr indent="0" marL="0">
              <a:lnSpc>
                <a:spcPct val="115000"/>
              </a:lnSpc>
              <a:buNone/>
            </a:pPr>
            <a:r>
              <a:rPr lang="en-US" sz="1300" dirty="0">
                <a:solidFill>
                  <a:srgbClr val="16211F"/>
                </a:solidFill>
                <a:latin typeface="Yu Gothic" pitchFamily="34" charset="0"/>
                <a:ea typeface="Yu Gothic" pitchFamily="34" charset="-122"/>
                <a:cs typeface="Yu Gothic" pitchFamily="34" charset="-120"/>
              </a:rPr>
              <a:t>誰が、いつ、何を根拠に暫定で決め、いつ見直したかを記録し、振り返りの材料にします</a:t>
            </a:r>
            <a:endParaRPr lang="en-US" sz="1300" dirty="0"/>
          </a:p>
        </p:txBody>
      </p:sp>
      <p:sp>
        <p:nvSpPr>
          <p:cNvPr id="16" name="Shape 14"/>
          <p:cNvSpPr/>
          <p:nvPr/>
        </p:nvSpPr>
        <p:spPr>
          <a:xfrm>
            <a:off x="640080" y="4892040"/>
            <a:ext cx="10911535" cy="658368"/>
          </a:xfrm>
          <a:prstGeom prst="rect">
            <a:avLst/>
          </a:prstGeom>
          <a:solidFill>
            <a:srgbClr val="F6EBD8"/>
          </a:solidFill>
          <a:ln/>
        </p:spPr>
      </p:sp>
      <p:sp>
        <p:nvSpPr>
          <p:cNvPr id="17" name="Shape 15"/>
          <p:cNvSpPr/>
          <p:nvPr/>
        </p:nvSpPr>
        <p:spPr>
          <a:xfrm>
            <a:off x="640080" y="4892040"/>
            <a:ext cx="73152" cy="658368"/>
          </a:xfrm>
          <a:prstGeom prst="rect">
            <a:avLst/>
          </a:prstGeom>
          <a:solidFill>
            <a:srgbClr val="C9821A"/>
          </a:solidFill>
          <a:ln/>
        </p:spPr>
      </p:sp>
      <p:sp>
        <p:nvSpPr>
          <p:cNvPr id="18" name="Text 16"/>
          <p:cNvSpPr/>
          <p:nvPr/>
        </p:nvSpPr>
        <p:spPr>
          <a:xfrm>
            <a:off x="914400" y="4965192"/>
            <a:ext cx="10454335" cy="512064"/>
          </a:xfrm>
          <a:prstGeom prst="rect">
            <a:avLst/>
          </a:prstGeom>
          <a:noFill/>
          <a:ln/>
        </p:spPr>
        <p:txBody>
          <a:bodyPr wrap="square" lIns="0" tIns="0" rIns="0" bIns="0" rtlCol="0" anchor="ctr"/>
          <a:lstStyle/>
          <a:p>
            <a:pPr indent="0" marL="0">
              <a:buNone/>
            </a:pPr>
            <a:r>
              <a:rPr lang="en-US" sz="1400" b="1" dirty="0">
                <a:solidFill>
                  <a:srgbClr val="16211F"/>
                </a:solidFill>
                <a:latin typeface="Yu Gothic" pitchFamily="34" charset="0"/>
                <a:ea typeface="Yu Gothic" pitchFamily="34" charset="-122"/>
                <a:cs typeface="Yu Gothic" pitchFamily="34" charset="-120"/>
              </a:rPr>
              <a:t>AIは参謀であって、決裁者ではありません。そのことを、演習で体に覚えてもらいます。</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2E7D6B"/>
          </a:solidFill>
          <a:ln/>
        </p:spPr>
      </p:sp>
      <p:sp>
        <p:nvSpPr>
          <p:cNvPr id="3" name="Text 1"/>
          <p:cNvSpPr/>
          <p:nvPr/>
        </p:nvSpPr>
        <p:spPr>
          <a:xfrm>
            <a:off x="640080" y="292608"/>
            <a:ext cx="7772400" cy="274320"/>
          </a:xfrm>
          <a:prstGeom prst="rect">
            <a:avLst/>
          </a:prstGeom>
          <a:noFill/>
          <a:ln/>
        </p:spPr>
        <p:txBody>
          <a:bodyPr wrap="square" lIns="0" tIns="0" rIns="0" bIns="0" rtlCol="0" anchor="ctr"/>
          <a:lstStyle/>
          <a:p>
            <a:pPr indent="0" marL="0">
              <a:buNone/>
            </a:pPr>
            <a:r>
              <a:rPr lang="en-US" sz="1200" b="1" dirty="0">
                <a:solidFill>
                  <a:srgbClr val="2E7D6B"/>
                </a:solidFill>
                <a:latin typeface="Yu Gothic" pitchFamily="34" charset="0"/>
                <a:ea typeface="Yu Gothic" pitchFamily="34" charset="-122"/>
                <a:cs typeface="Yu Gothic" pitchFamily="34" charset="-120"/>
              </a:rPr>
              <a:t>第4部　平時に判断を練習する</a:t>
            </a:r>
            <a:endParaRPr lang="en-US" sz="1200" dirty="0"/>
          </a:p>
        </p:txBody>
      </p:sp>
      <p:sp>
        <p:nvSpPr>
          <p:cNvPr id="4" name="Text 2"/>
          <p:cNvSpPr/>
          <p:nvPr/>
        </p:nvSpPr>
        <p:spPr>
          <a:xfrm>
            <a:off x="640080" y="621792"/>
            <a:ext cx="10911535" cy="685800"/>
          </a:xfrm>
          <a:prstGeom prst="rect">
            <a:avLst/>
          </a:prstGeom>
          <a:noFill/>
          <a:ln/>
        </p:spPr>
        <p:txBody>
          <a:bodyPr wrap="square" lIns="0" tIns="0" rIns="0" bIns="0" rtlCol="0" anchor="t"/>
          <a:lstStyle/>
          <a:p>
            <a:pPr indent="0" marL="0">
              <a:buNone/>
            </a:pPr>
            <a:r>
              <a:rPr lang="en-US" sz="2600" b="1" dirty="0">
                <a:solidFill>
                  <a:srgbClr val="16211F"/>
                </a:solidFill>
                <a:latin typeface="Yu Gothic" pitchFamily="34" charset="0"/>
                <a:ea typeface="Yu Gothic" pitchFamily="34" charset="-122"/>
                <a:cs typeface="Yu Gothic" pitchFamily="34" charset="-120"/>
              </a:rPr>
              <a:t>演習で測るのは、判断の「質」です</a:t>
            </a:r>
            <a:endParaRPr lang="en-US" sz="2600" dirty="0"/>
          </a:p>
        </p:txBody>
      </p:sp>
      <p:sp>
        <p:nvSpPr>
          <p:cNvPr id="5" name="Text 3"/>
          <p:cNvSpPr/>
          <p:nvPr/>
        </p:nvSpPr>
        <p:spPr>
          <a:xfrm>
            <a:off x="10180015" y="6446520"/>
            <a:ext cx="1371600" cy="228600"/>
          </a:xfrm>
          <a:prstGeom prst="rect">
            <a:avLst/>
          </a:prstGeom>
          <a:noFill/>
          <a:ln/>
        </p:spPr>
        <p:txBody>
          <a:bodyPr wrap="square" lIns="0" tIns="0" rIns="0" bIns="0" rtlCol="0" anchor="ctr"/>
          <a:lstStyle/>
          <a:p>
            <a:pPr algn="r" indent="0" marL="0">
              <a:buNone/>
            </a:pPr>
            <a:r>
              <a:rPr lang="en-US" sz="900" dirty="0">
                <a:solidFill>
                  <a:srgbClr val="5E6E6A"/>
                </a:solidFill>
                <a:latin typeface="Yu Gothic" pitchFamily="34" charset="0"/>
                <a:ea typeface="Yu Gothic" pitchFamily="34" charset="-122"/>
                <a:cs typeface="Yu Gothic" pitchFamily="34" charset="-120"/>
              </a:rPr>
              <a:t>19 / 23</a:t>
            </a:r>
            <a:endParaRPr lang="en-US" sz="900" dirty="0"/>
          </a:p>
        </p:txBody>
      </p:sp>
      <p:sp>
        <p:nvSpPr>
          <p:cNvPr id="6" name="Text 4"/>
          <p:cNvSpPr/>
          <p:nvPr/>
        </p:nvSpPr>
        <p:spPr>
          <a:xfrm>
            <a:off x="640080" y="6446520"/>
            <a:ext cx="6400800" cy="228600"/>
          </a:xfrm>
          <a:prstGeom prst="rect">
            <a:avLst/>
          </a:prstGeom>
          <a:noFill/>
          <a:ln/>
        </p:spPr>
        <p:txBody>
          <a:bodyPr wrap="square" lIns="0" tIns="0" rIns="0" bIns="0" rtlCol="0" anchor="ctr"/>
          <a:lstStyle/>
          <a:p>
            <a:pPr indent="0" marL="0">
              <a:buNone/>
            </a:pPr>
            <a:r>
              <a:rPr lang="en-US" sz="900" dirty="0">
                <a:solidFill>
                  <a:srgbClr val="9FB2AD"/>
                </a:solidFill>
                <a:latin typeface="Yu Gothic" pitchFamily="34" charset="0"/>
                <a:ea typeface="Yu Gothic" pitchFamily="34" charset="-122"/>
                <a:cs typeface="Yu Gothic" pitchFamily="34" charset="-120"/>
              </a:rPr>
              <a:t>Security Days Fall 2026 Fukuoka　FB-05　小出 洋（九州大学）</a:t>
            </a:r>
            <a:endParaRPr lang="en-US" sz="9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40080" y="1463040"/>
          <a:ext cx="10911535" cy="914400"/>
        </p:xfrm>
        <a:graphic>
          <a:graphicData uri="http://schemas.openxmlformats.org/drawingml/2006/table">
            <a:tbl>
              <a:tblPr/>
              <a:tblGrid>
                <a:gridCol w="2651760"/>
                <a:gridCol w="8138160"/>
              </a:tblGrid>
              <a:tr h="475488">
                <a:tc>
                  <a:txBody>
                    <a:bodyPr/>
                    <a:lstStyle/>
                    <a:p>
                      <a:pPr indent="0" marL="0">
                        <a:buNone/>
                      </a:pPr>
                      <a:r>
                        <a:rPr lang="en-US" sz="1300" b="1" dirty="0">
                          <a:solidFill>
                            <a:srgbClr val="FFFFFF"/>
                          </a:solidFill>
                          <a:latin typeface="Yu Gothic" pitchFamily="34" charset="0"/>
                          <a:ea typeface="Yu Gothic" pitchFamily="34" charset="-122"/>
                          <a:cs typeface="Yu Gothic" pitchFamily="34" charset="-120"/>
                        </a:rPr>
                        <a:t>観点</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2E7D6B"/>
                    </a:solidFill>
                  </a:tcPr>
                </a:tc>
                <a:tc>
                  <a:txBody>
                    <a:bodyPr/>
                    <a:lstStyle/>
                    <a:p>
                      <a:pPr indent="0" marL="0">
                        <a:buNone/>
                      </a:pPr>
                      <a:r>
                        <a:rPr lang="en-US" sz="1300" b="1" dirty="0">
                          <a:solidFill>
                            <a:srgbClr val="FFFFFF"/>
                          </a:solidFill>
                          <a:latin typeface="Yu Gothic" pitchFamily="34" charset="0"/>
                          <a:ea typeface="Yu Gothic" pitchFamily="34" charset="-122"/>
                          <a:cs typeface="Yu Gothic" pitchFamily="34" charset="-120"/>
                        </a:rPr>
                        <a:t>記録するもの</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2E7D6B"/>
                    </a:solidFill>
                  </a:tcPr>
                </a:tc>
              </a:tr>
              <a:tr h="475488">
                <a:tc>
                  <a:txBody>
                    <a:bodyPr/>
                    <a:lstStyle/>
                    <a:p>
                      <a:pPr indent="0" marL="0">
                        <a:buNone/>
                      </a:pPr>
                      <a:r>
                        <a:rPr lang="en-US" sz="1300" b="1" dirty="0">
                          <a:solidFill>
                            <a:srgbClr val="16211F"/>
                          </a:solidFill>
                          <a:latin typeface="Yu Gothic" pitchFamily="34" charset="0"/>
                          <a:ea typeface="Yu Gothic" pitchFamily="34" charset="-122"/>
                          <a:cs typeface="Yu Gothic" pitchFamily="34" charset="-120"/>
                        </a:rPr>
                        <a:t>暫定判断までの時間</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4F7F6"/>
                    </a:solidFill>
                  </a:tcPr>
                </a:tc>
                <a:tc>
                  <a:txBody>
                    <a:bodyPr/>
                    <a:lstStyle/>
                    <a:p>
                      <a:pPr indent="0" marL="0">
                        <a:buNone/>
                      </a:pPr>
                      <a:r>
                        <a:rPr lang="en-US" sz="1300" dirty="0">
                          <a:solidFill>
                            <a:srgbClr val="16211F"/>
                          </a:solidFill>
                          <a:latin typeface="Yu Gothic" pitchFamily="34" charset="0"/>
                          <a:ea typeface="Yu Gothic" pitchFamily="34" charset="-122"/>
                          <a:cs typeface="Yu Gothic" pitchFamily="34" charset="-120"/>
                        </a:rPr>
                        <a:t>情報が入ってから暫定で決めるまで。決めずに止まっていた時間</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4F7F6"/>
                    </a:solidFill>
                  </a:tcPr>
                </a:tc>
              </a:tr>
              <a:tr h="475488">
                <a:tc>
                  <a:txBody>
                    <a:bodyPr/>
                    <a:lstStyle/>
                    <a:p>
                      <a:pPr indent="0" marL="0">
                        <a:buNone/>
                      </a:pPr>
                      <a:r>
                        <a:rPr lang="en-US" sz="1300" b="1" dirty="0">
                          <a:solidFill>
                            <a:srgbClr val="16211F"/>
                          </a:solidFill>
                          <a:latin typeface="Yu Gothic" pitchFamily="34" charset="0"/>
                          <a:ea typeface="Yu Gothic" pitchFamily="34" charset="-122"/>
                          <a:cs typeface="Yu Gothic" pitchFamily="34" charset="-120"/>
                        </a:rPr>
                        <a:t>見直し</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FFFFF"/>
                    </a:solidFill>
                  </a:tcPr>
                </a:tc>
                <a:tc>
                  <a:txBody>
                    <a:bodyPr/>
                    <a:lstStyle/>
                    <a:p>
                      <a:pPr indent="0" marL="0">
                        <a:buNone/>
                      </a:pPr>
                      <a:r>
                        <a:rPr lang="en-US" sz="1300" dirty="0">
                          <a:solidFill>
                            <a:srgbClr val="16211F"/>
                          </a:solidFill>
                          <a:latin typeface="Yu Gothic" pitchFamily="34" charset="0"/>
                          <a:ea typeface="Yu Gothic" pitchFamily="34" charset="-122"/>
                          <a:cs typeface="Yu Gothic" pitchFamily="34" charset="-120"/>
                        </a:rPr>
                        <a:t>決めた時刻どおりに見直したか。何を見て覆した／維持したか</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FFFFF"/>
                    </a:solidFill>
                  </a:tcPr>
                </a:tc>
              </a:tr>
              <a:tr h="475488">
                <a:tc>
                  <a:txBody>
                    <a:bodyPr/>
                    <a:lstStyle/>
                    <a:p>
                      <a:pPr indent="0" marL="0">
                        <a:buNone/>
                      </a:pPr>
                      <a:r>
                        <a:rPr lang="en-US" sz="1300" b="1" dirty="0">
                          <a:solidFill>
                            <a:srgbClr val="16211F"/>
                          </a:solidFill>
                          <a:latin typeface="Yu Gothic" pitchFamily="34" charset="0"/>
                          <a:ea typeface="Yu Gothic" pitchFamily="34" charset="-122"/>
                          <a:cs typeface="Yu Gothic" pitchFamily="34" charset="-120"/>
                        </a:rPr>
                        <a:t>AIとの距離</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4F7F6"/>
                    </a:solidFill>
                  </a:tcPr>
                </a:tc>
                <a:tc>
                  <a:txBody>
                    <a:bodyPr/>
                    <a:lstStyle/>
                    <a:p>
                      <a:pPr indent="0" marL="0">
                        <a:buNone/>
                      </a:pPr>
                      <a:r>
                        <a:rPr lang="en-US" sz="1300" dirty="0">
                          <a:solidFill>
                            <a:srgbClr val="16211F"/>
                          </a:solidFill>
                          <a:latin typeface="Yu Gothic" pitchFamily="34" charset="0"/>
                          <a:ea typeface="Yu Gothic" pitchFamily="34" charset="-122"/>
                          <a:cs typeface="Yu Gothic" pitchFamily="34" charset="-120"/>
                        </a:rPr>
                        <a:t>要約を確かめたか（過信）。使える材料を捨てていないか（過剰な拒否）</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4F7F6"/>
                    </a:solidFill>
                  </a:tcPr>
                </a:tc>
              </a:tr>
              <a:tr h="475488">
                <a:tc>
                  <a:txBody>
                    <a:bodyPr/>
                    <a:lstStyle/>
                    <a:p>
                      <a:pPr indent="0" marL="0">
                        <a:buNone/>
                      </a:pPr>
                      <a:r>
                        <a:rPr lang="en-US" sz="1300" b="1" dirty="0">
                          <a:solidFill>
                            <a:srgbClr val="16211F"/>
                          </a:solidFill>
                          <a:latin typeface="Yu Gothic" pitchFamily="34" charset="0"/>
                          <a:ea typeface="Yu Gothic" pitchFamily="34" charset="-122"/>
                          <a:cs typeface="Yu Gothic" pitchFamily="34" charset="-120"/>
                        </a:rPr>
                        <a:t>伝わり方</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FFFFF"/>
                    </a:solidFill>
                  </a:tcPr>
                </a:tc>
                <a:tc>
                  <a:txBody>
                    <a:bodyPr/>
                    <a:lstStyle/>
                    <a:p>
                      <a:pPr indent="0" marL="0">
                        <a:buNone/>
                      </a:pPr>
                      <a:r>
                        <a:rPr lang="en-US" sz="1300" dirty="0">
                          <a:solidFill>
                            <a:srgbClr val="16211F"/>
                          </a:solidFill>
                          <a:latin typeface="Yu Gothic" pitchFamily="34" charset="0"/>
                          <a:ea typeface="Yu Gothic" pitchFamily="34" charset="-122"/>
                          <a:cs typeface="Yu Gothic" pitchFamily="34" charset="-120"/>
                        </a:rPr>
                        <a:t>判断が次の部門・取引先へ、いつ届いたか</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FFFFF"/>
                    </a:solidFill>
                  </a:tcPr>
                </a:tc>
              </a:tr>
            </a:tbl>
          </a:graphicData>
        </a:graphic>
      </p:graphicFrame>
      <p:sp>
        <p:nvSpPr>
          <p:cNvPr id="8" name="Shape 5"/>
          <p:cNvSpPr/>
          <p:nvPr/>
        </p:nvSpPr>
        <p:spPr>
          <a:xfrm>
            <a:off x="640080" y="4983480"/>
            <a:ext cx="10911535" cy="658368"/>
          </a:xfrm>
          <a:prstGeom prst="rect">
            <a:avLst/>
          </a:prstGeom>
          <a:solidFill>
            <a:srgbClr val="F6EBD8"/>
          </a:solidFill>
          <a:ln/>
        </p:spPr>
      </p:sp>
      <p:sp>
        <p:nvSpPr>
          <p:cNvPr id="9" name="Shape 6"/>
          <p:cNvSpPr/>
          <p:nvPr/>
        </p:nvSpPr>
        <p:spPr>
          <a:xfrm>
            <a:off x="640080" y="4983480"/>
            <a:ext cx="73152" cy="658368"/>
          </a:xfrm>
          <a:prstGeom prst="rect">
            <a:avLst/>
          </a:prstGeom>
          <a:solidFill>
            <a:srgbClr val="C9821A"/>
          </a:solidFill>
          <a:ln/>
        </p:spPr>
      </p:sp>
      <p:sp>
        <p:nvSpPr>
          <p:cNvPr id="10" name="Text 7"/>
          <p:cNvSpPr/>
          <p:nvPr/>
        </p:nvSpPr>
        <p:spPr>
          <a:xfrm>
            <a:off x="914400" y="5056632"/>
            <a:ext cx="10454335" cy="512064"/>
          </a:xfrm>
          <a:prstGeom prst="rect">
            <a:avLst/>
          </a:prstGeom>
          <a:noFill/>
          <a:ln/>
        </p:spPr>
        <p:txBody>
          <a:bodyPr wrap="square" lIns="0" tIns="0" rIns="0" bIns="0" rtlCol="0" anchor="ctr"/>
          <a:lstStyle/>
          <a:p>
            <a:pPr indent="0" marL="0">
              <a:buNone/>
            </a:pPr>
            <a:r>
              <a:rPr lang="en-US" sz="1400" b="1" dirty="0">
                <a:solidFill>
                  <a:srgbClr val="16211F"/>
                </a:solidFill>
                <a:latin typeface="Yu Gothic" pitchFamily="34" charset="0"/>
                <a:ea typeface="Yu Gothic" pitchFamily="34" charset="-122"/>
                <a:cs typeface="Yu Gothic" pitchFamily="34" charset="-120"/>
              </a:rPr>
              <a:t>人の評価はしません。演習の成果物は、書き直した判断カードです。</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2E7D6B"/>
          </a:solidFill>
          <a:ln/>
        </p:spPr>
      </p:sp>
      <p:sp>
        <p:nvSpPr>
          <p:cNvPr id="3" name="Text 1"/>
          <p:cNvSpPr/>
          <p:nvPr/>
        </p:nvSpPr>
        <p:spPr>
          <a:xfrm>
            <a:off x="640080" y="292608"/>
            <a:ext cx="7772400" cy="274320"/>
          </a:xfrm>
          <a:prstGeom prst="rect">
            <a:avLst/>
          </a:prstGeom>
          <a:noFill/>
          <a:ln/>
        </p:spPr>
        <p:txBody>
          <a:bodyPr wrap="square" lIns="0" tIns="0" rIns="0" bIns="0" rtlCol="0" anchor="ctr"/>
          <a:lstStyle/>
          <a:p>
            <a:pPr indent="0" marL="0">
              <a:buNone/>
            </a:pPr>
            <a:r>
              <a:rPr lang="en-US" sz="1200" b="1" dirty="0">
                <a:solidFill>
                  <a:srgbClr val="2E7D6B"/>
                </a:solidFill>
                <a:latin typeface="Yu Gothic" pitchFamily="34" charset="0"/>
                <a:ea typeface="Yu Gothic" pitchFamily="34" charset="-122"/>
                <a:cs typeface="Yu Gothic" pitchFamily="34" charset="-120"/>
              </a:rPr>
              <a:t>明日からやること</a:t>
            </a:r>
            <a:endParaRPr lang="en-US" sz="1200" dirty="0"/>
          </a:p>
        </p:txBody>
      </p:sp>
      <p:sp>
        <p:nvSpPr>
          <p:cNvPr id="4" name="Text 2"/>
          <p:cNvSpPr/>
          <p:nvPr/>
        </p:nvSpPr>
        <p:spPr>
          <a:xfrm>
            <a:off x="640080" y="621792"/>
            <a:ext cx="10911535" cy="685800"/>
          </a:xfrm>
          <a:prstGeom prst="rect">
            <a:avLst/>
          </a:prstGeom>
          <a:noFill/>
          <a:ln/>
        </p:spPr>
        <p:txBody>
          <a:bodyPr wrap="square" lIns="0" tIns="0" rIns="0" bIns="0" rtlCol="0" anchor="t"/>
          <a:lstStyle/>
          <a:p>
            <a:pPr indent="0" marL="0">
              <a:buNone/>
            </a:pPr>
            <a:r>
              <a:rPr lang="en-US" sz="2600" b="1" dirty="0">
                <a:solidFill>
                  <a:srgbClr val="16211F"/>
                </a:solidFill>
                <a:latin typeface="Yu Gothic" pitchFamily="34" charset="0"/>
                <a:ea typeface="Yu Gothic" pitchFamily="34" charset="-122"/>
                <a:cs typeface="Yu Gothic" pitchFamily="34" charset="-120"/>
              </a:rPr>
              <a:t>持ち帰っていただきたい3つ</a:t>
            </a:r>
            <a:endParaRPr lang="en-US" sz="2600" dirty="0"/>
          </a:p>
        </p:txBody>
      </p:sp>
      <p:sp>
        <p:nvSpPr>
          <p:cNvPr id="5" name="Text 3"/>
          <p:cNvSpPr/>
          <p:nvPr/>
        </p:nvSpPr>
        <p:spPr>
          <a:xfrm>
            <a:off x="10180015" y="6446520"/>
            <a:ext cx="1371600" cy="228600"/>
          </a:xfrm>
          <a:prstGeom prst="rect">
            <a:avLst/>
          </a:prstGeom>
          <a:noFill/>
          <a:ln/>
        </p:spPr>
        <p:txBody>
          <a:bodyPr wrap="square" lIns="0" tIns="0" rIns="0" bIns="0" rtlCol="0" anchor="ctr"/>
          <a:lstStyle/>
          <a:p>
            <a:pPr algn="r" indent="0" marL="0">
              <a:buNone/>
            </a:pPr>
            <a:r>
              <a:rPr lang="en-US" sz="900" dirty="0">
                <a:solidFill>
                  <a:srgbClr val="5E6E6A"/>
                </a:solidFill>
                <a:latin typeface="Yu Gothic" pitchFamily="34" charset="0"/>
                <a:ea typeface="Yu Gothic" pitchFamily="34" charset="-122"/>
                <a:cs typeface="Yu Gothic" pitchFamily="34" charset="-120"/>
              </a:rPr>
              <a:t>20 / 23</a:t>
            </a:r>
            <a:endParaRPr lang="en-US" sz="900" dirty="0"/>
          </a:p>
        </p:txBody>
      </p:sp>
      <p:sp>
        <p:nvSpPr>
          <p:cNvPr id="6" name="Text 4"/>
          <p:cNvSpPr/>
          <p:nvPr/>
        </p:nvSpPr>
        <p:spPr>
          <a:xfrm>
            <a:off x="640080" y="6446520"/>
            <a:ext cx="6400800" cy="228600"/>
          </a:xfrm>
          <a:prstGeom prst="rect">
            <a:avLst/>
          </a:prstGeom>
          <a:noFill/>
          <a:ln/>
        </p:spPr>
        <p:txBody>
          <a:bodyPr wrap="square" lIns="0" tIns="0" rIns="0" bIns="0" rtlCol="0" anchor="ctr"/>
          <a:lstStyle/>
          <a:p>
            <a:pPr indent="0" marL="0">
              <a:buNone/>
            </a:pPr>
            <a:r>
              <a:rPr lang="en-US" sz="900" dirty="0">
                <a:solidFill>
                  <a:srgbClr val="9FB2AD"/>
                </a:solidFill>
                <a:latin typeface="Yu Gothic" pitchFamily="34" charset="0"/>
                <a:ea typeface="Yu Gothic" pitchFamily="34" charset="-122"/>
                <a:cs typeface="Yu Gothic" pitchFamily="34" charset="-120"/>
              </a:rPr>
              <a:t>Security Days Fall 2026 Fukuoka　FB-05　小出 洋（九州大学）</a:t>
            </a:r>
            <a:endParaRPr lang="en-US" sz="900" dirty="0"/>
          </a:p>
        </p:txBody>
      </p:sp>
      <p:sp>
        <p:nvSpPr>
          <p:cNvPr id="7" name="Shape 5"/>
          <p:cNvSpPr/>
          <p:nvPr/>
        </p:nvSpPr>
        <p:spPr>
          <a:xfrm>
            <a:off x="640080" y="1600200"/>
            <a:ext cx="640080" cy="640080"/>
          </a:xfrm>
          <a:prstGeom prst="ellipse">
            <a:avLst/>
          </a:prstGeom>
          <a:solidFill>
            <a:srgbClr val="2E7D6B"/>
          </a:solidFill>
          <a:ln/>
        </p:spPr>
      </p:sp>
      <p:sp>
        <p:nvSpPr>
          <p:cNvPr id="8" name="Text 6"/>
          <p:cNvSpPr/>
          <p:nvPr/>
        </p:nvSpPr>
        <p:spPr>
          <a:xfrm>
            <a:off x="640080" y="160020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Yu Gothic" pitchFamily="34" charset="0"/>
                <a:ea typeface="Yu Gothic" pitchFamily="34" charset="-122"/>
                <a:cs typeface="Yu Gothic" pitchFamily="34" charset="-120"/>
              </a:rPr>
              <a:t>1</a:t>
            </a:r>
            <a:endParaRPr lang="en-US" sz="2200" dirty="0"/>
          </a:p>
        </p:txBody>
      </p:sp>
      <p:sp>
        <p:nvSpPr>
          <p:cNvPr id="9" name="Text 7"/>
          <p:cNvSpPr/>
          <p:nvPr/>
        </p:nvSpPr>
        <p:spPr>
          <a:xfrm>
            <a:off x="1554480" y="1554480"/>
            <a:ext cx="9997135" cy="457200"/>
          </a:xfrm>
          <a:prstGeom prst="rect">
            <a:avLst/>
          </a:prstGeom>
          <a:noFill/>
          <a:ln/>
        </p:spPr>
        <p:txBody>
          <a:bodyPr wrap="square" lIns="0" tIns="0" rIns="0" bIns="0" rtlCol="0" anchor="ctr"/>
          <a:lstStyle/>
          <a:p>
            <a:pPr indent="0" marL="0">
              <a:buNone/>
            </a:pPr>
            <a:r>
              <a:rPr lang="en-US" sz="1900" b="1" dirty="0">
                <a:solidFill>
                  <a:srgbClr val="16211F"/>
                </a:solidFill>
                <a:latin typeface="Yu Gothic" pitchFamily="34" charset="0"/>
                <a:ea typeface="Yu Gothic" pitchFamily="34" charset="-122"/>
                <a:cs typeface="Yu Gothic" pitchFamily="34" charset="-120"/>
              </a:rPr>
              <a:t>5つの判断を判断カードにし、決める人と代わりの人を決める</a:t>
            </a:r>
            <a:endParaRPr lang="en-US" sz="1900" dirty="0"/>
          </a:p>
        </p:txBody>
      </p:sp>
      <p:sp>
        <p:nvSpPr>
          <p:cNvPr id="10" name="Text 8"/>
          <p:cNvSpPr/>
          <p:nvPr/>
        </p:nvSpPr>
        <p:spPr>
          <a:xfrm>
            <a:off x="1554480" y="2029968"/>
            <a:ext cx="9997135" cy="411480"/>
          </a:xfrm>
          <a:prstGeom prst="rect">
            <a:avLst/>
          </a:prstGeom>
          <a:noFill/>
          <a:ln/>
        </p:spPr>
        <p:txBody>
          <a:bodyPr wrap="square" lIns="0" tIns="0" rIns="0" bIns="0" rtlCol="0" anchor="ctr"/>
          <a:lstStyle/>
          <a:p>
            <a:pPr indent="0" marL="0">
              <a:buNone/>
            </a:pPr>
            <a:r>
              <a:rPr lang="en-US" sz="1400" dirty="0">
                <a:solidFill>
                  <a:srgbClr val="5E6E6A"/>
                </a:solidFill>
                <a:latin typeface="Yu Gothic" pitchFamily="34" charset="0"/>
                <a:ea typeface="Yu Gothic" pitchFamily="34" charset="-122"/>
                <a:cs typeface="Yu Gothic" pitchFamily="34" charset="-120"/>
              </a:rPr>
              <a:t>止める・続ける・説明する・公表する・何から戻す</a:t>
            </a:r>
            <a:endParaRPr lang="en-US" sz="1400" dirty="0"/>
          </a:p>
        </p:txBody>
      </p:sp>
      <p:sp>
        <p:nvSpPr>
          <p:cNvPr id="11" name="Shape 9"/>
          <p:cNvSpPr/>
          <p:nvPr/>
        </p:nvSpPr>
        <p:spPr>
          <a:xfrm>
            <a:off x="640080" y="2788920"/>
            <a:ext cx="640080" cy="640080"/>
          </a:xfrm>
          <a:prstGeom prst="ellipse">
            <a:avLst/>
          </a:prstGeom>
          <a:solidFill>
            <a:srgbClr val="2E7D6B"/>
          </a:solidFill>
          <a:ln/>
        </p:spPr>
      </p:sp>
      <p:sp>
        <p:nvSpPr>
          <p:cNvPr id="12" name="Text 10"/>
          <p:cNvSpPr/>
          <p:nvPr/>
        </p:nvSpPr>
        <p:spPr>
          <a:xfrm>
            <a:off x="640080" y="278892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Yu Gothic" pitchFamily="34" charset="0"/>
                <a:ea typeface="Yu Gothic" pitchFamily="34" charset="-122"/>
                <a:cs typeface="Yu Gothic" pitchFamily="34" charset="-120"/>
              </a:rPr>
              <a:t>2</a:t>
            </a:r>
            <a:endParaRPr lang="en-US" sz="2200" dirty="0"/>
          </a:p>
        </p:txBody>
      </p:sp>
      <p:sp>
        <p:nvSpPr>
          <p:cNvPr id="13" name="Text 11"/>
          <p:cNvSpPr/>
          <p:nvPr/>
        </p:nvSpPr>
        <p:spPr>
          <a:xfrm>
            <a:off x="1554480" y="2743200"/>
            <a:ext cx="9997135" cy="457200"/>
          </a:xfrm>
          <a:prstGeom prst="rect">
            <a:avLst/>
          </a:prstGeom>
          <a:noFill/>
          <a:ln/>
        </p:spPr>
        <p:txBody>
          <a:bodyPr wrap="square" lIns="0" tIns="0" rIns="0" bIns="0" rtlCol="0" anchor="ctr"/>
          <a:lstStyle/>
          <a:p>
            <a:pPr indent="0" marL="0">
              <a:buNone/>
            </a:pPr>
            <a:r>
              <a:rPr lang="en-US" sz="1900" b="1" dirty="0">
                <a:solidFill>
                  <a:srgbClr val="16211F"/>
                </a:solidFill>
                <a:latin typeface="Yu Gothic" pitchFamily="34" charset="0"/>
                <a:ea typeface="Yu Gothic" pitchFamily="34" charset="-122"/>
                <a:cs typeface="Yu Gothic" pitchFamily="34" charset="-120"/>
              </a:rPr>
              <a:t>AIへの任せ方を3段階に分け、判断の場ではAIに反論させる</a:t>
            </a:r>
            <a:endParaRPr lang="en-US" sz="1900" dirty="0"/>
          </a:p>
        </p:txBody>
      </p:sp>
      <p:sp>
        <p:nvSpPr>
          <p:cNvPr id="14" name="Text 12"/>
          <p:cNvSpPr/>
          <p:nvPr/>
        </p:nvSpPr>
        <p:spPr>
          <a:xfrm>
            <a:off x="1554480" y="3218688"/>
            <a:ext cx="9997135" cy="411480"/>
          </a:xfrm>
          <a:prstGeom prst="rect">
            <a:avLst/>
          </a:prstGeom>
          <a:noFill/>
          <a:ln/>
        </p:spPr>
        <p:txBody>
          <a:bodyPr wrap="square" lIns="0" tIns="0" rIns="0" bIns="0" rtlCol="0" anchor="ctr"/>
          <a:lstStyle/>
          <a:p>
            <a:pPr indent="0" marL="0">
              <a:buNone/>
            </a:pPr>
            <a:r>
              <a:rPr lang="en-US" sz="1400" dirty="0">
                <a:solidFill>
                  <a:srgbClr val="5E6E6A"/>
                </a:solidFill>
                <a:latin typeface="Yu Gothic" pitchFamily="34" charset="0"/>
                <a:ea typeface="Yu Gothic" pitchFamily="34" charset="-122"/>
                <a:cs typeface="Yu Gothic" pitchFamily="34" charset="-120"/>
              </a:rPr>
              <a:t>取り消せるか・影響はどこまでか・後で説明できるか。決めるのは人</a:t>
            </a:r>
            <a:endParaRPr lang="en-US" sz="1400" dirty="0"/>
          </a:p>
        </p:txBody>
      </p:sp>
      <p:sp>
        <p:nvSpPr>
          <p:cNvPr id="15" name="Shape 13"/>
          <p:cNvSpPr/>
          <p:nvPr/>
        </p:nvSpPr>
        <p:spPr>
          <a:xfrm>
            <a:off x="640080" y="3977640"/>
            <a:ext cx="640080" cy="640080"/>
          </a:xfrm>
          <a:prstGeom prst="ellipse">
            <a:avLst/>
          </a:prstGeom>
          <a:solidFill>
            <a:srgbClr val="2E7D6B"/>
          </a:solidFill>
          <a:ln/>
        </p:spPr>
      </p:sp>
      <p:sp>
        <p:nvSpPr>
          <p:cNvPr id="16" name="Text 14"/>
          <p:cNvSpPr/>
          <p:nvPr/>
        </p:nvSpPr>
        <p:spPr>
          <a:xfrm>
            <a:off x="640080" y="39776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Yu Gothic" pitchFamily="34" charset="0"/>
                <a:ea typeface="Yu Gothic" pitchFamily="34" charset="-122"/>
                <a:cs typeface="Yu Gothic" pitchFamily="34" charset="-120"/>
              </a:rPr>
              <a:t>3</a:t>
            </a:r>
            <a:endParaRPr lang="en-US" sz="2200" dirty="0"/>
          </a:p>
        </p:txBody>
      </p:sp>
      <p:sp>
        <p:nvSpPr>
          <p:cNvPr id="17" name="Text 15"/>
          <p:cNvSpPr/>
          <p:nvPr/>
        </p:nvSpPr>
        <p:spPr>
          <a:xfrm>
            <a:off x="1554480" y="3931920"/>
            <a:ext cx="9997135" cy="457200"/>
          </a:xfrm>
          <a:prstGeom prst="rect">
            <a:avLst/>
          </a:prstGeom>
          <a:noFill/>
          <a:ln/>
        </p:spPr>
        <p:txBody>
          <a:bodyPr wrap="square" lIns="0" tIns="0" rIns="0" bIns="0" rtlCol="0" anchor="ctr"/>
          <a:lstStyle/>
          <a:p>
            <a:pPr indent="0" marL="0">
              <a:buNone/>
            </a:pPr>
            <a:r>
              <a:rPr lang="en-US" sz="1900" b="1" dirty="0">
                <a:solidFill>
                  <a:srgbClr val="16211F"/>
                </a:solidFill>
                <a:latin typeface="Yu Gothic" pitchFamily="34" charset="0"/>
                <a:ea typeface="Yu Gothic" pitchFamily="34" charset="-122"/>
                <a:cs typeface="Yu Gothic" pitchFamily="34" charset="-120"/>
              </a:rPr>
              <a:t>AIを入れた机上演習で「暫定判断と見直し」を練習する</a:t>
            </a:r>
            <a:endParaRPr lang="en-US" sz="1900" dirty="0"/>
          </a:p>
        </p:txBody>
      </p:sp>
      <p:sp>
        <p:nvSpPr>
          <p:cNvPr id="18" name="Text 16"/>
          <p:cNvSpPr/>
          <p:nvPr/>
        </p:nvSpPr>
        <p:spPr>
          <a:xfrm>
            <a:off x="1554480" y="4407408"/>
            <a:ext cx="9997135" cy="411480"/>
          </a:xfrm>
          <a:prstGeom prst="rect">
            <a:avLst/>
          </a:prstGeom>
          <a:noFill/>
          <a:ln/>
        </p:spPr>
        <p:txBody>
          <a:bodyPr wrap="square" lIns="0" tIns="0" rIns="0" bIns="0" rtlCol="0" anchor="ctr"/>
          <a:lstStyle/>
          <a:p>
            <a:pPr indent="0" marL="0">
              <a:buNone/>
            </a:pPr>
            <a:r>
              <a:rPr lang="en-US" sz="1400" dirty="0">
                <a:solidFill>
                  <a:srgbClr val="5E6E6A"/>
                </a:solidFill>
                <a:latin typeface="Yu Gothic" pitchFamily="34" charset="0"/>
                <a:ea typeface="Yu Gothic" pitchFamily="34" charset="-122"/>
                <a:cs typeface="Yu Gothic" pitchFamily="34" charset="-120"/>
              </a:rPr>
              <a:t>終わったら判断カードを書き直し、次の演習日をカレンダーに入れる</a:t>
            </a:r>
            <a:endParaRPr lang="en-US" sz="1400" dirty="0"/>
          </a:p>
        </p:txBody>
      </p:sp>
      <p:sp>
        <p:nvSpPr>
          <p:cNvPr id="19" name="Shape 17"/>
          <p:cNvSpPr/>
          <p:nvPr/>
        </p:nvSpPr>
        <p:spPr>
          <a:xfrm>
            <a:off x="640080" y="5257800"/>
            <a:ext cx="10911535" cy="658368"/>
          </a:xfrm>
          <a:prstGeom prst="rect">
            <a:avLst/>
          </a:prstGeom>
          <a:solidFill>
            <a:srgbClr val="F6EBD8"/>
          </a:solidFill>
          <a:ln/>
        </p:spPr>
      </p:sp>
      <p:sp>
        <p:nvSpPr>
          <p:cNvPr id="20" name="Shape 18"/>
          <p:cNvSpPr/>
          <p:nvPr/>
        </p:nvSpPr>
        <p:spPr>
          <a:xfrm>
            <a:off x="640080" y="5257800"/>
            <a:ext cx="73152" cy="658368"/>
          </a:xfrm>
          <a:prstGeom prst="rect">
            <a:avLst/>
          </a:prstGeom>
          <a:solidFill>
            <a:srgbClr val="C9821A"/>
          </a:solidFill>
          <a:ln/>
        </p:spPr>
      </p:sp>
      <p:sp>
        <p:nvSpPr>
          <p:cNvPr id="21" name="Text 19"/>
          <p:cNvSpPr/>
          <p:nvPr/>
        </p:nvSpPr>
        <p:spPr>
          <a:xfrm>
            <a:off x="914400" y="5330952"/>
            <a:ext cx="10454335" cy="512064"/>
          </a:xfrm>
          <a:prstGeom prst="rect">
            <a:avLst/>
          </a:prstGeom>
          <a:noFill/>
          <a:ln/>
        </p:spPr>
        <p:txBody>
          <a:bodyPr wrap="square" lIns="0" tIns="0" rIns="0" bIns="0" rtlCol="0" anchor="ctr"/>
          <a:lstStyle/>
          <a:p>
            <a:pPr indent="0" marL="0">
              <a:buNone/>
            </a:pPr>
            <a:r>
              <a:rPr lang="en-US" sz="1400" b="1" dirty="0">
                <a:solidFill>
                  <a:srgbClr val="16211F"/>
                </a:solidFill>
                <a:latin typeface="Yu Gothic" pitchFamily="34" charset="0"/>
                <a:ea typeface="Yu Gothic" pitchFamily="34" charset="-122"/>
                <a:cs typeface="Yu Gothic" pitchFamily="34" charset="-120"/>
              </a:rPr>
              <a:t>どれも予算より先に、決めることで始められます。「ひとががんばる」から「AIとともに判断する」へ。</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2E7D6B"/>
          </a:solidFill>
          <a:ln/>
        </p:spPr>
      </p:sp>
      <p:sp>
        <p:nvSpPr>
          <p:cNvPr id="3" name="Text 1"/>
          <p:cNvSpPr/>
          <p:nvPr/>
        </p:nvSpPr>
        <p:spPr>
          <a:xfrm>
            <a:off x="640080" y="292608"/>
            <a:ext cx="7772400" cy="274320"/>
          </a:xfrm>
          <a:prstGeom prst="rect">
            <a:avLst/>
          </a:prstGeom>
          <a:noFill/>
          <a:ln/>
        </p:spPr>
        <p:txBody>
          <a:bodyPr wrap="square" lIns="0" tIns="0" rIns="0" bIns="0" rtlCol="0" anchor="ctr"/>
          <a:lstStyle/>
          <a:p>
            <a:pPr indent="0" marL="0">
              <a:buNone/>
            </a:pPr>
            <a:r>
              <a:rPr lang="en-US" sz="1200" b="1" dirty="0">
                <a:solidFill>
                  <a:srgbClr val="2E7D6B"/>
                </a:solidFill>
                <a:latin typeface="Yu Gothic" pitchFamily="34" charset="0"/>
                <a:ea typeface="Yu Gothic" pitchFamily="34" charset="-122"/>
                <a:cs typeface="Yu Gothic" pitchFamily="34" charset="-120"/>
              </a:rPr>
              <a:t>付録 1</a:t>
            </a:r>
            <a:endParaRPr lang="en-US" sz="1200" dirty="0"/>
          </a:p>
        </p:txBody>
      </p:sp>
      <p:sp>
        <p:nvSpPr>
          <p:cNvPr id="4" name="Text 2"/>
          <p:cNvSpPr/>
          <p:nvPr/>
        </p:nvSpPr>
        <p:spPr>
          <a:xfrm>
            <a:off x="9722815" y="292608"/>
            <a:ext cx="1828800" cy="274320"/>
          </a:xfrm>
          <a:prstGeom prst="rect">
            <a:avLst/>
          </a:prstGeom>
          <a:noFill/>
          <a:ln/>
        </p:spPr>
        <p:txBody>
          <a:bodyPr wrap="square" lIns="0" tIns="0" rIns="0" bIns="0" rtlCol="0" anchor="ctr"/>
          <a:lstStyle/>
          <a:p>
            <a:pPr algn="r" indent="0" marL="0">
              <a:buNone/>
            </a:pPr>
            <a:r>
              <a:rPr lang="en-US" sz="1100" dirty="0">
                <a:solidFill>
                  <a:srgbClr val="5E6E6A"/>
                </a:solidFill>
                <a:latin typeface="Yu Gothic" pitchFamily="34" charset="0"/>
                <a:ea typeface="Yu Gothic" pitchFamily="34" charset="-122"/>
                <a:cs typeface="Yu Gothic" pitchFamily="34" charset="-120"/>
              </a:rPr>
              <a:t>配布用</a:t>
            </a:r>
            <a:endParaRPr lang="en-US" sz="1100" dirty="0"/>
          </a:p>
        </p:txBody>
      </p:sp>
      <p:sp>
        <p:nvSpPr>
          <p:cNvPr id="5" name="Text 3"/>
          <p:cNvSpPr/>
          <p:nvPr/>
        </p:nvSpPr>
        <p:spPr>
          <a:xfrm>
            <a:off x="640080" y="621792"/>
            <a:ext cx="10911535" cy="685800"/>
          </a:xfrm>
          <a:prstGeom prst="rect">
            <a:avLst/>
          </a:prstGeom>
          <a:noFill/>
          <a:ln/>
        </p:spPr>
        <p:txBody>
          <a:bodyPr wrap="square" lIns="0" tIns="0" rIns="0" bIns="0" rtlCol="0" anchor="t"/>
          <a:lstStyle/>
          <a:p>
            <a:pPr indent="0" marL="0">
              <a:buNone/>
            </a:pPr>
            <a:r>
              <a:rPr lang="en-US" sz="2600" b="1" dirty="0">
                <a:solidFill>
                  <a:srgbClr val="16211F"/>
                </a:solidFill>
                <a:latin typeface="Yu Gothic" pitchFamily="34" charset="0"/>
                <a:ea typeface="Yu Gothic" pitchFamily="34" charset="-122"/>
                <a:cs typeface="Yu Gothic" pitchFamily="34" charset="-120"/>
              </a:rPr>
              <a:t>判断カード（雛形）</a:t>
            </a:r>
            <a:endParaRPr lang="en-US" sz="2600" dirty="0"/>
          </a:p>
        </p:txBody>
      </p:sp>
      <p:sp>
        <p:nvSpPr>
          <p:cNvPr id="6" name="Text 4"/>
          <p:cNvSpPr/>
          <p:nvPr/>
        </p:nvSpPr>
        <p:spPr>
          <a:xfrm>
            <a:off x="10180015" y="6446520"/>
            <a:ext cx="1371600" cy="228600"/>
          </a:xfrm>
          <a:prstGeom prst="rect">
            <a:avLst/>
          </a:prstGeom>
          <a:noFill/>
          <a:ln/>
        </p:spPr>
        <p:txBody>
          <a:bodyPr wrap="square" lIns="0" tIns="0" rIns="0" bIns="0" rtlCol="0" anchor="ctr"/>
          <a:lstStyle/>
          <a:p>
            <a:pPr algn="r" indent="0" marL="0">
              <a:buNone/>
            </a:pPr>
            <a:r>
              <a:rPr lang="en-US" sz="900" dirty="0">
                <a:solidFill>
                  <a:srgbClr val="5E6E6A"/>
                </a:solidFill>
                <a:latin typeface="Yu Gothic" pitchFamily="34" charset="0"/>
                <a:ea typeface="Yu Gothic" pitchFamily="34" charset="-122"/>
                <a:cs typeface="Yu Gothic" pitchFamily="34" charset="-120"/>
              </a:rPr>
              <a:t>21 / 23</a:t>
            </a:r>
            <a:endParaRPr lang="en-US" sz="900" dirty="0"/>
          </a:p>
        </p:txBody>
      </p:sp>
      <p:sp>
        <p:nvSpPr>
          <p:cNvPr id="7" name="Text 5"/>
          <p:cNvSpPr/>
          <p:nvPr/>
        </p:nvSpPr>
        <p:spPr>
          <a:xfrm>
            <a:off x="640080" y="6446520"/>
            <a:ext cx="6400800" cy="228600"/>
          </a:xfrm>
          <a:prstGeom prst="rect">
            <a:avLst/>
          </a:prstGeom>
          <a:noFill/>
          <a:ln/>
        </p:spPr>
        <p:txBody>
          <a:bodyPr wrap="square" lIns="0" tIns="0" rIns="0" bIns="0" rtlCol="0" anchor="ctr"/>
          <a:lstStyle/>
          <a:p>
            <a:pPr indent="0" marL="0">
              <a:buNone/>
            </a:pPr>
            <a:r>
              <a:rPr lang="en-US" sz="900" dirty="0">
                <a:solidFill>
                  <a:srgbClr val="9FB2AD"/>
                </a:solidFill>
                <a:latin typeface="Yu Gothic" pitchFamily="34" charset="0"/>
                <a:ea typeface="Yu Gothic" pitchFamily="34" charset="-122"/>
                <a:cs typeface="Yu Gothic" pitchFamily="34" charset="-120"/>
              </a:rPr>
              <a:t>Security Days Fall 2026 Fukuoka　FB-05　小出 洋（九州大学）</a:t>
            </a:r>
            <a:endParaRPr lang="en-US" sz="9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40080" y="1463040"/>
          <a:ext cx="10911535" cy="914400"/>
        </p:xfrm>
        <a:graphic>
          <a:graphicData uri="http://schemas.openxmlformats.org/drawingml/2006/table">
            <a:tbl>
              <a:tblPr/>
              <a:tblGrid>
                <a:gridCol w="2651760"/>
                <a:gridCol w="8138160"/>
              </a:tblGrid>
              <a:tr h="420624">
                <a:tc>
                  <a:txBody>
                    <a:bodyPr/>
                    <a:lstStyle/>
                    <a:p>
                      <a:pPr indent="0" marL="0">
                        <a:buNone/>
                      </a:pPr>
                      <a:r>
                        <a:rPr lang="en-US" sz="1300" b="1" dirty="0">
                          <a:solidFill>
                            <a:srgbClr val="FFFFFF"/>
                          </a:solidFill>
                          <a:latin typeface="Yu Gothic" pitchFamily="34" charset="0"/>
                          <a:ea typeface="Yu Gothic" pitchFamily="34" charset="-122"/>
                          <a:cs typeface="Yu Gothic" pitchFamily="34" charset="-120"/>
                        </a:rPr>
                        <a:t>項目</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2E7D6B"/>
                    </a:solidFill>
                  </a:tcPr>
                </a:tc>
                <a:tc>
                  <a:txBody>
                    <a:bodyPr/>
                    <a:lstStyle/>
                    <a:p>
                      <a:pPr indent="0" marL="0">
                        <a:buNone/>
                      </a:pPr>
                      <a:r>
                        <a:rPr lang="en-US" sz="1300" b="1" dirty="0">
                          <a:solidFill>
                            <a:srgbClr val="FFFFFF"/>
                          </a:solidFill>
                          <a:latin typeface="Yu Gothic" pitchFamily="34" charset="0"/>
                          <a:ea typeface="Yu Gothic" pitchFamily="34" charset="-122"/>
                          <a:cs typeface="Yu Gothic" pitchFamily="34" charset="-120"/>
                        </a:rPr>
                        <a:t>書くこと</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2E7D6B"/>
                    </a:solidFill>
                  </a:tcPr>
                </a:tc>
              </a:tr>
              <a:tr h="420624">
                <a:tc>
                  <a:txBody>
                    <a:bodyPr/>
                    <a:lstStyle/>
                    <a:p>
                      <a:pPr indent="0" marL="0">
                        <a:buNone/>
                      </a:pPr>
                      <a:r>
                        <a:rPr lang="en-US" sz="1300" b="1" dirty="0">
                          <a:solidFill>
                            <a:srgbClr val="16211F"/>
                          </a:solidFill>
                          <a:latin typeface="Yu Gothic" pitchFamily="34" charset="0"/>
                          <a:ea typeface="Yu Gothic" pitchFamily="34" charset="-122"/>
                          <a:cs typeface="Yu Gothic" pitchFamily="34" charset="-120"/>
                        </a:rPr>
                        <a:t>判断</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4F7F6"/>
                    </a:solidFill>
                  </a:tcPr>
                </a:tc>
                <a:tc>
                  <a:txBody>
                    <a:bodyPr/>
                    <a:lstStyle/>
                    <a:p>
                      <a:pPr indent="0" marL="0">
                        <a:buNone/>
                      </a:pPr>
                      <a:r>
                        <a:rPr lang="en-US" sz="1300" dirty="0">
                          <a:solidFill>
                            <a:srgbClr val="16211F"/>
                          </a:solidFill>
                          <a:latin typeface="Yu Gothic" pitchFamily="34" charset="0"/>
                          <a:ea typeface="Yu Gothic" pitchFamily="34" charset="-122"/>
                          <a:cs typeface="Yu Gothic" pitchFamily="34" charset="-120"/>
                        </a:rPr>
                        <a:t>止める／続ける／説明する／公表する／何から戻す のどれか。対象（どのサービス・業務か）</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4F7F6"/>
                    </a:solidFill>
                  </a:tcPr>
                </a:tc>
              </a:tr>
              <a:tr h="420624">
                <a:tc>
                  <a:txBody>
                    <a:bodyPr/>
                    <a:lstStyle/>
                    <a:p>
                      <a:pPr indent="0" marL="0">
                        <a:buNone/>
                      </a:pPr>
                      <a:r>
                        <a:rPr lang="en-US" sz="1300" b="1" dirty="0">
                          <a:solidFill>
                            <a:srgbClr val="16211F"/>
                          </a:solidFill>
                          <a:latin typeface="Yu Gothic" pitchFamily="34" charset="0"/>
                          <a:ea typeface="Yu Gothic" pitchFamily="34" charset="-122"/>
                          <a:cs typeface="Yu Gothic" pitchFamily="34" charset="-120"/>
                        </a:rPr>
                        <a:t>決める人／代わりの人</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FFFFF"/>
                    </a:solidFill>
                  </a:tcPr>
                </a:tc>
                <a:tc>
                  <a:txBody>
                    <a:bodyPr/>
                    <a:lstStyle/>
                    <a:p>
                      <a:pPr indent="0" marL="0">
                        <a:buNone/>
                      </a:pPr>
                      <a:r>
                        <a:rPr lang="en-US" sz="1300" dirty="0">
                          <a:solidFill>
                            <a:srgbClr val="16211F"/>
                          </a:solidFill>
                          <a:latin typeface="Yu Gothic" pitchFamily="34" charset="0"/>
                          <a:ea typeface="Yu Gothic" pitchFamily="34" charset="-122"/>
                          <a:cs typeface="Yu Gothic" pitchFamily="34" charset="-120"/>
                        </a:rPr>
                        <a:t>役職で書く。連絡がつかないときの順番まで</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FFFFF"/>
                    </a:solidFill>
                  </a:tcPr>
                </a:tc>
              </a:tr>
              <a:tr h="420624">
                <a:tc>
                  <a:txBody>
                    <a:bodyPr/>
                    <a:lstStyle/>
                    <a:p>
                      <a:pPr indent="0" marL="0">
                        <a:buNone/>
                      </a:pPr>
                      <a:r>
                        <a:rPr lang="en-US" sz="1300" b="1" dirty="0">
                          <a:solidFill>
                            <a:srgbClr val="16211F"/>
                          </a:solidFill>
                          <a:latin typeface="Yu Gothic" pitchFamily="34" charset="0"/>
                          <a:ea typeface="Yu Gothic" pitchFamily="34" charset="-122"/>
                          <a:cs typeface="Yu Gothic" pitchFamily="34" charset="-120"/>
                        </a:rPr>
                        <a:t>確認する順番</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4F7F6"/>
                    </a:solidFill>
                  </a:tcPr>
                </a:tc>
                <a:tc>
                  <a:txBody>
                    <a:bodyPr/>
                    <a:lstStyle/>
                    <a:p>
                      <a:pPr indent="0" marL="0">
                        <a:buNone/>
                      </a:pPr>
                      <a:r>
                        <a:rPr lang="en-US" sz="1300" dirty="0">
                          <a:solidFill>
                            <a:srgbClr val="16211F"/>
                          </a:solidFill>
                          <a:latin typeface="Yu Gothic" pitchFamily="34" charset="0"/>
                          <a:ea typeface="Yu Gothic" pitchFamily="34" charset="-122"/>
                          <a:cs typeface="Yu Gothic" pitchFamily="34" charset="-120"/>
                        </a:rPr>
                        <a:t>外から届くか、実際に使っているか、顧客・業務への影響、止める以外の緩和策</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4F7F6"/>
                    </a:solidFill>
                  </a:tcPr>
                </a:tc>
              </a:tr>
              <a:tr h="420624">
                <a:tc>
                  <a:txBody>
                    <a:bodyPr/>
                    <a:lstStyle/>
                    <a:p>
                      <a:pPr indent="0" marL="0">
                        <a:buNone/>
                      </a:pPr>
                      <a:r>
                        <a:rPr lang="en-US" sz="1300" b="1" dirty="0">
                          <a:solidFill>
                            <a:srgbClr val="16211F"/>
                          </a:solidFill>
                          <a:latin typeface="Yu Gothic" pitchFamily="34" charset="0"/>
                          <a:ea typeface="Yu Gothic" pitchFamily="34" charset="-122"/>
                          <a:cs typeface="Yu Gothic" pitchFamily="34" charset="-120"/>
                        </a:rPr>
                        <a:t>AIに出させるもの</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FFFFF"/>
                    </a:solidFill>
                  </a:tcPr>
                </a:tc>
                <a:tc>
                  <a:txBody>
                    <a:bodyPr/>
                    <a:lstStyle/>
                    <a:p>
                      <a:pPr indent="0" marL="0">
                        <a:buNone/>
                      </a:pPr>
                      <a:r>
                        <a:rPr lang="en-US" sz="1300" dirty="0">
                          <a:solidFill>
                            <a:srgbClr val="16211F"/>
                          </a:solidFill>
                          <a:latin typeface="Yu Gothic" pitchFamily="34" charset="0"/>
                          <a:ea typeface="Yu Gothic" pitchFamily="34" charset="-122"/>
                          <a:cs typeface="Yu Gothic" pitchFamily="34" charset="-120"/>
                        </a:rPr>
                        <a:t>材料・選択肢・反論。人が確かめるものと分けて書く</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FFFFF"/>
                    </a:solidFill>
                  </a:tcPr>
                </a:tc>
              </a:tr>
              <a:tr h="420624">
                <a:tc>
                  <a:txBody>
                    <a:bodyPr/>
                    <a:lstStyle/>
                    <a:p>
                      <a:pPr indent="0" marL="0">
                        <a:buNone/>
                      </a:pPr>
                      <a:r>
                        <a:rPr lang="en-US" sz="1300" b="1" dirty="0">
                          <a:solidFill>
                            <a:srgbClr val="16211F"/>
                          </a:solidFill>
                          <a:latin typeface="Yu Gothic" pitchFamily="34" charset="0"/>
                          <a:ea typeface="Yu Gothic" pitchFamily="34" charset="-122"/>
                          <a:cs typeface="Yu Gothic" pitchFamily="34" charset="-120"/>
                        </a:rPr>
                        <a:t>任せ方の段階</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4F7F6"/>
                    </a:solidFill>
                  </a:tcPr>
                </a:tc>
                <a:tc>
                  <a:txBody>
                    <a:bodyPr/>
                    <a:lstStyle/>
                    <a:p>
                      <a:pPr indent="0" marL="0">
                        <a:buNone/>
                      </a:pPr>
                      <a:r>
                        <a:rPr lang="en-US" sz="1300" dirty="0">
                          <a:solidFill>
                            <a:srgbClr val="16211F"/>
                          </a:solidFill>
                          <a:latin typeface="Yu Gothic" pitchFamily="34" charset="0"/>
                          <a:ea typeface="Yu Gothic" pitchFamily="34" charset="-122"/>
                          <a:cs typeface="Yu Gothic" pitchFamily="34" charset="-120"/>
                        </a:rPr>
                        <a:t>自動／人の承認つき／人が決める。どこまでが自動か</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4F7F6"/>
                    </a:solidFill>
                  </a:tcPr>
                </a:tc>
              </a:tr>
              <a:tr h="420624">
                <a:tc>
                  <a:txBody>
                    <a:bodyPr/>
                    <a:lstStyle/>
                    <a:p>
                      <a:pPr indent="0" marL="0">
                        <a:buNone/>
                      </a:pPr>
                      <a:r>
                        <a:rPr lang="en-US" sz="1300" b="1" dirty="0">
                          <a:solidFill>
                            <a:srgbClr val="16211F"/>
                          </a:solidFill>
                          <a:latin typeface="Yu Gothic" pitchFamily="34" charset="0"/>
                          <a:ea typeface="Yu Gothic" pitchFamily="34" charset="-122"/>
                          <a:cs typeface="Yu Gothic" pitchFamily="34" charset="-120"/>
                        </a:rPr>
                        <a:t>期限と見直し</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FFFFF"/>
                    </a:solidFill>
                  </a:tcPr>
                </a:tc>
                <a:tc>
                  <a:txBody>
                    <a:bodyPr/>
                    <a:lstStyle/>
                    <a:p>
                      <a:pPr indent="0" marL="0">
                        <a:buNone/>
                      </a:pPr>
                      <a:r>
                        <a:rPr lang="en-US" sz="1300" dirty="0">
                          <a:solidFill>
                            <a:srgbClr val="16211F"/>
                          </a:solidFill>
                          <a:latin typeface="Yu Gothic" pitchFamily="34" charset="0"/>
                          <a:ea typeface="Yu Gothic" pitchFamily="34" charset="-122"/>
                          <a:cs typeface="Yu Gothic" pitchFamily="34" charset="-120"/>
                        </a:rPr>
                        <a:t>暫定判断の期限。見直しの間隔。覆す条件</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FFFFF"/>
                    </a:solidFill>
                  </a:tcPr>
                </a:tc>
              </a:tr>
              <a:tr h="420624">
                <a:tc>
                  <a:txBody>
                    <a:bodyPr/>
                    <a:lstStyle/>
                    <a:p>
                      <a:pPr indent="0" marL="0">
                        <a:buNone/>
                      </a:pPr>
                      <a:r>
                        <a:rPr lang="en-US" sz="1300" b="1" dirty="0">
                          <a:solidFill>
                            <a:srgbClr val="16211F"/>
                          </a:solidFill>
                          <a:latin typeface="Yu Gothic" pitchFamily="34" charset="0"/>
                          <a:ea typeface="Yu Gothic" pitchFamily="34" charset="-122"/>
                          <a:cs typeface="Yu Gothic" pitchFamily="34" charset="-120"/>
                        </a:rPr>
                        <a:t>伝える先／頼る先</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4F7F6"/>
                    </a:solidFill>
                  </a:tcPr>
                </a:tc>
                <a:tc>
                  <a:txBody>
                    <a:bodyPr/>
                    <a:lstStyle/>
                    <a:p>
                      <a:pPr indent="0" marL="0">
                        <a:buNone/>
                      </a:pPr>
                      <a:r>
                        <a:rPr lang="en-US" sz="1300" dirty="0">
                          <a:solidFill>
                            <a:srgbClr val="16211F"/>
                          </a:solidFill>
                          <a:latin typeface="Yu Gothic" pitchFamily="34" charset="0"/>
                          <a:ea typeface="Yu Gothic" pitchFamily="34" charset="-122"/>
                          <a:cs typeface="Yu Gothic" pitchFamily="34" charset="-120"/>
                        </a:rPr>
                        <a:t>経営層・広報・法務・現場・取引先・委託先・当局 ／ ベンダー・保険・警察など</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4F7F6"/>
                    </a:solidFill>
                  </a:tcPr>
                </a:tc>
              </a:tr>
              <a:tr h="420624">
                <a:tc>
                  <a:txBody>
                    <a:bodyPr/>
                    <a:lstStyle/>
                    <a:p>
                      <a:pPr indent="0" marL="0">
                        <a:buNone/>
                      </a:pPr>
                      <a:r>
                        <a:rPr lang="en-US" sz="1300" b="1" dirty="0">
                          <a:solidFill>
                            <a:srgbClr val="16211F"/>
                          </a:solidFill>
                          <a:latin typeface="Yu Gothic" pitchFamily="34" charset="0"/>
                          <a:ea typeface="Yu Gothic" pitchFamily="34" charset="-122"/>
                          <a:cs typeface="Yu Gothic" pitchFamily="34" charset="-120"/>
                        </a:rPr>
                        <a:t>記録</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FFFFF"/>
                    </a:solidFill>
                  </a:tcPr>
                </a:tc>
                <a:tc>
                  <a:txBody>
                    <a:bodyPr/>
                    <a:lstStyle/>
                    <a:p>
                      <a:pPr indent="0" marL="0">
                        <a:buNone/>
                      </a:pPr>
                      <a:r>
                        <a:rPr lang="en-US" sz="1300" dirty="0">
                          <a:solidFill>
                            <a:srgbClr val="16211F"/>
                          </a:solidFill>
                          <a:latin typeface="Yu Gothic" pitchFamily="34" charset="0"/>
                          <a:ea typeface="Yu Gothic" pitchFamily="34" charset="-122"/>
                          <a:cs typeface="Yu Gothic" pitchFamily="34" charset="-120"/>
                        </a:rPr>
                        <a:t>誰が・いつ・何を根拠に決めたか。決めなかった場合はその理由</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2E7D6B"/>
          </a:solidFill>
          <a:ln/>
        </p:spPr>
      </p:sp>
      <p:sp>
        <p:nvSpPr>
          <p:cNvPr id="3" name="Text 1"/>
          <p:cNvSpPr/>
          <p:nvPr/>
        </p:nvSpPr>
        <p:spPr>
          <a:xfrm>
            <a:off x="640080" y="292608"/>
            <a:ext cx="7772400" cy="274320"/>
          </a:xfrm>
          <a:prstGeom prst="rect">
            <a:avLst/>
          </a:prstGeom>
          <a:noFill/>
          <a:ln/>
        </p:spPr>
        <p:txBody>
          <a:bodyPr wrap="square" lIns="0" tIns="0" rIns="0" bIns="0" rtlCol="0" anchor="ctr"/>
          <a:lstStyle/>
          <a:p>
            <a:pPr indent="0" marL="0">
              <a:buNone/>
            </a:pPr>
            <a:r>
              <a:rPr lang="en-US" sz="1200" b="1" dirty="0">
                <a:solidFill>
                  <a:srgbClr val="2E7D6B"/>
                </a:solidFill>
                <a:latin typeface="Yu Gothic" pitchFamily="34" charset="0"/>
                <a:ea typeface="Yu Gothic" pitchFamily="34" charset="-122"/>
                <a:cs typeface="Yu Gothic" pitchFamily="34" charset="-120"/>
              </a:rPr>
              <a:t>付録 2</a:t>
            </a:r>
            <a:endParaRPr lang="en-US" sz="1200" dirty="0"/>
          </a:p>
        </p:txBody>
      </p:sp>
      <p:sp>
        <p:nvSpPr>
          <p:cNvPr id="4" name="Text 2"/>
          <p:cNvSpPr/>
          <p:nvPr/>
        </p:nvSpPr>
        <p:spPr>
          <a:xfrm>
            <a:off x="9722815" y="292608"/>
            <a:ext cx="1828800" cy="274320"/>
          </a:xfrm>
          <a:prstGeom prst="rect">
            <a:avLst/>
          </a:prstGeom>
          <a:noFill/>
          <a:ln/>
        </p:spPr>
        <p:txBody>
          <a:bodyPr wrap="square" lIns="0" tIns="0" rIns="0" bIns="0" rtlCol="0" anchor="ctr"/>
          <a:lstStyle/>
          <a:p>
            <a:pPr algn="r" indent="0" marL="0">
              <a:buNone/>
            </a:pPr>
            <a:r>
              <a:rPr lang="en-US" sz="1100" dirty="0">
                <a:solidFill>
                  <a:srgbClr val="5E6E6A"/>
                </a:solidFill>
                <a:latin typeface="Yu Gothic" pitchFamily="34" charset="0"/>
                <a:ea typeface="Yu Gothic" pitchFamily="34" charset="-122"/>
                <a:cs typeface="Yu Gothic" pitchFamily="34" charset="-120"/>
              </a:rPr>
              <a:t>配布用</a:t>
            </a:r>
            <a:endParaRPr lang="en-US" sz="1100" dirty="0"/>
          </a:p>
        </p:txBody>
      </p:sp>
      <p:sp>
        <p:nvSpPr>
          <p:cNvPr id="5" name="Text 3"/>
          <p:cNvSpPr/>
          <p:nvPr/>
        </p:nvSpPr>
        <p:spPr>
          <a:xfrm>
            <a:off x="640080" y="621792"/>
            <a:ext cx="10911535" cy="685800"/>
          </a:xfrm>
          <a:prstGeom prst="rect">
            <a:avLst/>
          </a:prstGeom>
          <a:noFill/>
          <a:ln/>
        </p:spPr>
        <p:txBody>
          <a:bodyPr wrap="square" lIns="0" tIns="0" rIns="0" bIns="0" rtlCol="0" anchor="t"/>
          <a:lstStyle/>
          <a:p>
            <a:pPr indent="0" marL="0">
              <a:buNone/>
            </a:pPr>
            <a:r>
              <a:rPr lang="en-US" sz="2600" b="1" dirty="0">
                <a:solidFill>
                  <a:srgbClr val="16211F"/>
                </a:solidFill>
                <a:latin typeface="Yu Gothic" pitchFamily="34" charset="0"/>
                <a:ea typeface="Yu Gothic" pitchFamily="34" charset="-122"/>
                <a:cs typeface="Yu Gothic" pitchFamily="34" charset="-120"/>
              </a:rPr>
              <a:t>AIを入れた机上演習の進行雛形（90分）</a:t>
            </a:r>
            <a:endParaRPr lang="en-US" sz="2600" dirty="0"/>
          </a:p>
        </p:txBody>
      </p:sp>
      <p:sp>
        <p:nvSpPr>
          <p:cNvPr id="6" name="Text 4"/>
          <p:cNvSpPr/>
          <p:nvPr/>
        </p:nvSpPr>
        <p:spPr>
          <a:xfrm>
            <a:off x="10180015" y="6446520"/>
            <a:ext cx="1371600" cy="228600"/>
          </a:xfrm>
          <a:prstGeom prst="rect">
            <a:avLst/>
          </a:prstGeom>
          <a:noFill/>
          <a:ln/>
        </p:spPr>
        <p:txBody>
          <a:bodyPr wrap="square" lIns="0" tIns="0" rIns="0" bIns="0" rtlCol="0" anchor="ctr"/>
          <a:lstStyle/>
          <a:p>
            <a:pPr algn="r" indent="0" marL="0">
              <a:buNone/>
            </a:pPr>
            <a:r>
              <a:rPr lang="en-US" sz="900" dirty="0">
                <a:solidFill>
                  <a:srgbClr val="5E6E6A"/>
                </a:solidFill>
                <a:latin typeface="Yu Gothic" pitchFamily="34" charset="0"/>
                <a:ea typeface="Yu Gothic" pitchFamily="34" charset="-122"/>
                <a:cs typeface="Yu Gothic" pitchFamily="34" charset="-120"/>
              </a:rPr>
              <a:t>22 / 23</a:t>
            </a:r>
            <a:endParaRPr lang="en-US" sz="900" dirty="0"/>
          </a:p>
        </p:txBody>
      </p:sp>
      <p:sp>
        <p:nvSpPr>
          <p:cNvPr id="7" name="Text 5"/>
          <p:cNvSpPr/>
          <p:nvPr/>
        </p:nvSpPr>
        <p:spPr>
          <a:xfrm>
            <a:off x="640080" y="6446520"/>
            <a:ext cx="6400800" cy="228600"/>
          </a:xfrm>
          <a:prstGeom prst="rect">
            <a:avLst/>
          </a:prstGeom>
          <a:noFill/>
          <a:ln/>
        </p:spPr>
        <p:txBody>
          <a:bodyPr wrap="square" lIns="0" tIns="0" rIns="0" bIns="0" rtlCol="0" anchor="ctr"/>
          <a:lstStyle/>
          <a:p>
            <a:pPr indent="0" marL="0">
              <a:buNone/>
            </a:pPr>
            <a:r>
              <a:rPr lang="en-US" sz="900" dirty="0">
                <a:solidFill>
                  <a:srgbClr val="9FB2AD"/>
                </a:solidFill>
                <a:latin typeface="Yu Gothic" pitchFamily="34" charset="0"/>
                <a:ea typeface="Yu Gothic" pitchFamily="34" charset="-122"/>
                <a:cs typeface="Yu Gothic" pitchFamily="34" charset="-120"/>
              </a:rPr>
              <a:t>Security Days Fall 2026 Fukuoka　FB-05　小出 洋（九州大学）</a:t>
            </a:r>
            <a:endParaRPr lang="en-US" sz="9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40080" y="1463040"/>
          <a:ext cx="10911535" cy="914400"/>
        </p:xfrm>
        <a:graphic>
          <a:graphicData uri="http://schemas.openxmlformats.org/drawingml/2006/table">
            <a:tbl>
              <a:tblPr/>
              <a:tblGrid>
                <a:gridCol w="1737360"/>
                <a:gridCol w="9052560"/>
              </a:tblGrid>
              <a:tr h="457200">
                <a:tc>
                  <a:txBody>
                    <a:bodyPr/>
                    <a:lstStyle/>
                    <a:p>
                      <a:pPr indent="0" marL="0">
                        <a:buNone/>
                      </a:pPr>
                      <a:r>
                        <a:rPr lang="en-US" sz="1300" b="1" dirty="0">
                          <a:solidFill>
                            <a:srgbClr val="FFFFFF"/>
                          </a:solidFill>
                          <a:latin typeface="Yu Gothic" pitchFamily="34" charset="0"/>
                          <a:ea typeface="Yu Gothic" pitchFamily="34" charset="-122"/>
                          <a:cs typeface="Yu Gothic" pitchFamily="34" charset="-120"/>
                        </a:rPr>
                        <a:t>時間</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2E7D6B"/>
                    </a:solidFill>
                  </a:tcPr>
                </a:tc>
                <a:tc>
                  <a:txBody>
                    <a:bodyPr/>
                    <a:lstStyle/>
                    <a:p>
                      <a:pPr indent="0" marL="0">
                        <a:buNone/>
                      </a:pPr>
                      <a:r>
                        <a:rPr lang="en-US" sz="1300" b="1" dirty="0">
                          <a:solidFill>
                            <a:srgbClr val="FFFFFF"/>
                          </a:solidFill>
                          <a:latin typeface="Yu Gothic" pitchFamily="34" charset="0"/>
                          <a:ea typeface="Yu Gothic" pitchFamily="34" charset="-122"/>
                          <a:cs typeface="Yu Gothic" pitchFamily="34" charset="-120"/>
                        </a:rPr>
                        <a:t>内容</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2E7D6B"/>
                    </a:solidFill>
                  </a:tcPr>
                </a:tc>
              </a:tr>
              <a:tr h="457200">
                <a:tc>
                  <a:txBody>
                    <a:bodyPr/>
                    <a:lstStyle/>
                    <a:p>
                      <a:pPr indent="0" marL="0">
                        <a:buNone/>
                      </a:pPr>
                      <a:r>
                        <a:rPr lang="en-US" sz="1300" b="1" dirty="0">
                          <a:solidFill>
                            <a:srgbClr val="16211F"/>
                          </a:solidFill>
                          <a:latin typeface="Yu Gothic" pitchFamily="34" charset="0"/>
                          <a:ea typeface="Yu Gothic" pitchFamily="34" charset="-122"/>
                          <a:cs typeface="Yu Gothic" pitchFamily="34" charset="-120"/>
                        </a:rPr>
                        <a:t>0:00–0:10</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4F7F6"/>
                    </a:solidFill>
                  </a:tcPr>
                </a:tc>
                <a:tc>
                  <a:txBody>
                    <a:bodyPr/>
                    <a:lstStyle/>
                    <a:p>
                      <a:pPr indent="0" marL="0">
                        <a:buNone/>
                      </a:pPr>
                      <a:r>
                        <a:rPr lang="en-US" sz="1300" dirty="0">
                          <a:solidFill>
                            <a:srgbClr val="16211F"/>
                          </a:solidFill>
                          <a:latin typeface="Yu Gothic" pitchFamily="34" charset="0"/>
                          <a:ea typeface="Yu Gothic" pitchFamily="34" charset="-122"/>
                          <a:cs typeface="Yu Gothic" pitchFamily="34" charset="-120"/>
                        </a:rPr>
                        <a:t>目的とルール。人を評価しない。正解はない。AIは参謀で、決めるのは人</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4F7F6"/>
                    </a:solidFill>
                  </a:tcPr>
                </a:tc>
              </a:tr>
              <a:tr h="457200">
                <a:tc>
                  <a:txBody>
                    <a:bodyPr/>
                    <a:lstStyle/>
                    <a:p>
                      <a:pPr indent="0" marL="0">
                        <a:buNone/>
                      </a:pPr>
                      <a:r>
                        <a:rPr lang="en-US" sz="1300" b="1" dirty="0">
                          <a:solidFill>
                            <a:srgbClr val="16211F"/>
                          </a:solidFill>
                          <a:latin typeface="Yu Gothic" pitchFamily="34" charset="0"/>
                          <a:ea typeface="Yu Gothic" pitchFamily="34" charset="-122"/>
                          <a:cs typeface="Yu Gothic" pitchFamily="34" charset="-120"/>
                        </a:rPr>
                        <a:t>0:10–0:25</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FFFFF"/>
                    </a:solidFill>
                  </a:tcPr>
                </a:tc>
                <a:tc>
                  <a:txBody>
                    <a:bodyPr/>
                    <a:lstStyle/>
                    <a:p>
                      <a:pPr indent="0" marL="0">
                        <a:buNone/>
                      </a:pPr>
                      <a:r>
                        <a:rPr lang="en-US" sz="1300" dirty="0">
                          <a:solidFill>
                            <a:srgbClr val="16211F"/>
                          </a:solidFill>
                          <a:latin typeface="Yu Gothic" pitchFamily="34" charset="0"/>
                          <a:ea typeface="Yu Gothic" pitchFamily="34" charset="-122"/>
                          <a:cs typeface="Yu Gothic" pitchFamily="34" charset="-120"/>
                        </a:rPr>
                        <a:t>状況1（発覚）。AIの要約を受け取り、暫定判断と見直し時刻を決める</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6211F"/>
                          </a:solidFill>
                          <a:latin typeface="Yu Gothic" pitchFamily="34" charset="0"/>
                          <a:ea typeface="Yu Gothic" pitchFamily="34" charset="-122"/>
                          <a:cs typeface="Yu Gothic" pitchFamily="34" charset="-120"/>
                        </a:rPr>
                        <a:t>0:25–0:45</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4F7F6"/>
                    </a:solidFill>
                  </a:tcPr>
                </a:tc>
                <a:tc>
                  <a:txBody>
                    <a:bodyPr/>
                    <a:lstStyle/>
                    <a:p>
                      <a:pPr indent="0" marL="0">
                        <a:buNone/>
                      </a:pPr>
                      <a:r>
                        <a:rPr lang="en-US" sz="1300" dirty="0">
                          <a:solidFill>
                            <a:srgbClr val="16211F"/>
                          </a:solidFill>
                          <a:latin typeface="Yu Gothic" pitchFamily="34" charset="0"/>
                          <a:ea typeface="Yu Gothic" pitchFamily="34" charset="-122"/>
                          <a:cs typeface="Yu Gothic" pitchFamily="34" charset="-120"/>
                        </a:rPr>
                        <a:t>状況2（連絡手段が使えない／AIの要約に誤りが混ざる）。確かめ方を言ってもらう</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4F7F6"/>
                    </a:solidFill>
                  </a:tcPr>
                </a:tc>
              </a:tr>
              <a:tr h="457200">
                <a:tc>
                  <a:txBody>
                    <a:bodyPr/>
                    <a:lstStyle/>
                    <a:p>
                      <a:pPr indent="0" marL="0">
                        <a:buNone/>
                      </a:pPr>
                      <a:r>
                        <a:rPr lang="en-US" sz="1300" b="1" dirty="0">
                          <a:solidFill>
                            <a:srgbClr val="16211F"/>
                          </a:solidFill>
                          <a:latin typeface="Yu Gothic" pitchFamily="34" charset="0"/>
                          <a:ea typeface="Yu Gothic" pitchFamily="34" charset="-122"/>
                          <a:cs typeface="Yu Gothic" pitchFamily="34" charset="-120"/>
                        </a:rPr>
                        <a:t>0:45–1:00</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FFFFF"/>
                    </a:solidFill>
                  </a:tcPr>
                </a:tc>
                <a:tc>
                  <a:txBody>
                    <a:bodyPr/>
                    <a:lstStyle/>
                    <a:p>
                      <a:pPr indent="0" marL="0">
                        <a:buNone/>
                      </a:pPr>
                      <a:r>
                        <a:rPr lang="en-US" sz="1300" dirty="0">
                          <a:solidFill>
                            <a:srgbClr val="16211F"/>
                          </a:solidFill>
                          <a:latin typeface="Yu Gothic" pitchFamily="34" charset="0"/>
                          <a:ea typeface="Yu Gothic" pitchFamily="34" charset="-122"/>
                          <a:cs typeface="Yu Gothic" pitchFamily="34" charset="-120"/>
                        </a:rPr>
                        <a:t>状況3（取引先・委託先・拠点からの問い合わせ）。誰が何を答えるか</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6211F"/>
                          </a:solidFill>
                          <a:latin typeface="Yu Gothic" pitchFamily="34" charset="0"/>
                          <a:ea typeface="Yu Gothic" pitchFamily="34" charset="-122"/>
                          <a:cs typeface="Yu Gothic" pitchFamily="34" charset="-120"/>
                        </a:rPr>
                        <a:t>1:00–1:10</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4F7F6"/>
                    </a:solidFill>
                  </a:tcPr>
                </a:tc>
                <a:tc>
                  <a:txBody>
                    <a:bodyPr/>
                    <a:lstStyle/>
                    <a:p>
                      <a:pPr indent="0" marL="0">
                        <a:buNone/>
                      </a:pPr>
                      <a:r>
                        <a:rPr lang="en-US" sz="1300" dirty="0">
                          <a:solidFill>
                            <a:srgbClr val="16211F"/>
                          </a:solidFill>
                          <a:latin typeface="Yu Gothic" pitchFamily="34" charset="0"/>
                          <a:ea typeface="Yu Gothic" pitchFamily="34" charset="-122"/>
                          <a:cs typeface="Yu Gothic" pitchFamily="34" charset="-120"/>
                        </a:rPr>
                        <a:t>状況4（報道・SNS・身代金要求）。「人が決める」段階の判断者を特定する</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4F7F6"/>
                    </a:solidFill>
                  </a:tcPr>
                </a:tc>
              </a:tr>
              <a:tr h="457200">
                <a:tc>
                  <a:txBody>
                    <a:bodyPr/>
                    <a:lstStyle/>
                    <a:p>
                      <a:pPr indent="0" marL="0">
                        <a:buNone/>
                      </a:pPr>
                      <a:r>
                        <a:rPr lang="en-US" sz="1300" b="1" dirty="0">
                          <a:solidFill>
                            <a:srgbClr val="16211F"/>
                          </a:solidFill>
                          <a:latin typeface="Yu Gothic" pitchFamily="34" charset="0"/>
                          <a:ea typeface="Yu Gothic" pitchFamily="34" charset="-122"/>
                          <a:cs typeface="Yu Gothic" pitchFamily="34" charset="-120"/>
                        </a:rPr>
                        <a:t>1:10–1:30</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FFFFF"/>
                    </a:solidFill>
                  </a:tcPr>
                </a:tc>
                <a:tc>
                  <a:txBody>
                    <a:bodyPr/>
                    <a:lstStyle/>
                    <a:p>
                      <a:pPr indent="0" marL="0">
                        <a:buNone/>
                      </a:pPr>
                      <a:r>
                        <a:rPr lang="en-US" sz="1300" dirty="0">
                          <a:solidFill>
                            <a:srgbClr val="16211F"/>
                          </a:solidFill>
                          <a:latin typeface="Yu Gothic" pitchFamily="34" charset="0"/>
                          <a:ea typeface="Yu Gothic" pitchFamily="34" charset="-122"/>
                          <a:cs typeface="Yu Gothic" pitchFamily="34" charset="-120"/>
                        </a:rPr>
                        <a:t>振り返り。AIが残した記録を見ながら、詰まった場所だけを拾う。判断カードを直す</a:t>
                      </a:r>
                      <a:endParaRPr lang="en-US" sz="1300" dirty="0">
                        <a:latin typeface="Yu Gothic" charset="0"/>
                        <a:ea typeface="Yu Gothic" charset="0"/>
                        <a:cs typeface="Yu Gothic" charset="0"/>
                      </a:endParaRPr>
                    </a:p>
                  </a:txBody>
                  <a:tcPr marL="109728" marR="109728" marT="45720" marB="45720" anchor="ctr">
                    <a:lnL w="9525" cap="flat" cmpd="sng" algn="ctr">
                      <a:solidFill>
                        <a:srgbClr val="C9D5D1"/>
                      </a:solidFill>
                      <a:prstDash val="solid"/>
                      <a:round/>
                      <a:headEnd type="none" w="med" len="med"/>
                      <a:tailEnd type="none" w="med" len="med"/>
                    </a:lnL>
                    <a:lnR w="9525" cap="flat" cmpd="sng" algn="ctr">
                      <a:solidFill>
                        <a:srgbClr val="C9D5D1"/>
                      </a:solidFill>
                      <a:prstDash val="solid"/>
                      <a:round/>
                      <a:headEnd type="none" w="med" len="med"/>
                      <a:tailEnd type="none" w="med" len="med"/>
                    </a:lnR>
                    <a:lnT w="9525" cap="flat" cmpd="sng" algn="ctr">
                      <a:solidFill>
                        <a:srgbClr val="C9D5D1"/>
                      </a:solidFill>
                      <a:prstDash val="solid"/>
                      <a:round/>
                      <a:headEnd type="none" w="med" len="med"/>
                      <a:tailEnd type="none" w="med" len="med"/>
                    </a:lnT>
                    <a:lnB w="9525" cap="flat" cmpd="sng" algn="ctr">
                      <a:solidFill>
                        <a:srgbClr val="C9D5D1"/>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2E7D6B"/>
          </a:solidFill>
          <a:ln/>
        </p:spPr>
      </p:sp>
      <p:sp>
        <p:nvSpPr>
          <p:cNvPr id="3" name="Shape 1"/>
          <p:cNvSpPr/>
          <p:nvPr/>
        </p:nvSpPr>
        <p:spPr>
          <a:xfrm>
            <a:off x="822960" y="5989320"/>
            <a:ext cx="10515600" cy="27432"/>
          </a:xfrm>
          <a:prstGeom prst="rect">
            <a:avLst/>
          </a:prstGeom>
          <a:solidFill>
            <a:srgbClr val="C9D5D1"/>
          </a:solidFill>
          <a:ln/>
        </p:spPr>
      </p:sp>
      <p:sp>
        <p:nvSpPr>
          <p:cNvPr id="4" name="Text 2"/>
          <p:cNvSpPr/>
          <p:nvPr/>
        </p:nvSpPr>
        <p:spPr>
          <a:xfrm>
            <a:off x="822960" y="2377440"/>
            <a:ext cx="10607040" cy="822960"/>
          </a:xfrm>
          <a:prstGeom prst="rect">
            <a:avLst/>
          </a:prstGeom>
          <a:noFill/>
          <a:ln/>
        </p:spPr>
        <p:txBody>
          <a:bodyPr wrap="square" lIns="0" tIns="0" rIns="0" bIns="0" rtlCol="0" anchor="ctr"/>
          <a:lstStyle/>
          <a:p>
            <a:pPr indent="0" marL="0">
              <a:buNone/>
            </a:pPr>
            <a:r>
              <a:rPr lang="en-US" sz="3600" b="1" dirty="0">
                <a:solidFill>
                  <a:srgbClr val="16211F"/>
                </a:solidFill>
                <a:latin typeface="Yu Gothic" pitchFamily="34" charset="0"/>
                <a:ea typeface="Yu Gothic" pitchFamily="34" charset="-122"/>
                <a:cs typeface="Yu Gothic" pitchFamily="34" charset="-120"/>
              </a:rPr>
              <a:t>ご清聴ありがとうございました</a:t>
            </a:r>
            <a:endParaRPr lang="en-US" sz="3600" dirty="0"/>
          </a:p>
        </p:txBody>
      </p:sp>
      <p:sp>
        <p:nvSpPr>
          <p:cNvPr id="5" name="Text 3"/>
          <p:cNvSpPr/>
          <p:nvPr/>
        </p:nvSpPr>
        <p:spPr>
          <a:xfrm>
            <a:off x="822960" y="3383280"/>
            <a:ext cx="10607040" cy="457200"/>
          </a:xfrm>
          <a:prstGeom prst="rect">
            <a:avLst/>
          </a:prstGeom>
          <a:noFill/>
          <a:ln/>
        </p:spPr>
        <p:txBody>
          <a:bodyPr wrap="square" lIns="0" tIns="0" rIns="0" bIns="0" rtlCol="0" anchor="ctr"/>
          <a:lstStyle/>
          <a:p>
            <a:pPr indent="0" marL="0">
              <a:buNone/>
            </a:pPr>
            <a:r>
              <a:rPr lang="en-US" sz="1800" dirty="0">
                <a:solidFill>
                  <a:srgbClr val="5E6E6A"/>
                </a:solidFill>
                <a:latin typeface="Yu Gothic" pitchFamily="34" charset="0"/>
                <a:ea typeface="Yu Gothic" pitchFamily="34" charset="-122"/>
                <a:cs typeface="Yu Gothic" pitchFamily="34" charset="-120"/>
              </a:rPr>
              <a:t>九州大学 情報基盤研究開発センター　小出 洋</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「ひとががんばる」から「AIとともに判断する」へ</dc:title>
  <dc:subject>PptxGenJS Presentation</dc:subject>
  <dc:creator>九州大学 情報基盤研究開発センター　小出 洋</dc:creator>
  <cp:lastModifiedBy>九州大学 情報基盤研究開発センター　小出 洋</cp:lastModifiedBy>
  <cp:revision>1</cp:revision>
  <dcterms:created xsi:type="dcterms:W3CDTF">2026-09-27T04:19:17Z</dcterms:created>
  <dcterms:modified xsi:type="dcterms:W3CDTF">2026-09-27T04:19:17Z</dcterms:modified>
</cp:coreProperties>
</file>