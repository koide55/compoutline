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名乗る。30分なので結論から入ると先に断る。0:00–0:01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読み上げるだけでよい。資料だけ見る人のために結論を冒頭に置いている。0:01–0:02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過去2つの講演の結論を1枚で回収する。初めて聞く人にも通じるよう、左2つは1文ずつで済ませる。0:02–0:03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押したら第4部の「測る」を削る。第2部と第3部は削らない。0:03–0:04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 の律速点の図を事業側の言葉に直したもの。Project Glasswing 等の公開事例に触れる場合は出典を口頭で（FIT資料 [3]–[6]）。同日のNTTデータ・クラウドストライクの講演と重なるので、脅威の数字は深追いしない。0:04–0:06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講演概要に書いた5つの判断。以降はこの5つを軸に話す。0:06–0:08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会場の情シス担当に「インシデントの夜、一番時間を取られたのは何か」と問いかけてもよい。0:08–0:10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FIT2026 の人材像の要約。ここは復習なので短く。0:10–0:11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今日の新しい提案その1。「使う・使わない」の二択にしない（FIT 考察の二分法からの解放）。どこに、どの権限で、どの記録のもとに置くかを決める。0:11–0:13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今日の新しい提案その2。FIT の評価観点「過信と過剰な拒否の両方を観察」を、現場の運用に落としたもの。0:13–0:16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沈まないための備えの「自社でAIを使うと守る面が増える」の再掲。AIセキュリティのタグに対応。0:16–0:18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九州の中小企業・自治体・医療機関の参加を想定。一人情シスの話で具体性を出す。0:18–0:19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今日の新しい提案その3。5つの判断×1枚＝A4で5枚から始められる。沈まないための備えの「最初に決める3つ（重要業務・RTO/RPO・代替運用）」が埋まっていることが前提。雛形は付録1。0:19–0:22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 の五要素のうち「越境協働」。外の組織（委託先・地域の協議会・警察）との連絡も判断カードに書く。0:22–0:24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今日の新しい提案その4。演習の準備と記録が重いことが、小さな組織で机上演習が続かない理由の一つ。AIで準備と記録の手間を下げる。FIT の「不確実性を意図的に設計する」（原則3）の実務版。進行雛形は付録2。0:24–0:27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押していたらこの1枚は飛ばす。「人を評価しない」は必ず口頭で言う（評価されると誰も本当のことを言わなくなる）。0:27–0:28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冒頭の3つと対応させて閉じる。ご質問をどうぞ。0:28–0:30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部門ごとではなく、判断ごとに1枚。埋まらない欄があること自体が発見。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沈まないための備え 付録2（2時間版）を90分に縮め、AIの3役を入れたもの。進行役は助け舟を出さない。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2026年10月16日（金）13:00–13:30　Room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10789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「ひとががんばる」から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「AIとともに判断する」へ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703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8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 サイバー危機に備える人材と組織 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5120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 情報基盤研究開発センター　小出 洋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今日の結論を先に申し上げます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600200"/>
            <a:ext cx="640080" cy="640080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155448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攻撃も防御も速くなりました。いま一番遅いのは「人の判断」です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554480" y="2029968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AIで見つけるのも、攻めるのも速くなった。詰まるのは、決めて説明するところです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640080" cy="640080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54480" y="274320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AIは判断の材料を出します。決めるのと責任を負うのは人です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554480" y="3218688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AIの出力は「答え」ではなく「検証すべき仮説」として扱います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977640"/>
            <a:ext cx="640080" cy="640080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54480" y="393192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がんばる人に頼らず、判断が回る仕組みを平時に作ります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554480" y="4407408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任せ方・判断カード・演習の3つで、限られた人員でも回るようにします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25780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525780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33095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「ひとががんばる」を「仕組みが回す」に置き換える ― 今日はその具体的なやり方の話です。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これまでの話と、今日の一歩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508760"/>
            <a:ext cx="3381146" cy="3017520"/>
          </a:xfrm>
          <a:prstGeom prst="roundRect">
            <a:avLst>
              <a:gd name="adj" fmla="val 1515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55064"/>
            <a:ext cx="3015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沈まないための備え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157984"/>
            <a:ext cx="301538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脆弱性ゼロは目標にならない。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やられても事業が止まらない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ことを目標にする。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止まらない力は訓練で得る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85234" y="2852928"/>
            <a:ext cx="256032" cy="329184"/>
          </a:xfrm>
          <a:prstGeom prst="rightArrow">
            <a:avLst/>
          </a:prstGeom>
          <a:solidFill>
            <a:srgbClr val="C9D5D1"/>
          </a:solidFill>
          <a:ln/>
        </p:spPr>
      </p:sp>
      <p:sp>
        <p:nvSpPr>
          <p:cNvPr id="12" name="Shape 10"/>
          <p:cNvSpPr/>
          <p:nvPr/>
        </p:nvSpPr>
        <p:spPr>
          <a:xfrm>
            <a:off x="4405274" y="1508760"/>
            <a:ext cx="3381146" cy="3017520"/>
          </a:xfrm>
          <a:prstGeom prst="roundRect">
            <a:avLst>
              <a:gd name="adj" fmla="val 1515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8154" y="1655064"/>
            <a:ext cx="3015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FIT2026（9月）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88154" y="2157984"/>
            <a:ext cx="301538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AIで発見が速くなるほど、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律速点は人の判断と説明へ。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AI出力を「検証すべき仮説」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として扱う人材を育てる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850429" y="2852928"/>
            <a:ext cx="256032" cy="329184"/>
          </a:xfrm>
          <a:prstGeom prst="rightArrow">
            <a:avLst/>
          </a:prstGeom>
          <a:solidFill>
            <a:srgbClr val="C9D5D1"/>
          </a:solidFill>
          <a:ln/>
        </p:spPr>
      </p:sp>
      <p:sp>
        <p:nvSpPr>
          <p:cNvPr id="16" name="Shape 14"/>
          <p:cNvSpPr/>
          <p:nvPr/>
        </p:nvSpPr>
        <p:spPr>
          <a:xfrm>
            <a:off x="8170469" y="1508760"/>
            <a:ext cx="3381146" cy="3017520"/>
          </a:xfrm>
          <a:prstGeom prst="roundRect">
            <a:avLst>
              <a:gd name="adj" fmla="val 1515"/>
            </a:avLst>
          </a:prstGeom>
          <a:solidFill>
            <a:srgbClr val="2E7D6B"/>
          </a:solidFill>
          <a:ln w="9525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53349" y="1655064"/>
            <a:ext cx="301538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53349" y="2157984"/>
            <a:ext cx="301538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その判断を、個人の力量に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任せず、組織の仕組みとして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平時に設計しておく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84632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84632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91947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「がんばれる人がいる組織」から、「誰が当番でも判断が回る組織」へ。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この30分の地図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1005840" cy="566928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4630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6分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45920" y="1463040"/>
            <a:ext cx="9905695" cy="566928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11" name="Text 9"/>
          <p:cNvSpPr/>
          <p:nvPr/>
        </p:nvSpPr>
        <p:spPr>
          <a:xfrm>
            <a:off x="1874520" y="14630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律速点は人の判断へ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577840" y="1463040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何が速くなり、何が残ったか。5つの判断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2176272"/>
            <a:ext cx="1005840" cy="566928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1762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8分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645920" y="2176272"/>
            <a:ext cx="9905695" cy="566928"/>
          </a:xfrm>
          <a:prstGeom prst="rect">
            <a:avLst/>
          </a:prstGeom>
          <a:solidFill>
            <a:srgbClr val="F4F7F6"/>
          </a:solidFill>
          <a:ln/>
        </p:spPr>
      </p:sp>
      <p:sp>
        <p:nvSpPr>
          <p:cNvPr id="16" name="Text 14"/>
          <p:cNvSpPr/>
          <p:nvPr/>
        </p:nvSpPr>
        <p:spPr>
          <a:xfrm>
            <a:off x="1874520" y="217627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AIとともに判断する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77840" y="2176272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任せ方の3段階と、暫定判断という考え方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2889504"/>
            <a:ext cx="1005840" cy="566928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88950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645920" y="2889504"/>
            <a:ext cx="9905695" cy="566928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21" name="Text 19"/>
          <p:cNvSpPr/>
          <p:nvPr/>
        </p:nvSpPr>
        <p:spPr>
          <a:xfrm>
            <a:off x="1874520" y="28895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限られた人員で回す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77840" y="2889504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判断カードと、部門・組織をまたぐつながり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3602736"/>
            <a:ext cx="1005840" cy="566928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6027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5分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645920" y="3602736"/>
            <a:ext cx="9905695" cy="566928"/>
          </a:xfrm>
          <a:prstGeom prst="rect">
            <a:avLst/>
          </a:prstGeom>
          <a:solidFill>
            <a:srgbClr val="F4F7F6"/>
          </a:solidFill>
          <a:ln/>
        </p:spPr>
      </p:sp>
      <p:sp>
        <p:nvSpPr>
          <p:cNvPr id="26" name="Text 24"/>
          <p:cNvSpPr/>
          <p:nvPr/>
        </p:nvSpPr>
        <p:spPr>
          <a:xfrm>
            <a:off x="1874520" y="360273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平時に判断を練習する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577840" y="3602736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AIを入れた机上演習と、そこで測るもの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4315968"/>
            <a:ext cx="1005840" cy="566928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31596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2分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645920" y="4315968"/>
            <a:ext cx="9905695" cy="566928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31" name="Text 29"/>
          <p:cNvSpPr/>
          <p:nvPr/>
        </p:nvSpPr>
        <p:spPr>
          <a:xfrm>
            <a:off x="1874520" y="43159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明日からやること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577840" y="4315968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持ち帰っていただく3つ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" y="525780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34" name="Shape 32"/>
          <p:cNvSpPr/>
          <p:nvPr/>
        </p:nvSpPr>
        <p:spPr>
          <a:xfrm>
            <a:off x="640080" y="525780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533095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付録に、判断カードと演習進行の雛形を付けています。そのままお使いください。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8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律速点は人の判断へ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速くなったのは「見つける」まで。遅いのは「決める」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律速点は人の判断へ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見つけるのはAIで速くなりました。詰まるのはその先です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508760"/>
            <a:ext cx="3332378" cy="1417320"/>
          </a:xfrm>
          <a:prstGeom prst="roundRect">
            <a:avLst>
              <a:gd name="adj" fmla="val 3226"/>
            </a:avLst>
          </a:prstGeom>
          <a:solidFill>
            <a:srgbClr val="2E7D6B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73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AI・攻撃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2075688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脆弱性候補、アラート、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侵害の疑いが大量に届く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45610" y="2052828"/>
            <a:ext cx="310896" cy="329184"/>
          </a:xfrm>
          <a:prstGeom prst="rightArrow">
            <a:avLst/>
          </a:prstGeom>
          <a:solidFill>
            <a:srgbClr val="C9D5D1"/>
          </a:solidFill>
          <a:ln/>
        </p:spPr>
      </p:sp>
      <p:sp>
        <p:nvSpPr>
          <p:cNvPr id="12" name="Shape 10"/>
          <p:cNvSpPr/>
          <p:nvPr/>
        </p:nvSpPr>
        <p:spPr>
          <a:xfrm>
            <a:off x="4429658" y="1508760"/>
            <a:ext cx="3332378" cy="1417320"/>
          </a:xfrm>
          <a:prstGeom prst="roundRect">
            <a:avLst>
              <a:gd name="adj" fmla="val 3226"/>
            </a:avLst>
          </a:prstGeom>
          <a:solidFill>
            <a:srgbClr val="EDF3F1"/>
          </a:solidFill>
          <a:ln/>
        </p:spPr>
      </p:sp>
      <p:sp>
        <p:nvSpPr>
          <p:cNvPr id="13" name="Text 11"/>
          <p:cNvSpPr/>
          <p:nvPr/>
        </p:nvSpPr>
        <p:spPr>
          <a:xfrm>
            <a:off x="4612538" y="1673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不確実な候補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12538" y="2075688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本物か、届くのか、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影響はどこまでか未確定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835189" y="2052828"/>
            <a:ext cx="310896" cy="329184"/>
          </a:xfrm>
          <a:prstGeom prst="rightArrow">
            <a:avLst/>
          </a:prstGeom>
          <a:solidFill>
            <a:srgbClr val="C9D5D1"/>
          </a:solidFill>
          <a:ln/>
        </p:spPr>
      </p:sp>
      <p:sp>
        <p:nvSpPr>
          <p:cNvPr id="16" name="Shape 14"/>
          <p:cNvSpPr/>
          <p:nvPr/>
        </p:nvSpPr>
        <p:spPr>
          <a:xfrm>
            <a:off x="8219237" y="1508760"/>
            <a:ext cx="3332378" cy="1417320"/>
          </a:xfrm>
          <a:prstGeom prst="roundRect">
            <a:avLst>
              <a:gd name="adj" fmla="val 3226"/>
            </a:avLst>
          </a:prstGeom>
          <a:solidFill>
            <a:srgbClr val="16211F"/>
          </a:solidFill>
          <a:ln/>
        </p:spPr>
      </p:sp>
      <p:sp>
        <p:nvSpPr>
          <p:cNvPr id="17" name="Text 15"/>
          <p:cNvSpPr/>
          <p:nvPr/>
        </p:nvSpPr>
        <p:spPr>
          <a:xfrm>
            <a:off x="8402117" y="1673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人の判断と説明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02117" y="2075688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ここが律速点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2004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人と組織がこなすべき一連の処理（個々のAIツールの性能だけでは片づかない）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566160"/>
            <a:ext cx="3515258" cy="457200"/>
          </a:xfrm>
          <a:prstGeom prst="roundRect">
            <a:avLst>
              <a:gd name="adj" fmla="val 10000"/>
            </a:avLst>
          </a:prstGeom>
          <a:solidFill>
            <a:srgbClr val="F4F7F6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6616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重複を除く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338218" y="3566160"/>
            <a:ext cx="3515258" cy="457200"/>
          </a:xfrm>
          <a:prstGeom prst="roundRect">
            <a:avLst>
              <a:gd name="adj" fmla="val 10000"/>
            </a:avLst>
          </a:prstGeom>
          <a:solidFill>
            <a:srgbClr val="F4F7F6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8218" y="356616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真偽を確かめる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36357" y="3566160"/>
            <a:ext cx="3515258" cy="457200"/>
          </a:xfrm>
          <a:prstGeom prst="roundRect">
            <a:avLst>
              <a:gd name="adj" fmla="val 10000"/>
            </a:avLst>
          </a:prstGeom>
          <a:solidFill>
            <a:srgbClr val="F4F7F6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6357" y="356616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届くかを見る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" y="4133088"/>
            <a:ext cx="3515258" cy="457200"/>
          </a:xfrm>
          <a:prstGeom prst="roundRect">
            <a:avLst>
              <a:gd name="adj" fmla="val 10000"/>
            </a:avLst>
          </a:prstGeom>
          <a:solidFill>
            <a:srgbClr val="F4F7F6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133088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緩和策を選ぶ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338218" y="4133088"/>
            <a:ext cx="3515258" cy="457200"/>
          </a:xfrm>
          <a:prstGeom prst="roundRect">
            <a:avLst>
              <a:gd name="adj" fmla="val 10000"/>
            </a:avLst>
          </a:prstGeom>
          <a:solidFill>
            <a:srgbClr val="F4F7F6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38218" y="4133088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止めるか決める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036357" y="4133088"/>
            <a:ext cx="3515258" cy="457200"/>
          </a:xfrm>
          <a:prstGeom prst="roundRect">
            <a:avLst>
              <a:gd name="adj" fmla="val 10000"/>
            </a:avLst>
          </a:prstGeom>
          <a:solidFill>
            <a:srgbClr val="F4F7F6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36357" y="4133088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誰に何を説明するか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0080" y="507492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" y="507492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514807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AIの性能が上がると、防御は楽になるのではなく、「見つけた後の判断と説明」が重くなります。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律速点は人の判断へ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組織の命運を分ける判断は、いまも人にあります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554480"/>
            <a:ext cx="2021373" cy="3063240"/>
          </a:xfrm>
          <a:prstGeom prst="roundRect">
            <a:avLst>
              <a:gd name="adj" fmla="val 2262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0784"/>
            <a:ext cx="165561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止めるか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2203704"/>
            <a:ext cx="1655613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サービスやシステムを止めるか。どこまで止めるか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862621" y="1554480"/>
            <a:ext cx="2021373" cy="3063240"/>
          </a:xfrm>
          <a:prstGeom prst="roundRect">
            <a:avLst>
              <a:gd name="adj" fmla="val 2262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5501" y="1700784"/>
            <a:ext cx="165561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続けるか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45501" y="2203704"/>
            <a:ext cx="1655613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事業をどう続けるか。手作業や縮退運用に切り替えるか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85161" y="1554480"/>
            <a:ext cx="2021373" cy="3063240"/>
          </a:xfrm>
          <a:prstGeom prst="roundRect">
            <a:avLst>
              <a:gd name="adj" fmla="val 2262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68041" y="1700784"/>
            <a:ext cx="165561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説明するか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268041" y="2203704"/>
            <a:ext cx="1655613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顧客・取引先に、何を、どの順で説明するか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07702" y="1554480"/>
            <a:ext cx="2021373" cy="3063240"/>
          </a:xfrm>
          <a:prstGeom prst="roundRect">
            <a:avLst>
              <a:gd name="adj" fmla="val 2262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0582" y="1700784"/>
            <a:ext cx="165561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公表するか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490582" y="2203704"/>
            <a:ext cx="1655613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いつ、どこまで公表するか。当局への報告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530243" y="1554480"/>
            <a:ext cx="2021373" cy="3063240"/>
          </a:xfrm>
          <a:prstGeom prst="roundRect">
            <a:avLst>
              <a:gd name="adj" fmla="val 2262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3123" y="1700784"/>
            <a:ext cx="165561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何から戻すか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3123" y="2203704"/>
            <a:ext cx="1655613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復旧の順番。どの状態なら信用してよいか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489204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489204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96519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どれも「取り消しにくく」「影響が広く」「後で説明を求められる」判断です。だからAIに丸投げできません。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律速点は人の判断へ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「ひとががんばる」の正体は、判断の材料集めです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75488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初動の工程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AIに任せやすい作業（材料）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人が担う判断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把握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アラートの集約、ログの突き合わせ、時系列の整理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「インシデントだ」と宣言するか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影響範囲の候補、似た事例の検索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どの業務を優先して守るか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封じ込め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隔離手順の案、設定変更の下書き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止める範囲と、止める時刻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説明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経緯の要約、文案、想定問答の下書き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何を、誰に、いつ出すか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復旧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バックアップの確認、手順の提示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何から戻すか、どこまで信用するか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98348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10" name="Shape 7"/>
          <p:cNvSpPr/>
          <p:nvPr/>
        </p:nvSpPr>
        <p:spPr>
          <a:xfrm>
            <a:off x="640080" y="498348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505663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夜通しがんばっているのは、多くの場合、左の列です。左をAIに渡して、人は右に集中します。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8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AIとともに判断する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AIの出力は「答え」ではなく「検証すべき仮説」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AIとともに判断する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AIの出力を受け取ったら、4つを問い直します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AIが示した候補を、自社のシステムの構造へ戻して問い直す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783080"/>
            <a:ext cx="3291840" cy="1234440"/>
          </a:xfrm>
          <a:prstGeom prst="roundRect">
            <a:avLst>
              <a:gd name="adj" fmla="val 3704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78308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どの仮定が成り立っているか？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114800" y="1783080"/>
            <a:ext cx="3291840" cy="1234440"/>
          </a:xfrm>
          <a:prstGeom prst="roundRect">
            <a:avLst>
              <a:gd name="adj" fmla="val 3704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51960" y="178308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どの証拠が足りないか？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3200400"/>
            <a:ext cx="3291840" cy="1234440"/>
          </a:xfrm>
          <a:prstGeom prst="roundRect">
            <a:avLst>
              <a:gd name="adj" fmla="val 3704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間違っていたら何が起きるか？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114800" y="3200400"/>
            <a:ext cx="3291840" cy="1234440"/>
          </a:xfrm>
          <a:prstGeom prst="roundRect">
            <a:avLst>
              <a:gd name="adj" fmla="val 3704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51960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組織の誰が決めるべきか？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680960" y="1783080"/>
            <a:ext cx="3870655" cy="2651760"/>
          </a:xfrm>
          <a:prstGeom prst="roundRect">
            <a:avLst>
              <a:gd name="adj" fmla="val 1724"/>
            </a:avLst>
          </a:prstGeom>
          <a:solidFill>
            <a:srgbClr val="F4F7F6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1929384"/>
            <a:ext cx="3504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誰に必要か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863840" y="2432304"/>
            <a:ext cx="3504895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・AIを業務システムに組み込む技術者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・AIの出力を根拠にリスクを判断するセキュリティ担当者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・関係者に説明する管理職・経営層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489204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489204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96519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「AIを使いこなす」ことより、AIの出力を自社のシステムと組織の文脈に置き直すことが要です。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一歩①　任せ方を決める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任せ方は、3つの問いで3段階に分けておきます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2926080"/>
                <a:gridCol w="29260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問い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自動でよい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人の承認つき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人が決める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21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取り消せるか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すぐ戻せる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手間はかかるが戻せる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戻せない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D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影響はどこまでか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一部の端末・利用者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一つの部署・サービス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全社・顧客・社会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D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後で説明できるか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根拠が記録に残る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根拠を人が確かめられる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説明責任を人が負う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D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不審な端末の隔離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一部サービスの一時停止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全面停止、公表、身代金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D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98348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10" name="Shape 7"/>
          <p:cNvSpPr/>
          <p:nvPr/>
        </p:nvSpPr>
        <p:spPr>
          <a:xfrm>
            <a:off x="640080" y="498348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505663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3つのうち1つでも右に寄れば、右の段階に置きます。これを事故の前に決めて、書いておきます。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一歩②　暫定判断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判断を遅らせすぎず、AIを過信しない ― 暫定判断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508760"/>
            <a:ext cx="5318608" cy="3246120"/>
          </a:xfrm>
          <a:prstGeom prst="roundRect">
            <a:avLst>
              <a:gd name="adj" fmla="val 1408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55064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不確実なときの2つの失敗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157984"/>
            <a:ext cx="495284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過信：AIのもっともらしい要約をそのまま採用し、誤った範囲を止める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先送り：情報がそろうまで決めない。その間に被害と問い合わせが広がる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（AIの出力を一律に信じない「過剰な拒否」もこちら）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1508760"/>
            <a:ext cx="5318608" cy="3246120"/>
          </a:xfrm>
          <a:prstGeom prst="roundRect">
            <a:avLst>
              <a:gd name="adj" fmla="val 1408"/>
            </a:avLst>
          </a:prstGeom>
          <a:solidFill>
            <a:srgbClr val="2E7D6B"/>
          </a:solidFill>
          <a:ln w="9525">
            <a:solidFill>
              <a:srgbClr val="2E7D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5888" y="1655064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暫定で決め、見直す時刻を決める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15888" y="2157984"/>
            <a:ext cx="495284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「今ある材料では、こう決める」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「○時に、この材料を見て見直す」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「見直しで覆す条件はこれ」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の3点を、決めた人の名前と時刻とともに記録します。決めないことも、理由と時刻を残せば判断です。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98348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498348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5663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完全な情報は来ません。決め直せる形で早く決めることが、不確実な状況での判断の型です。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AIとともに判断する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AIに任せると、AI自身が守るべき面になります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554480"/>
            <a:ext cx="3503066" cy="3063240"/>
          </a:xfrm>
          <a:prstGeom prst="roundRect">
            <a:avLst>
              <a:gd name="adj" fmla="val 1493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0784"/>
            <a:ext cx="313730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指示の混入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203704"/>
            <a:ext cx="3137306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読み込んだメールや Web ページに仕込まれた指示で、判断材料が歪められます（プロンプトインジェクション）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4314" y="1554480"/>
            <a:ext cx="3503066" cy="3063240"/>
          </a:xfrm>
          <a:prstGeom prst="roundRect">
            <a:avLst>
              <a:gd name="adj" fmla="val 1493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7194" y="1700784"/>
            <a:ext cx="313730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権限の渡しすぎ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7194" y="2203704"/>
            <a:ext cx="3137306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エージェントに渡した権限は、乗っ取られたときの被害範囲です。必要な分だけ渡します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8549" y="1554480"/>
            <a:ext cx="3503066" cy="3063240"/>
          </a:xfrm>
          <a:prstGeom prst="roundRect">
            <a:avLst>
              <a:gd name="adj" fmla="val 1493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1429" y="1700784"/>
            <a:ext cx="313730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戻せない操作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31429" y="2203704"/>
            <a:ext cx="3137306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送信・削除・決済の前に人が承認します。任せ方の3段階の「右側」です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89204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489204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96519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対策は新しくありません。最小権限、戻せない操作の前の承認、何をしたかの記録。忘れられやすいだけです。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8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限られた人員で回す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「あの人がいないと動かない」をなくす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第3部　限られた人員で回す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「ひとががんばる」体制の弱さは、判断が人に貼りついていること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508760"/>
            <a:ext cx="5318608" cy="3246120"/>
          </a:xfrm>
          <a:prstGeom prst="roundRect">
            <a:avLst>
              <a:gd name="adj" fmla="val 1408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55064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よくある状態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157984"/>
            <a:ext cx="495284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・判断できる人が1〜2人に集中している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・夜間・休日・長期戦で、その人が倒れる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・判断の根拠が頭の中にあり、記録に残らない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1508760"/>
            <a:ext cx="5318608" cy="3246120"/>
          </a:xfrm>
          <a:prstGeom prst="roundRect">
            <a:avLst>
              <a:gd name="adj" fmla="val 1408"/>
            </a:avLst>
          </a:prstGeom>
          <a:solidFill>
            <a:srgbClr val="2E7D6B"/>
          </a:solidFill>
          <a:ln w="9525">
            <a:solidFill>
              <a:srgbClr val="2E7D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5888" y="1655064"/>
            <a:ext cx="495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規模の小さい組織ではさらに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15888" y="2157984"/>
            <a:ext cx="495284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・情シスが1人、または兼務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・経営層が「ITの問題」と捉えている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・頼る先を、事故が起きてから探す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98348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498348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5663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人を増やすのは難しい。変えられるのは、判断を人から仕組みへ移すことです。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第3部　一歩③　判断カード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5つの判断を、1枚ずつ「判断カード」にしておきます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0467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記入例：「一部サービスを止めるか」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決める人／代わりの人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事業部長 ／ 不在時は情報システム部長（連絡がつかなければ当番責任者）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判断の材料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影響範囲、顧客への影響、復旧見込み。材料のうち AI に出させるものに印をつける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任せ方の段階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人の承認つき（端末隔離までは自動）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いつまでに決めるか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検知から○時間以内に暫定判断。○時間ごとに見直す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決めたら誰に伝えるか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経営層、広報、主要取引先の窓口、委託先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頼る先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保守ベンダー、インシデント対応事業者、保険会社、警察の相談窓口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98348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10" name="Shape 7"/>
          <p:cNvSpPr/>
          <p:nvPr/>
        </p:nvSpPr>
        <p:spPr>
          <a:xfrm>
            <a:off x="640080" y="498348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505663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BCPや手順書には「作業」は書いてあっても「判断」が書かれていないことが多い。判断だけを抜き出します。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第3部　限られた人員で回す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一つの判断は、部門と組織の境界をまたいで伝わります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508760"/>
            <a:ext cx="2439848" cy="3017520"/>
          </a:xfrm>
          <a:prstGeom prst="roundRect">
            <a:avLst>
              <a:gd name="adj" fmla="val 1874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55064"/>
            <a:ext cx="2074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157984"/>
            <a:ext cx="2074088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何が起きているか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（AIが材料をそろえ、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人が確かめる）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43936" y="2852928"/>
            <a:ext cx="256032" cy="329184"/>
          </a:xfrm>
          <a:prstGeom prst="rightArrow">
            <a:avLst/>
          </a:prstGeom>
          <a:solidFill>
            <a:srgbClr val="C9D5D1"/>
          </a:solidFill>
          <a:ln/>
        </p:spPr>
      </p:sp>
      <p:sp>
        <p:nvSpPr>
          <p:cNvPr id="12" name="Shape 10"/>
          <p:cNvSpPr/>
          <p:nvPr/>
        </p:nvSpPr>
        <p:spPr>
          <a:xfrm>
            <a:off x="3463976" y="1508760"/>
            <a:ext cx="2439848" cy="3017520"/>
          </a:xfrm>
          <a:prstGeom prst="roundRect">
            <a:avLst>
              <a:gd name="adj" fmla="val 1874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46856" y="1655064"/>
            <a:ext cx="2074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46856" y="2157984"/>
            <a:ext cx="2074088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止めるか・続けるか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を暫定で決める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67832" y="2852928"/>
            <a:ext cx="256032" cy="329184"/>
          </a:xfrm>
          <a:prstGeom prst="rightArrow">
            <a:avLst/>
          </a:prstGeom>
          <a:solidFill>
            <a:srgbClr val="C9D5D1"/>
          </a:solidFill>
          <a:ln/>
        </p:spPr>
      </p:sp>
      <p:sp>
        <p:nvSpPr>
          <p:cNvPr id="16" name="Shape 14"/>
          <p:cNvSpPr/>
          <p:nvPr/>
        </p:nvSpPr>
        <p:spPr>
          <a:xfrm>
            <a:off x="6287872" y="1508760"/>
            <a:ext cx="2439848" cy="3017520"/>
          </a:xfrm>
          <a:prstGeom prst="roundRect">
            <a:avLst>
              <a:gd name="adj" fmla="val 1874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0752" y="1655064"/>
            <a:ext cx="2074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広報・法務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70752" y="2157984"/>
            <a:ext cx="2074088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説明するか・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公表するかを決める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791727" y="2852928"/>
            <a:ext cx="256032" cy="329184"/>
          </a:xfrm>
          <a:prstGeom prst="rightArrow">
            <a:avLst/>
          </a:prstGeom>
          <a:solidFill>
            <a:srgbClr val="C9D5D1"/>
          </a:solidFill>
          <a:ln/>
        </p:spPr>
      </p:sp>
      <p:sp>
        <p:nvSpPr>
          <p:cNvPr id="20" name="Shape 18"/>
          <p:cNvSpPr/>
          <p:nvPr/>
        </p:nvSpPr>
        <p:spPr>
          <a:xfrm>
            <a:off x="9111767" y="1508760"/>
            <a:ext cx="2439848" cy="3017520"/>
          </a:xfrm>
          <a:prstGeom prst="roundRect">
            <a:avLst>
              <a:gd name="adj" fmla="val 1874"/>
            </a:avLst>
          </a:prstGeom>
          <a:solidFill>
            <a:srgbClr val="2E7D6B"/>
          </a:solidFill>
          <a:ln w="9525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94647" y="1655064"/>
            <a:ext cx="2074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現場・取引先・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委託先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94647" y="2478024"/>
            <a:ext cx="207408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縮退運用で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F0E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業務を続ける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84632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484632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91947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間を「翻訳」する人がいないと、判断は届きません。技術の言葉を経営の言葉に、経営の判断を現場の手順に。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8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平時に判断を練習する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657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一度も決めたことのない判断は、当日も決められません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第4部　一歩④　AIを入れた演習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机上演習に、AIを「3つの役」で入れます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554480"/>
            <a:ext cx="3503066" cy="3063240"/>
          </a:xfrm>
          <a:prstGeom prst="roundRect">
            <a:avLst>
              <a:gd name="adj" fmla="val 1493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0784"/>
            <a:ext cx="313730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状況をまとめる役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203704"/>
            <a:ext cx="3137306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次々に入る情報を AI が整理し、判断者に要約を渡します。参加者がそれを鵜呑みにしないかも見ます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4314" y="1554480"/>
            <a:ext cx="3503066" cy="3063240"/>
          </a:xfrm>
          <a:prstGeom prst="roundRect">
            <a:avLst>
              <a:gd name="adj" fmla="val 1493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7194" y="1700784"/>
            <a:ext cx="313730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状況を揺さぶる役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7194" y="2203704"/>
            <a:ext cx="3137306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誤った要約や、自信過剰な提案、想定外の問い合わせを AI が差し込みます。毎回違う演習になります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8549" y="1554480"/>
            <a:ext cx="3503066" cy="3063240"/>
          </a:xfrm>
          <a:prstGeom prst="roundRect">
            <a:avLst>
              <a:gd name="adj" fmla="val 1493"/>
            </a:avLst>
          </a:prstGeom>
          <a:solidFill>
            <a:srgbClr val="EDF3F1"/>
          </a:solidFill>
          <a:ln w="9525">
            <a:solidFill>
              <a:srgbClr val="C9D5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1429" y="1700784"/>
            <a:ext cx="313730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記録を残す役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31429" y="2203704"/>
            <a:ext cx="3137306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誰が、いつ、何を根拠に、暫定で決め、いつ見直したかを記録し、振り返りの材料にします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89204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489204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96519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AIは参謀であって、決裁者ではありません。そのことを、演習で体に覚えてもらいます。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第4部　平時に判断を練習する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演習で測るのは、判断の「質」です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138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観点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記録するもの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暫定判断までの時間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情報が入ってから暫定で決めるまで。決めずに止まっていた時間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見直し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決めた時刻どおりに見直したか。何を見て覆した／維持したか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AIとの距離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要約を確かめたか（過信）。使える材料を捨てていないか（過剰な拒否）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伝わり方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判断が次の部門・取引先へ、いつ届いたか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98348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10" name="Shape 7"/>
          <p:cNvSpPr/>
          <p:nvPr/>
        </p:nvSpPr>
        <p:spPr>
          <a:xfrm>
            <a:off x="640080" y="498348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505663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人の評価はしません。演習の成果物は、書き直した判断カードです。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明日からやること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2分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持ち帰っていただきたい3つ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600200"/>
            <a:ext cx="640080" cy="640080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155448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5つの判断を書き出し、決める人と代わりの人を決める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554480" y="2029968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止める・続ける・説明する・公表する・何から戻す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640080" cy="640080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54480" y="274320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AIに任せる作業を、3段階に振り分ける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554480" y="3218688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取り消せるか・影響はどこまでか・後で説明できるか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977640"/>
            <a:ext cx="640080" cy="640080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54480" y="393192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AIを入れた机上演習を1回やり、判断カードを書き直す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554480" y="4407408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最後に、次の演習日をカレンダーに入れる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257800"/>
            <a:ext cx="10911535" cy="658368"/>
          </a:xfrm>
          <a:prstGeom prst="rect">
            <a:avLst/>
          </a:prstGeom>
          <a:solidFill>
            <a:srgbClr val="F6EBD8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5257800"/>
            <a:ext cx="73152" cy="658368"/>
          </a:xfrm>
          <a:prstGeom prst="rect">
            <a:avLst/>
          </a:prstGeom>
          <a:solidFill>
            <a:srgbClr val="C9821A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33095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どれも予算より先に、決めることで始められます。「ひとががんばる」から「AIとともに判断する」へ。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付録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判断カード（雛形）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138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書くこと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判断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止める／続ける／説明する／公表する／何から戻す のどれか。対象（どのサービス・業務か）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決める人／代わりの人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役職で書く。連絡がつかないときの順番まで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判断の材料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何を見て決めるか。AIに出させるもの、人が確かめるものを分けて書く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任せ方の段階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自動／人の承認つき／人が決める。どこまでが自動か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期限と見直し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暫定判断の期限。見直しの間隔。覆す条件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伝える先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経営層、広報、法務、現場、取引先、委託先、当局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頼る先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ベンダー、インシデント対応事業者、保険、警察の相談窓口、地域の協議会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誰が・いつ・何を根拠に決めたか。決めなかった場合はその理由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92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付録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722815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AIを入れた机上演習の進行雛形（90分）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E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 / 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 Days Fall 2026 Fukuoka　FB-05　小出 洋（九州大学）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052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0:00–0:10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目的とルール。人を評価しない。正解はない。AIは参謀で、決めるのは人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0:10–0:25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状況1（発覚）。AIの要約を受け取り、暫定判断と見直し時刻を決める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0:25–0:45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状況2（連絡手段が使えない／AIの要約に誤りが混ざる）。確かめ方を言ってもらう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0:45–1:00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状況3（取引先・委託先・拠点からの問い合わせ）。誰が何を答えるか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1:00–1:10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状況4（報道・SNS・身代金要求）。「人が決める」段階の判断者を特定する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1:10–1:30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1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振り返り。AIが残した記録を見ながら、詰まった場所だけを拾う。判断カードを直す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ご清聴ありがとうございました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 情報基盤研究開発センター　小出 洋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「ひとががんばる」から「AIとともに判断する」へ</dc:title>
  <dc:subject>PptxGenJS Presentation</dc:subject>
  <dc:creator>九州大学 情報基盤研究開発センター　小出 洋</dc:creator>
  <cp:lastModifiedBy>九州大学 情報基盤研究開発センター　小出 洋</cp:lastModifiedBy>
  <cp:revision>1</cp:revision>
  <dcterms:created xsi:type="dcterms:W3CDTF">2026-09-27T04:04:31Z</dcterms:created>
  <dcterms:modified xsi:type="dcterms:W3CDTF">2026-09-27T04:04:31Z</dcterms:modified>
</cp:coreProperties>
</file>